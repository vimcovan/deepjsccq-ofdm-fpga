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30276800" cy="42799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6860D-9179-A5C8-F878-5278E4E7E4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84600" y="7004376"/>
            <a:ext cx="22707600" cy="14900393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2338C3E-53CF-C955-8D21-97458FECB6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4600" y="22479385"/>
            <a:ext cx="22707600" cy="10333181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78F2CFB-7288-7451-2D37-AD390D395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02E-6959-4E7E-B0B7-B0840226B837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195E0D-079A-C509-68B5-FD4889087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ACC76E-E252-4395-A904-608167328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2280-9009-4C8B-8268-4E169A73E2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1593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A934F8-DC66-0AFE-6C3C-C0A7D7149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761CCB4-B2BA-7161-51D5-70DD9595B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2409776-A5C3-D0F5-10D6-AD0442CDB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02E-6959-4E7E-B0B7-B0840226B837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563060-1A51-F0B2-815C-6A0581A72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49AB83-4A68-F165-42F1-BF6ED859C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2280-9009-4C8B-8268-4E169A73E2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830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29DFB4-573A-64F7-D248-47A8DE5CC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5761" y="10670041"/>
            <a:ext cx="26113740" cy="17803192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5BBBCD7-916C-643F-E0AE-16339866D6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65761" y="28641658"/>
            <a:ext cx="26113740" cy="936227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D681AF-DD1A-9806-6190-EF8807D56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02E-6959-4E7E-B0B7-B0840226B837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3A055D-0B0A-5E8F-95B3-D7FE24DE1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00B2E3C-EF5F-309E-B941-A8BE22C07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2280-9009-4C8B-8268-4E169A73E2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6530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9E0057-558E-3006-77AE-D32B54823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0C2410B-9E26-4177-EA16-235029C586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81530" y="11393252"/>
            <a:ext cx="12867640" cy="2715557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B0BF778-04D0-1541-8F23-64D4D88423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27630" y="11393252"/>
            <a:ext cx="12867640" cy="2715557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1083D10-F61E-5F58-2D36-6206684DC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02E-6959-4E7E-B0B7-B0840226B837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AA50C4B-46DA-D9A7-BB39-3431D0A63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343A693-E4C4-9E8E-9276-9FBA6C5CC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2280-9009-4C8B-8268-4E169A73E2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54268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EAAEB9-AFFE-3719-5029-5E543DE35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474" y="2278660"/>
            <a:ext cx="26113740" cy="827249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F64089-8F08-BC07-C21C-C4F8697655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5475" y="10491703"/>
            <a:ext cx="12808504" cy="514182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6C2B64E-43A2-7B16-CADC-F049DC281F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085475" y="15633524"/>
            <a:ext cx="12808504" cy="2299455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CC8085D-76E7-D11E-C6CD-5936F40950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5327630" y="10491703"/>
            <a:ext cx="12871584" cy="514182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BC3429E-0D14-1729-260D-45362522D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5327630" y="15633524"/>
            <a:ext cx="12871584" cy="2299455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86A3E6C-DE89-C1AB-8C29-A9AE5ACF9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02E-6959-4E7E-B0B7-B0840226B837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14A4C2-85DE-9E8A-B848-83036523D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CE3621C-0137-33AA-DC75-2405B0A58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2280-9009-4C8B-8268-4E169A73E2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3639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FF7A31-00B9-3D22-3644-23B7299C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600EBEC-32BB-E468-DE71-9ACD048A4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02E-6959-4E7E-B0B7-B0840226B837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0CA2C13-E6FD-B3C0-E27D-9EC5BEA27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0245DAE-7436-1784-08D1-759FEC333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2280-9009-4C8B-8268-4E169A73E2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01281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C236F73-8B4D-3999-E41A-6E346C9F6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02E-6959-4E7E-B0B7-B0840226B837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C11634B-57B4-2D15-11D3-2CBA2DFE7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93006C3-E1F0-2D11-7629-3BA862425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2280-9009-4C8B-8268-4E169A73E2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2505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E7F225-CB66-01E3-EB5C-7FFA2C55B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476" y="2853267"/>
            <a:ext cx="9765055" cy="998643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F55C60-754B-70E9-7423-8EAAA9CEBB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1584" y="6162273"/>
            <a:ext cx="15327630" cy="3041503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E3F3417-4DEC-7DC4-B8D4-B5F76C6E9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476" y="12839700"/>
            <a:ext cx="9765055" cy="2378713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38036E7-7F6F-7DD9-2A5F-615EA604B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02E-6959-4E7E-B0B7-B0840226B837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71DE0A5-DA02-D2D5-AF66-886F0D26F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9C7C62B-725E-2F1D-687F-C69B338C7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2280-9009-4C8B-8268-4E169A73E2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8723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0813A5-8629-6DFE-07AB-884A786F8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476" y="2853267"/>
            <a:ext cx="9765055" cy="998643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DD9E529-620F-B79F-2F81-AFC786DA63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2871584" y="6162273"/>
            <a:ext cx="15327630" cy="3041503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6930F43-2271-F712-31A8-B665DE0850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476" y="12839700"/>
            <a:ext cx="9765055" cy="2378713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4E9486A-5D6F-E915-D8C7-86216C787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02E-6959-4E7E-B0B7-B0840226B837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A3EDD65-FB04-B9CE-AB45-5C648DB61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73CFFFB-F0EC-0F26-2E11-EC627F871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2280-9009-4C8B-8268-4E169A73E2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23978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B95358-0A44-7F96-7966-F2ACE4206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7A2D343-E1BE-AC8B-FD0F-9C4CDDAA28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12D80-1236-75D9-3662-1A3743749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02E-6959-4E7E-B0B7-B0840226B837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A8D70B-6B18-577F-29E8-CBFB1883D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8AF03F-9CD0-6FB9-3211-A642277EE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2280-9009-4C8B-8268-4E169A73E2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9860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924A38E-03EA-DEEC-EBEB-E09FD1A567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21666836" y="2278651"/>
            <a:ext cx="6528435" cy="36270174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F8DB270-7C3B-E683-6D39-1578E0B177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081531" y="2278651"/>
            <a:ext cx="19206845" cy="36270174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3725D8-4E91-B446-25C5-B83208AFD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02E-6959-4E7E-B0B7-B0840226B837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DF1B1F-62C7-D702-AD20-DBA022FC4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ECE108-EBC3-1455-B201-DB3E73DFA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2280-9009-4C8B-8268-4E169A73E2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724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D2943A6-C73A-9200-4AC8-A2DB68471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1530" y="2278660"/>
            <a:ext cx="26113740" cy="8272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E58557C-540D-E274-0A72-73BAE15B10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1530" y="11393252"/>
            <a:ext cx="26113740" cy="271555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5CA34B-D6DA-81C7-E957-17889AF4A5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081530" y="39668342"/>
            <a:ext cx="6812280" cy="2278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6E102E-6959-4E7E-B0B7-B0840226B837}" type="datetimeFigureOut">
              <a:rPr lang="zh-CN" altLang="en-US" smtClean="0"/>
              <a:t>2026/10/7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D7A7A0-2D74-6F6D-C7D2-B29CBDBDE9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029190" y="39668342"/>
            <a:ext cx="10218420" cy="2278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F729F2-4FC7-2212-ADD0-5C510318F7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382990" y="39668342"/>
            <a:ext cx="6812280" cy="2278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BC2280-9009-4C8B-8268-4E169A73E2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192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oster title">
            <a:extLst>
              <a:ext uri="{FF2B5EF4-FFF2-40B4-BE49-F238E27FC236}">
                <a16:creationId xmlns:a16="http://schemas.microsoft.com/office/drawing/2014/main" id="{6E72652B-D97A-BD0F-134F-C6E26A7A85DA}"/>
              </a:ext>
            </a:extLst>
          </p:cNvPr>
          <p:cNvSpPr txBox="1"/>
          <p:nvPr/>
        </p:nvSpPr>
        <p:spPr>
          <a:xfrm>
            <a:off x="914400" y="812800"/>
            <a:ext cx="28448000" cy="1397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000" b="1">
                <a:solidFill>
                  <a:srgbClr val="0B4F8A"/>
                </a:solidFill>
                <a:latin typeface="Calibri" panose="020F0502020204030204" pitchFamily="34" charset="0"/>
              </a:rPr>
              <a:t>Real-Time Over-the-Air Image Transmission with DeepJSCC-Q on FPGA</a:t>
            </a:r>
            <a:endParaRPr lang="zh-CN" altLang="en-US" sz="7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D22C8B4-4AAE-D07F-A430-CA3FDA0A2303}"/>
              </a:ext>
            </a:extLst>
          </p:cNvPr>
          <p:cNvSpPr txBox="1"/>
          <p:nvPr/>
        </p:nvSpPr>
        <p:spPr>
          <a:xfrm>
            <a:off x="914400" y="2108200"/>
            <a:ext cx="2844800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3000">
                <a:solidFill>
                  <a:srgbClr val="52606D"/>
                </a:solidFill>
                <a:latin typeface="Calibri" panose="020F0502020204030204" pitchFamily="34" charset="0"/>
              </a:rPr>
              <a:t>Separate source and channel coding (JPEG + FEC) fails abruptly once the SNR drops below its code threshold; DeepJSCC-Q maps pixels straight to 64-QAM symbols and degrades gracefully. The CNN codec, an 802.11a-like OFDM PHY and the RF front-end control all run on two Zynq UltraScale+ boards.</a:t>
            </a:r>
            <a:endParaRPr lang="zh-CN" altLang="en-US" sz="30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4" name="stat 0">
            <a:extLst>
              <a:ext uri="{FF2B5EF4-FFF2-40B4-BE49-F238E27FC236}">
                <a16:creationId xmlns:a16="http://schemas.microsoft.com/office/drawing/2014/main" id="{4AAB9379-7372-DF5E-6D40-A4C9C8D04E85}"/>
              </a:ext>
            </a:extLst>
          </p:cNvPr>
          <p:cNvSpPr/>
          <p:nvPr/>
        </p:nvSpPr>
        <p:spPr>
          <a:xfrm>
            <a:off x="914400" y="3683000"/>
            <a:ext cx="5323840" cy="2921000"/>
          </a:xfrm>
          <a:prstGeom prst="roundRect">
            <a:avLst>
              <a:gd name="adj" fmla="val 6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stat value 0">
            <a:extLst>
              <a:ext uri="{FF2B5EF4-FFF2-40B4-BE49-F238E27FC236}">
                <a16:creationId xmlns:a16="http://schemas.microsoft.com/office/drawing/2014/main" id="{A1EA3949-8667-D709-0AD3-405B9F618378}"/>
              </a:ext>
            </a:extLst>
          </p:cNvPr>
          <p:cNvSpPr txBox="1"/>
          <p:nvPr/>
        </p:nvSpPr>
        <p:spPr>
          <a:xfrm>
            <a:off x="1295400" y="38862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400" b="1">
                <a:solidFill>
                  <a:srgbClr val="FFFFFF"/>
                </a:solidFill>
                <a:latin typeface="Calibri" panose="020F0502020204030204" pitchFamily="34" charset="0"/>
              </a:rPr>
              <a:t>30 fps</a:t>
            </a:r>
            <a:endParaRPr lang="zh-CN" altLang="en-US" sz="74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stat label 0">
            <a:extLst>
              <a:ext uri="{FF2B5EF4-FFF2-40B4-BE49-F238E27FC236}">
                <a16:creationId xmlns:a16="http://schemas.microsoft.com/office/drawing/2014/main" id="{DD3F945D-6872-6B48-4184-F855667EC25F}"/>
              </a:ext>
            </a:extLst>
          </p:cNvPr>
          <p:cNvSpPr txBox="1"/>
          <p:nvPr/>
        </p:nvSpPr>
        <p:spPr>
          <a:xfrm>
            <a:off x="1295400" y="52578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500">
                <a:solidFill>
                  <a:srgbClr val="D6E4F2"/>
                </a:solidFill>
                <a:latin typeface="Calibri" panose="020F0502020204030204" pitchFamily="34" charset="0"/>
              </a:rPr>
              <a:t>256×256 RGB images over a 915 MHz air link</a:t>
            </a:r>
            <a:endParaRPr lang="zh-CN" altLang="en-US" sz="2500">
              <a:solidFill>
                <a:srgbClr val="D6E4F2"/>
              </a:solidFill>
              <a:latin typeface="Calibri" panose="020F0502020204030204" pitchFamily="34" charset="0"/>
            </a:endParaRPr>
          </a:p>
        </p:txBody>
      </p:sp>
      <p:sp>
        <p:nvSpPr>
          <p:cNvPr id="7" name="stat 1">
            <a:extLst>
              <a:ext uri="{FF2B5EF4-FFF2-40B4-BE49-F238E27FC236}">
                <a16:creationId xmlns:a16="http://schemas.microsoft.com/office/drawing/2014/main" id="{DA26BC2A-D61F-8BD9-4AE3-8E7DE22C232E}"/>
              </a:ext>
            </a:extLst>
          </p:cNvPr>
          <p:cNvSpPr/>
          <p:nvPr/>
        </p:nvSpPr>
        <p:spPr>
          <a:xfrm>
            <a:off x="6695440" y="3683000"/>
            <a:ext cx="5323840" cy="2921000"/>
          </a:xfrm>
          <a:prstGeom prst="roundRect">
            <a:avLst>
              <a:gd name="adj" fmla="val 6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stat value 1">
            <a:extLst>
              <a:ext uri="{FF2B5EF4-FFF2-40B4-BE49-F238E27FC236}">
                <a16:creationId xmlns:a16="http://schemas.microsoft.com/office/drawing/2014/main" id="{947EBE8F-A712-B635-6A54-BD6FE1663F91}"/>
              </a:ext>
            </a:extLst>
          </p:cNvPr>
          <p:cNvSpPr txBox="1"/>
          <p:nvPr/>
        </p:nvSpPr>
        <p:spPr>
          <a:xfrm>
            <a:off x="7076440" y="38862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400" b="1">
                <a:solidFill>
                  <a:srgbClr val="FFFFFF"/>
                </a:solidFill>
                <a:latin typeface="Calibri" panose="020F0502020204030204" pitchFamily="34" charset="0"/>
              </a:rPr>
              <a:t>71.5 ms</a:t>
            </a:r>
            <a:endParaRPr lang="zh-CN" altLang="en-US" sz="74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9" name="stat label 1">
            <a:extLst>
              <a:ext uri="{FF2B5EF4-FFF2-40B4-BE49-F238E27FC236}">
                <a16:creationId xmlns:a16="http://schemas.microsoft.com/office/drawing/2014/main" id="{8D7D6AAF-9D5B-5D83-9CFC-323D8C95AA88}"/>
              </a:ext>
            </a:extLst>
          </p:cNvPr>
          <p:cNvSpPr txBox="1"/>
          <p:nvPr/>
        </p:nvSpPr>
        <p:spPr>
          <a:xfrm>
            <a:off x="7076440" y="52578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500">
                <a:solidFill>
                  <a:srgbClr val="D6E4F2"/>
                </a:solidFill>
                <a:latin typeface="Calibri" panose="020F0502020204030204" pitchFamily="34" charset="0"/>
              </a:rPr>
              <a:t>PL latency: encode 38.2 + air 2.9 + decode 30.4 ms</a:t>
            </a:r>
            <a:endParaRPr lang="zh-CN" altLang="en-US" sz="2500">
              <a:solidFill>
                <a:srgbClr val="D6E4F2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stat 2">
            <a:extLst>
              <a:ext uri="{FF2B5EF4-FFF2-40B4-BE49-F238E27FC236}">
                <a16:creationId xmlns:a16="http://schemas.microsoft.com/office/drawing/2014/main" id="{0BEB0C14-0FC9-2AFC-EDD8-8BE097857DE5}"/>
              </a:ext>
            </a:extLst>
          </p:cNvPr>
          <p:cNvSpPr/>
          <p:nvPr/>
        </p:nvSpPr>
        <p:spPr>
          <a:xfrm>
            <a:off x="12476480" y="3683000"/>
            <a:ext cx="5323841" cy="2921000"/>
          </a:xfrm>
          <a:prstGeom prst="roundRect">
            <a:avLst>
              <a:gd name="adj" fmla="val 6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stat value 2">
            <a:extLst>
              <a:ext uri="{FF2B5EF4-FFF2-40B4-BE49-F238E27FC236}">
                <a16:creationId xmlns:a16="http://schemas.microsoft.com/office/drawing/2014/main" id="{0F621750-58BE-C210-7FE9-1593D7744F5E}"/>
              </a:ext>
            </a:extLst>
          </p:cNvPr>
          <p:cNvSpPr txBox="1"/>
          <p:nvPr/>
        </p:nvSpPr>
        <p:spPr>
          <a:xfrm>
            <a:off x="12857480" y="38862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400" b="1">
                <a:solidFill>
                  <a:srgbClr val="FFFFFF"/>
                </a:solidFill>
                <a:latin typeface="Calibri" panose="020F0502020204030204" pitchFamily="34" charset="0"/>
              </a:rPr>
              <a:t>+3.8 dB</a:t>
            </a:r>
            <a:endParaRPr lang="zh-CN" altLang="en-US" sz="74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stat label 2">
            <a:extLst>
              <a:ext uri="{FF2B5EF4-FFF2-40B4-BE49-F238E27FC236}">
                <a16:creationId xmlns:a16="http://schemas.microsoft.com/office/drawing/2014/main" id="{15F8F4BF-C636-798B-A326-035EE06814C2}"/>
              </a:ext>
            </a:extLst>
          </p:cNvPr>
          <p:cNvSpPr txBox="1"/>
          <p:nvPr/>
        </p:nvSpPr>
        <p:spPr>
          <a:xfrm>
            <a:off x="12857480" y="52578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500">
                <a:solidFill>
                  <a:srgbClr val="D6E4F2"/>
                </a:solidFill>
                <a:latin typeface="Calibri" panose="020F0502020204030204" pitchFamily="34" charset="0"/>
              </a:rPr>
              <a:t>PSNR over JPEG + convolutional code, with no cliff</a:t>
            </a:r>
            <a:endParaRPr lang="zh-CN" altLang="en-US" sz="2500">
              <a:solidFill>
                <a:srgbClr val="D6E4F2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stat 3">
            <a:extLst>
              <a:ext uri="{FF2B5EF4-FFF2-40B4-BE49-F238E27FC236}">
                <a16:creationId xmlns:a16="http://schemas.microsoft.com/office/drawing/2014/main" id="{C3E404DB-FC53-9F0B-E369-C0F57E2A5D86}"/>
              </a:ext>
            </a:extLst>
          </p:cNvPr>
          <p:cNvSpPr/>
          <p:nvPr/>
        </p:nvSpPr>
        <p:spPr>
          <a:xfrm>
            <a:off x="18257520" y="3683000"/>
            <a:ext cx="5323841" cy="2921000"/>
          </a:xfrm>
          <a:prstGeom prst="roundRect">
            <a:avLst>
              <a:gd name="adj" fmla="val 6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stat value 3">
            <a:extLst>
              <a:ext uri="{FF2B5EF4-FFF2-40B4-BE49-F238E27FC236}">
                <a16:creationId xmlns:a16="http://schemas.microsoft.com/office/drawing/2014/main" id="{9A8D11CF-714D-C1E9-4EE3-1C4596CB3422}"/>
              </a:ext>
            </a:extLst>
          </p:cNvPr>
          <p:cNvSpPr txBox="1"/>
          <p:nvPr/>
        </p:nvSpPr>
        <p:spPr>
          <a:xfrm>
            <a:off x="18638520" y="38862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400" b="1">
                <a:solidFill>
                  <a:srgbClr val="FFFFFF"/>
                </a:solidFill>
                <a:latin typeface="Calibri" panose="020F0502020204030204" pitchFamily="34" charset="0"/>
              </a:rPr>
              <a:t>2.33 GMAC</a:t>
            </a:r>
            <a:endParaRPr lang="zh-CN" altLang="en-US" sz="74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stat label 3">
            <a:extLst>
              <a:ext uri="{FF2B5EF4-FFF2-40B4-BE49-F238E27FC236}">
                <a16:creationId xmlns:a16="http://schemas.microsoft.com/office/drawing/2014/main" id="{2C5B64F7-38AF-1C4D-569B-A56F2AFA1D45}"/>
              </a:ext>
            </a:extLst>
          </p:cNvPr>
          <p:cNvSpPr txBox="1"/>
          <p:nvPr/>
        </p:nvSpPr>
        <p:spPr>
          <a:xfrm>
            <a:off x="18638520" y="52578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500">
                <a:solidFill>
                  <a:srgbClr val="D6E4F2"/>
                </a:solidFill>
                <a:latin typeface="Calibri" panose="020F0502020204030204" pitchFamily="34" charset="0"/>
              </a:rPr>
              <a:t>per frame, 114 convolutions, W8A12 fixed point</a:t>
            </a:r>
            <a:endParaRPr lang="zh-CN" altLang="en-US" sz="2500">
              <a:solidFill>
                <a:srgbClr val="D6E4F2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stat 4">
            <a:extLst>
              <a:ext uri="{FF2B5EF4-FFF2-40B4-BE49-F238E27FC236}">
                <a16:creationId xmlns:a16="http://schemas.microsoft.com/office/drawing/2014/main" id="{019D7DEE-A3E6-B58A-01E5-A8EC44287DDA}"/>
              </a:ext>
            </a:extLst>
          </p:cNvPr>
          <p:cNvSpPr/>
          <p:nvPr/>
        </p:nvSpPr>
        <p:spPr>
          <a:xfrm>
            <a:off x="24038561" y="3683000"/>
            <a:ext cx="5323839" cy="2921000"/>
          </a:xfrm>
          <a:prstGeom prst="roundRect">
            <a:avLst>
              <a:gd name="adj" fmla="val 6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stat value 4">
            <a:extLst>
              <a:ext uri="{FF2B5EF4-FFF2-40B4-BE49-F238E27FC236}">
                <a16:creationId xmlns:a16="http://schemas.microsoft.com/office/drawing/2014/main" id="{B8F6BB44-3EB3-52CE-36E0-122517513643}"/>
              </a:ext>
            </a:extLst>
          </p:cNvPr>
          <p:cNvSpPr txBox="1"/>
          <p:nvPr/>
        </p:nvSpPr>
        <p:spPr>
          <a:xfrm>
            <a:off x="24419561" y="38862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7400" b="1">
                <a:solidFill>
                  <a:srgbClr val="FFFFFF"/>
                </a:solidFill>
                <a:latin typeface="Calibri" panose="020F0502020204030204" pitchFamily="34" charset="0"/>
              </a:rPr>
              <a:t>4.5 / 4.9 W</a:t>
            </a:r>
            <a:endParaRPr lang="zh-CN" altLang="en-US" sz="74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stat label 4">
            <a:extLst>
              <a:ext uri="{FF2B5EF4-FFF2-40B4-BE49-F238E27FC236}">
                <a16:creationId xmlns:a16="http://schemas.microsoft.com/office/drawing/2014/main" id="{291C338F-B035-16D9-9FAD-1264C1700592}"/>
              </a:ext>
            </a:extLst>
          </p:cNvPr>
          <p:cNvSpPr txBox="1"/>
          <p:nvPr/>
        </p:nvSpPr>
        <p:spPr>
          <a:xfrm>
            <a:off x="24419561" y="5257800"/>
            <a:ext cx="456184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500">
                <a:solidFill>
                  <a:srgbClr val="D6E4F2"/>
                </a:solidFill>
                <a:latin typeface="Calibri" panose="020F0502020204030204" pitchFamily="34" charset="0"/>
              </a:rPr>
              <a:t>TX / RX on-chip power (Vivado estimate)</a:t>
            </a:r>
            <a:endParaRPr lang="zh-CN" altLang="en-US" sz="2500">
              <a:solidFill>
                <a:srgbClr val="D6E4F2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card 1">
            <a:extLst>
              <a:ext uri="{FF2B5EF4-FFF2-40B4-BE49-F238E27FC236}">
                <a16:creationId xmlns:a16="http://schemas.microsoft.com/office/drawing/2014/main" id="{674E99B9-991F-7578-F98E-80FFF94ED77A}"/>
              </a:ext>
            </a:extLst>
          </p:cNvPr>
          <p:cNvSpPr/>
          <p:nvPr/>
        </p:nvSpPr>
        <p:spPr>
          <a:xfrm>
            <a:off x="914400" y="7239000"/>
            <a:ext cx="9067800" cy="7112000"/>
          </a:xfrm>
          <a:prstGeom prst="roundRect">
            <a:avLst>
              <a:gd name="adj" fmla="val 3214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badge 1">
            <a:extLst>
              <a:ext uri="{FF2B5EF4-FFF2-40B4-BE49-F238E27FC236}">
                <a16:creationId xmlns:a16="http://schemas.microsoft.com/office/drawing/2014/main" id="{B23C52AE-0896-0CBE-5AC4-A20D600D8887}"/>
              </a:ext>
            </a:extLst>
          </p:cNvPr>
          <p:cNvSpPr/>
          <p:nvPr/>
        </p:nvSpPr>
        <p:spPr>
          <a:xfrm>
            <a:off x="1270000" y="7569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1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D3AA0E07-903D-F701-4C57-F10A3C5F86EC}"/>
              </a:ext>
            </a:extLst>
          </p:cNvPr>
          <p:cNvSpPr txBox="1"/>
          <p:nvPr/>
        </p:nvSpPr>
        <p:spPr>
          <a:xfrm>
            <a:off x="2235200" y="75692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Hardware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5B7E896A-B7D3-47B1-9499-A7BC131A7C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8559800"/>
            <a:ext cx="8153400" cy="4806429"/>
          </a:xfrm>
          <a:prstGeom prst="rect">
            <a:avLst/>
          </a:prstGeom>
        </p:spPr>
      </p:pic>
      <p:sp>
        <p:nvSpPr>
          <p:cNvPr id="24" name="文本框 23">
            <a:extLst>
              <a:ext uri="{FF2B5EF4-FFF2-40B4-BE49-F238E27FC236}">
                <a16:creationId xmlns:a16="http://schemas.microsoft.com/office/drawing/2014/main" id="{53A123F9-4662-B9F6-32ED-250D6C017E93}"/>
              </a:ext>
            </a:extLst>
          </p:cNvPr>
          <p:cNvSpPr txBox="1"/>
          <p:nvPr/>
        </p:nvSpPr>
        <p:spPr>
          <a:xfrm>
            <a:off x="1371600" y="13518629"/>
            <a:ext cx="8153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100">
                <a:solidFill>
                  <a:srgbClr val="52606D"/>
                </a:solidFill>
                <a:latin typeface="Calibri" panose="020F0502020204030204" pitchFamily="34" charset="0"/>
              </a:rPr>
              <a:t>Left: RX (PYNQ-ZU + AD9361 + touch screen). Right: TX (PYNQ-ZU + AD9361 + USB camera). 915 MHz antennas in front.</a:t>
            </a:r>
            <a:endParaRPr lang="zh-CN" altLang="en-US" sz="21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card 2">
            <a:extLst>
              <a:ext uri="{FF2B5EF4-FFF2-40B4-BE49-F238E27FC236}">
                <a16:creationId xmlns:a16="http://schemas.microsoft.com/office/drawing/2014/main" id="{D0708589-96A8-FB56-7C21-DCDF0989565C}"/>
              </a:ext>
            </a:extLst>
          </p:cNvPr>
          <p:cNvSpPr/>
          <p:nvPr/>
        </p:nvSpPr>
        <p:spPr>
          <a:xfrm>
            <a:off x="914400" y="14732000"/>
            <a:ext cx="9067800" cy="8509000"/>
          </a:xfrm>
          <a:prstGeom prst="roundRect">
            <a:avLst>
              <a:gd name="adj" fmla="val 2687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badge 2">
            <a:extLst>
              <a:ext uri="{FF2B5EF4-FFF2-40B4-BE49-F238E27FC236}">
                <a16:creationId xmlns:a16="http://schemas.microsoft.com/office/drawing/2014/main" id="{B7FE0D8D-EEE5-7FE0-48D7-3EB5EC605AA1}"/>
              </a:ext>
            </a:extLst>
          </p:cNvPr>
          <p:cNvSpPr/>
          <p:nvPr/>
        </p:nvSpPr>
        <p:spPr>
          <a:xfrm>
            <a:off x="1270000" y="15062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2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title 2">
            <a:extLst>
              <a:ext uri="{FF2B5EF4-FFF2-40B4-BE49-F238E27FC236}">
                <a16:creationId xmlns:a16="http://schemas.microsoft.com/office/drawing/2014/main" id="{4C9FE6CD-46C7-C9FE-8881-7A54CDAF8C14}"/>
              </a:ext>
            </a:extLst>
          </p:cNvPr>
          <p:cNvSpPr txBox="1"/>
          <p:nvPr/>
        </p:nvSpPr>
        <p:spPr>
          <a:xfrm>
            <a:off x="2235200" y="150622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System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92A8885-A753-DA9C-504B-EBCA38E77D16}"/>
              </a:ext>
            </a:extLst>
          </p:cNvPr>
          <p:cNvSpPr txBox="1"/>
          <p:nvPr/>
        </p:nvSpPr>
        <p:spPr>
          <a:xfrm>
            <a:off x="1371600" y="15951200"/>
            <a:ext cx="381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zh-CN" sz="2200" b="1">
                <a:solidFill>
                  <a:srgbClr val="52606D"/>
                </a:solidFill>
                <a:latin typeface="Calibri" panose="020F0502020204030204" pitchFamily="34" charset="0"/>
              </a:rPr>
              <a:t>TX board</a:t>
            </a:r>
            <a:endParaRPr lang="zh-CN" altLang="en-US" sz="2200" b="1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D780FE7-B59A-B442-3E4B-471873C6B0E2}"/>
              </a:ext>
            </a:extLst>
          </p:cNvPr>
          <p:cNvSpPr txBox="1"/>
          <p:nvPr/>
        </p:nvSpPr>
        <p:spPr>
          <a:xfrm>
            <a:off x="5715000" y="15951200"/>
            <a:ext cx="381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zh-CN" sz="2200" b="1">
                <a:solidFill>
                  <a:srgbClr val="52606D"/>
                </a:solidFill>
                <a:latin typeface="Calibri" panose="020F0502020204030204" pitchFamily="34" charset="0"/>
              </a:rPr>
              <a:t>RX board</a:t>
            </a:r>
            <a:endParaRPr lang="zh-CN" altLang="en-US" sz="2200" b="1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FF5D814F-2308-EEFB-4F9A-07AE96A010F7}"/>
              </a:ext>
            </a:extLst>
          </p:cNvPr>
          <p:cNvSpPr/>
          <p:nvPr/>
        </p:nvSpPr>
        <p:spPr>
          <a:xfrm>
            <a:off x="1371600" y="164338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Camera / video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PS: crop to 256×256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72E9800-C40F-609A-26A2-0364A6EBF762}"/>
              </a:ext>
            </a:extLst>
          </p:cNvPr>
          <p:cNvSpPr/>
          <p:nvPr/>
        </p:nvSpPr>
        <p:spPr>
          <a:xfrm>
            <a:off x="5715000" y="164338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Touch-screen GUI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PS: display, control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40F9DEB8-CBBF-12F6-FA39-1DF23456F533}"/>
              </a:ext>
            </a:extLst>
          </p:cNvPr>
          <p:cNvCxnSpPr/>
          <p:nvPr/>
        </p:nvCxnSpPr>
        <p:spPr>
          <a:xfrm>
            <a:off x="3276600" y="17500600"/>
            <a:ext cx="0" cy="35560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11312E47-5BE4-A9F3-E9CB-74FB6071AF2C}"/>
              </a:ext>
            </a:extLst>
          </p:cNvPr>
          <p:cNvCxnSpPr/>
          <p:nvPr/>
        </p:nvCxnSpPr>
        <p:spPr>
          <a:xfrm flipV="1">
            <a:off x="7620000" y="17500600"/>
            <a:ext cx="0" cy="35560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500D528D-0517-B3C3-B416-CE1A0DA51922}"/>
              </a:ext>
            </a:extLst>
          </p:cNvPr>
          <p:cNvSpPr/>
          <p:nvPr/>
        </p:nvSpPr>
        <p:spPr>
          <a:xfrm>
            <a:off x="1371600" y="178562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DCE8F4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DeepJSCC-Q encoder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PL, W8A12, 250 MHz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B4DABFCC-92B4-B8A6-4C6C-9505EF2D5848}"/>
              </a:ext>
            </a:extLst>
          </p:cNvPr>
          <p:cNvSpPr/>
          <p:nvPr/>
        </p:nvSpPr>
        <p:spPr>
          <a:xfrm>
            <a:off x="5715000" y="178562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DCE8F4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DeepJSCC-Q decoder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soft I/Q in, no hard decision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7BDC2FBF-E6E4-9A66-51E8-13C18E174984}"/>
              </a:ext>
            </a:extLst>
          </p:cNvPr>
          <p:cNvCxnSpPr/>
          <p:nvPr/>
        </p:nvCxnSpPr>
        <p:spPr>
          <a:xfrm>
            <a:off x="3276600" y="18923000"/>
            <a:ext cx="0" cy="35560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9A254499-DCCE-D995-DD24-B2A36E784529}"/>
              </a:ext>
            </a:extLst>
          </p:cNvPr>
          <p:cNvCxnSpPr/>
          <p:nvPr/>
        </p:nvCxnSpPr>
        <p:spPr>
          <a:xfrm flipV="1">
            <a:off x="7620000" y="18923000"/>
            <a:ext cx="0" cy="35560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D4D565FA-18BE-795A-63B2-678CE7282D73}"/>
              </a:ext>
            </a:extLst>
          </p:cNvPr>
          <p:cNvSpPr/>
          <p:nvPr/>
        </p:nvSpPr>
        <p:spPr>
          <a:xfrm>
            <a:off x="1371600" y="192786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nb-NO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OFDM transmitter</a:t>
            </a:r>
          </a:p>
          <a:p>
            <a:pPr algn="ctr"/>
            <a:r>
              <a:rPr lang="nb-NO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PN flip, IFFT, frame buffer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18BC86F0-887C-425D-9552-CD5AB1291B2D}"/>
              </a:ext>
            </a:extLst>
          </p:cNvPr>
          <p:cNvSpPr/>
          <p:nvPr/>
        </p:nvSpPr>
        <p:spPr>
          <a:xfrm>
            <a:off x="5715000" y="192786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OFDM receiver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sync, 2×LTF CE, SFO / CPE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35D4EAE2-AEFE-5032-D3AE-E534ED6D7607}"/>
              </a:ext>
            </a:extLst>
          </p:cNvPr>
          <p:cNvCxnSpPr/>
          <p:nvPr/>
        </p:nvCxnSpPr>
        <p:spPr>
          <a:xfrm>
            <a:off x="3276600" y="20345400"/>
            <a:ext cx="0" cy="35560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128BE78B-9560-C03B-3180-19143771745B}"/>
              </a:ext>
            </a:extLst>
          </p:cNvPr>
          <p:cNvCxnSpPr/>
          <p:nvPr/>
        </p:nvCxnSpPr>
        <p:spPr>
          <a:xfrm flipV="1">
            <a:off x="7620000" y="20345400"/>
            <a:ext cx="0" cy="35560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3C234CA7-EF3E-4EAE-0A86-D3A3BBBF1BDC}"/>
              </a:ext>
            </a:extLst>
          </p:cNvPr>
          <p:cNvSpPr/>
          <p:nvPr/>
        </p:nvSpPr>
        <p:spPr>
          <a:xfrm>
            <a:off x="1371600" y="207010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AD9361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915 MHz, 20 MSPS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42DDA37-2254-98FD-6DFC-8BD4739C7444}"/>
              </a:ext>
            </a:extLst>
          </p:cNvPr>
          <p:cNvSpPr/>
          <p:nvPr/>
        </p:nvSpPr>
        <p:spPr>
          <a:xfrm>
            <a:off x="5715000" y="20701000"/>
            <a:ext cx="38100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AD9361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fast AGC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06AFE9BF-C01C-D848-FAC1-1CB362359212}"/>
              </a:ext>
            </a:extLst>
          </p:cNvPr>
          <p:cNvCxnSpPr/>
          <p:nvPr/>
        </p:nvCxnSpPr>
        <p:spPr>
          <a:xfrm>
            <a:off x="5181600" y="21234400"/>
            <a:ext cx="533400" cy="0"/>
          </a:xfrm>
          <a:prstGeom prst="straightConnector1">
            <a:avLst/>
          </a:prstGeom>
          <a:ln w="50800">
            <a:solidFill>
              <a:srgbClr val="D953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F7F66F84-EC29-4D3A-4892-BAADA68434C6}"/>
              </a:ext>
            </a:extLst>
          </p:cNvPr>
          <p:cNvSpPr txBox="1"/>
          <p:nvPr/>
        </p:nvSpPr>
        <p:spPr>
          <a:xfrm>
            <a:off x="5181600" y="20726400"/>
            <a:ext cx="533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zh-CN" sz="2200" b="1">
                <a:solidFill>
                  <a:srgbClr val="D9531E"/>
                </a:solidFill>
                <a:latin typeface="Calibri" panose="020F0502020204030204" pitchFamily="34" charset="0"/>
              </a:rPr>
              <a:t>air</a:t>
            </a:r>
            <a:endParaRPr lang="zh-CN" altLang="en-US" sz="2200" b="1">
              <a:solidFill>
                <a:srgbClr val="D9531E"/>
              </a:solidFill>
              <a:latin typeface="Calibri" panose="020F050202020403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7A94A45D-F26A-6965-D475-EADAF88616BE}"/>
              </a:ext>
            </a:extLst>
          </p:cNvPr>
          <p:cNvSpPr txBox="1"/>
          <p:nvPr/>
        </p:nvSpPr>
        <p:spPr>
          <a:xfrm>
            <a:off x="1371600" y="22047200"/>
            <a:ext cx="81534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100">
                <a:solidFill>
                  <a:srgbClr val="52606D"/>
                </a:solidFill>
                <a:latin typeface="Calibri" panose="020F0502020204030204" pitchFamily="34" charset="0"/>
              </a:rPr>
              <a:t>One frame = one image = 32,768 64-QAM symbols = 683 OFDM symbols (2.75 ms on air). The coded image crosses the air link only; Ethernet carries control and the TX preview used for PSNR.</a:t>
            </a:r>
            <a:endParaRPr lang="zh-CN" altLang="en-US" sz="21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47" name="card 3">
            <a:extLst>
              <a:ext uri="{FF2B5EF4-FFF2-40B4-BE49-F238E27FC236}">
                <a16:creationId xmlns:a16="http://schemas.microsoft.com/office/drawing/2014/main" id="{A0A6B38A-5537-2299-C341-C5D197FAF2FA}"/>
              </a:ext>
            </a:extLst>
          </p:cNvPr>
          <p:cNvSpPr/>
          <p:nvPr/>
        </p:nvSpPr>
        <p:spPr>
          <a:xfrm>
            <a:off x="914400" y="23368000"/>
            <a:ext cx="9067800" cy="6921500"/>
          </a:xfrm>
          <a:prstGeom prst="roundRect">
            <a:avLst>
              <a:gd name="adj" fmla="val 3303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badge 3">
            <a:extLst>
              <a:ext uri="{FF2B5EF4-FFF2-40B4-BE49-F238E27FC236}">
                <a16:creationId xmlns:a16="http://schemas.microsoft.com/office/drawing/2014/main" id="{66765846-068B-6771-8FFC-4AEFCEB44640}"/>
              </a:ext>
            </a:extLst>
          </p:cNvPr>
          <p:cNvSpPr/>
          <p:nvPr/>
        </p:nvSpPr>
        <p:spPr>
          <a:xfrm>
            <a:off x="1270000" y="23698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3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9" name="title 3">
            <a:extLst>
              <a:ext uri="{FF2B5EF4-FFF2-40B4-BE49-F238E27FC236}">
                <a16:creationId xmlns:a16="http://schemas.microsoft.com/office/drawing/2014/main" id="{E5D446D9-190B-D32F-1090-920A353A5ECC}"/>
              </a:ext>
            </a:extLst>
          </p:cNvPr>
          <p:cNvSpPr txBox="1"/>
          <p:nvPr/>
        </p:nvSpPr>
        <p:spPr>
          <a:xfrm>
            <a:off x="2235200" y="236982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DeepJSCC-Q network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CDC3D90-7E81-087C-35B7-732F3A8222CF}"/>
              </a:ext>
            </a:extLst>
          </p:cNvPr>
          <p:cNvSpPr txBox="1"/>
          <p:nvPr/>
        </p:nvSpPr>
        <p:spPr>
          <a:xfrm>
            <a:off x="1371600" y="24638000"/>
            <a:ext cx="8153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altLang="zh-CN" sz="2100" b="1">
                <a:solidFill>
                  <a:srgbClr val="52606D"/>
                </a:solidFill>
                <a:latin typeface="Calibri" panose="020F0502020204030204" pitchFamily="34" charset="0"/>
              </a:rPr>
              <a:t>Encoder: 256x256x3 image -&gt; 64x64x16 latent (55 conv)</a:t>
            </a:r>
            <a:endParaRPr lang="zh-CN" altLang="en-US" sz="2100" b="1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8892960E-0F16-11EB-235E-AAE447BA583A}"/>
              </a:ext>
            </a:extLst>
          </p:cNvPr>
          <p:cNvSpPr/>
          <p:nvPr/>
        </p:nvSpPr>
        <p:spPr>
          <a:xfrm>
            <a:off x="1371600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RG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868313A6-6720-CAD2-56F3-059FC3EF8383}"/>
              </a:ext>
            </a:extLst>
          </p:cNvPr>
          <p:cNvSpPr/>
          <p:nvPr/>
        </p:nvSpPr>
        <p:spPr>
          <a:xfrm>
            <a:off x="2302933" y="25069800"/>
            <a:ext cx="702734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92C00BB4-40AD-9211-4568-6F3DD794BC1B}"/>
              </a:ext>
            </a:extLst>
          </p:cNvPr>
          <p:cNvCxnSpPr>
            <a:cxnSpLocks/>
            <a:stCxn id="51" idx="3"/>
            <a:endCxn id="52" idx="1"/>
          </p:cNvCxnSpPr>
          <p:nvPr/>
        </p:nvCxnSpPr>
        <p:spPr>
          <a:xfrm>
            <a:off x="2074333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FCF3D358-2CC5-67D6-7935-99A9C705BBF7}"/>
              </a:ext>
            </a:extLst>
          </p:cNvPr>
          <p:cNvSpPr/>
          <p:nvPr/>
        </p:nvSpPr>
        <p:spPr>
          <a:xfrm>
            <a:off x="3234267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RG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8D3FA3E3-72CB-4E3E-1517-049952E3D09C}"/>
              </a:ext>
            </a:extLst>
          </p:cNvPr>
          <p:cNvCxnSpPr>
            <a:cxnSpLocks/>
            <a:stCxn id="52" idx="3"/>
            <a:endCxn id="54" idx="1"/>
          </p:cNvCxnSpPr>
          <p:nvPr/>
        </p:nvCxnSpPr>
        <p:spPr>
          <a:xfrm>
            <a:off x="3005667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332D3DDA-9EEB-F808-3E3C-0F5F1389BA95}"/>
              </a:ext>
            </a:extLst>
          </p:cNvPr>
          <p:cNvSpPr/>
          <p:nvPr/>
        </p:nvSpPr>
        <p:spPr>
          <a:xfrm>
            <a:off x="4165600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ATT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2B99461C-789B-73CC-EA1F-F301C94E2F7A}"/>
              </a:ext>
            </a:extLst>
          </p:cNvPr>
          <p:cNvCxnSpPr>
            <a:cxnSpLocks/>
            <a:stCxn id="54" idx="3"/>
            <a:endCxn id="56" idx="1"/>
          </p:cNvCxnSpPr>
          <p:nvPr/>
        </p:nvCxnSpPr>
        <p:spPr>
          <a:xfrm>
            <a:off x="3937000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00003D30-73B5-8439-79B7-4BA44C11AD13}"/>
              </a:ext>
            </a:extLst>
          </p:cNvPr>
          <p:cNvSpPr/>
          <p:nvPr/>
        </p:nvSpPr>
        <p:spPr>
          <a:xfrm>
            <a:off x="5096933" y="25069800"/>
            <a:ext cx="702734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A88AF700-44A4-DC73-D8FB-C2DA70AA475A}"/>
              </a:ext>
            </a:extLst>
          </p:cNvPr>
          <p:cNvCxnSpPr>
            <a:cxnSpLocks/>
            <a:stCxn id="56" idx="3"/>
            <a:endCxn id="58" idx="1"/>
          </p:cNvCxnSpPr>
          <p:nvPr/>
        </p:nvCxnSpPr>
        <p:spPr>
          <a:xfrm>
            <a:off x="4868333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C620C4E3-743B-B76F-D412-B1EA4FA58ECE}"/>
              </a:ext>
            </a:extLst>
          </p:cNvPr>
          <p:cNvSpPr/>
          <p:nvPr/>
        </p:nvSpPr>
        <p:spPr>
          <a:xfrm>
            <a:off x="6028267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RG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5AE77F40-39C9-1C6C-AAD9-EE80B43E66B2}"/>
              </a:ext>
            </a:extLst>
          </p:cNvPr>
          <p:cNvCxnSpPr>
            <a:cxnSpLocks/>
            <a:stCxn id="58" idx="3"/>
            <a:endCxn id="60" idx="1"/>
          </p:cNvCxnSpPr>
          <p:nvPr/>
        </p:nvCxnSpPr>
        <p:spPr>
          <a:xfrm>
            <a:off x="5799667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BC446FEA-6CB1-DBEA-3190-059E9D683ED6}"/>
              </a:ext>
            </a:extLst>
          </p:cNvPr>
          <p:cNvSpPr/>
          <p:nvPr/>
        </p:nvSpPr>
        <p:spPr>
          <a:xfrm>
            <a:off x="6959600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0065CE17-F3DF-6C2B-291A-841C344A49A2}"/>
              </a:ext>
            </a:extLst>
          </p:cNvPr>
          <p:cNvCxnSpPr>
            <a:cxnSpLocks/>
            <a:stCxn id="60" idx="3"/>
            <a:endCxn id="62" idx="1"/>
          </p:cNvCxnSpPr>
          <p:nvPr/>
        </p:nvCxnSpPr>
        <p:spPr>
          <a:xfrm>
            <a:off x="6731000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DBD3D8DC-BB50-9EB0-6CFC-D4AF30D8EA16}"/>
              </a:ext>
            </a:extLst>
          </p:cNvPr>
          <p:cNvSpPr/>
          <p:nvPr/>
        </p:nvSpPr>
        <p:spPr>
          <a:xfrm>
            <a:off x="7890933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RG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FAEA5ACD-57B0-B0F9-26FB-DBEA60CAC7D9}"/>
              </a:ext>
            </a:extLst>
          </p:cNvPr>
          <p:cNvCxnSpPr>
            <a:cxnSpLocks/>
            <a:stCxn id="62" idx="3"/>
            <a:endCxn id="64" idx="1"/>
          </p:cNvCxnSpPr>
          <p:nvPr/>
        </p:nvCxnSpPr>
        <p:spPr>
          <a:xfrm>
            <a:off x="7662333" y="25400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883CC588-3707-F2CE-A2AA-B6243FDCD233}"/>
              </a:ext>
            </a:extLst>
          </p:cNvPr>
          <p:cNvSpPr/>
          <p:nvPr/>
        </p:nvSpPr>
        <p:spPr>
          <a:xfrm>
            <a:off x="8822267" y="25069800"/>
            <a:ext cx="702733" cy="660400"/>
          </a:xfrm>
          <a:prstGeom prst="roundRect">
            <a:avLst>
              <a:gd name="adj" fmla="val 18000"/>
            </a:avLst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ATT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9E9C8C80-A42C-B4D8-DF22-B08DF2A29E51}"/>
              </a:ext>
            </a:extLst>
          </p:cNvPr>
          <p:cNvCxnSpPr>
            <a:cxnSpLocks/>
            <a:stCxn id="64" idx="3"/>
            <a:endCxn id="66" idx="1"/>
          </p:cNvCxnSpPr>
          <p:nvPr/>
        </p:nvCxnSpPr>
        <p:spPr>
          <a:xfrm>
            <a:off x="8593666" y="25400000"/>
            <a:ext cx="228601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C0D79800-73BB-EC42-786E-BA303309B553}"/>
              </a:ext>
            </a:extLst>
          </p:cNvPr>
          <p:cNvSpPr/>
          <p:nvPr/>
        </p:nvSpPr>
        <p:spPr>
          <a:xfrm>
            <a:off x="13716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ATT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69" name="矩形: 圆角 68">
            <a:extLst>
              <a:ext uri="{FF2B5EF4-FFF2-40B4-BE49-F238E27FC236}">
                <a16:creationId xmlns:a16="http://schemas.microsoft.com/office/drawing/2014/main" id="{C63A1978-2975-7EF2-C0CD-5EA2784F29B9}"/>
              </a:ext>
            </a:extLst>
          </p:cNvPr>
          <p:cNvSpPr/>
          <p:nvPr/>
        </p:nvSpPr>
        <p:spPr>
          <a:xfrm>
            <a:off x="22098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86DAAFB4-B3F9-BB9F-A565-108034C2CB3A}"/>
              </a:ext>
            </a:extLst>
          </p:cNvPr>
          <p:cNvCxnSpPr>
            <a:cxnSpLocks/>
            <a:stCxn id="68" idx="3"/>
            <a:endCxn id="69" idx="1"/>
          </p:cNvCxnSpPr>
          <p:nvPr/>
        </p:nvCxnSpPr>
        <p:spPr>
          <a:xfrm>
            <a:off x="19812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CB85200F-8AEC-B36B-F4BD-4851F07FF137}"/>
              </a:ext>
            </a:extLst>
          </p:cNvPr>
          <p:cNvSpPr/>
          <p:nvPr/>
        </p:nvSpPr>
        <p:spPr>
          <a:xfrm>
            <a:off x="30480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RU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DC66F4A4-1739-A739-E6C4-77A5D77CFEF4}"/>
              </a:ext>
            </a:extLst>
          </p:cNvPr>
          <p:cNvCxnSpPr>
            <a:cxnSpLocks/>
            <a:stCxn id="69" idx="3"/>
            <a:endCxn id="71" idx="1"/>
          </p:cNvCxnSpPr>
          <p:nvPr/>
        </p:nvCxnSpPr>
        <p:spPr>
          <a:xfrm>
            <a:off x="28194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A733D8BE-B170-89E8-0C5A-A9751147220A}"/>
              </a:ext>
            </a:extLst>
          </p:cNvPr>
          <p:cNvSpPr/>
          <p:nvPr/>
        </p:nvSpPr>
        <p:spPr>
          <a:xfrm>
            <a:off x="38862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F95B9220-DDD9-EBE6-7640-EF877C621B4F}"/>
              </a:ext>
            </a:extLst>
          </p:cNvPr>
          <p:cNvCxnSpPr>
            <a:cxnSpLocks/>
            <a:stCxn id="71" idx="3"/>
            <a:endCxn id="73" idx="1"/>
          </p:cNvCxnSpPr>
          <p:nvPr/>
        </p:nvCxnSpPr>
        <p:spPr>
          <a:xfrm>
            <a:off x="36576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97025ED8-129A-39D9-4242-E1232A4904A7}"/>
              </a:ext>
            </a:extLst>
          </p:cNvPr>
          <p:cNvSpPr/>
          <p:nvPr/>
        </p:nvSpPr>
        <p:spPr>
          <a:xfrm>
            <a:off x="47244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RU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C5C2AE04-2BEF-BA4E-6B86-491E82102A67}"/>
              </a:ext>
            </a:extLst>
          </p:cNvPr>
          <p:cNvCxnSpPr>
            <a:cxnSpLocks/>
            <a:stCxn id="73" idx="3"/>
            <a:endCxn id="75" idx="1"/>
          </p:cNvCxnSpPr>
          <p:nvPr/>
        </p:nvCxnSpPr>
        <p:spPr>
          <a:xfrm>
            <a:off x="44958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9EA46F12-35DE-477C-C490-F87BA02FBE87}"/>
              </a:ext>
            </a:extLst>
          </p:cNvPr>
          <p:cNvSpPr/>
          <p:nvPr/>
        </p:nvSpPr>
        <p:spPr>
          <a:xfrm>
            <a:off x="55626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ATT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0CE182C6-6D1B-7166-8BB4-9E6906B0AD09}"/>
              </a:ext>
            </a:extLst>
          </p:cNvPr>
          <p:cNvCxnSpPr>
            <a:cxnSpLocks/>
            <a:stCxn id="75" idx="3"/>
            <a:endCxn id="77" idx="1"/>
          </p:cNvCxnSpPr>
          <p:nvPr/>
        </p:nvCxnSpPr>
        <p:spPr>
          <a:xfrm>
            <a:off x="53340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44E259B1-1C9A-E716-100B-5B19E862F813}"/>
              </a:ext>
            </a:extLst>
          </p:cNvPr>
          <p:cNvSpPr/>
          <p:nvPr/>
        </p:nvSpPr>
        <p:spPr>
          <a:xfrm>
            <a:off x="64008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8135FD6A-2637-C4AE-CFDA-E07363D2F18A}"/>
              </a:ext>
            </a:extLst>
          </p:cNvPr>
          <p:cNvCxnSpPr>
            <a:cxnSpLocks/>
            <a:stCxn id="77" idx="3"/>
            <a:endCxn id="79" idx="1"/>
          </p:cNvCxnSpPr>
          <p:nvPr/>
        </p:nvCxnSpPr>
        <p:spPr>
          <a:xfrm>
            <a:off x="61722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4BD534F-079A-B95F-89C8-E2A0FB7C0752}"/>
              </a:ext>
            </a:extLst>
          </p:cNvPr>
          <p:cNvSpPr/>
          <p:nvPr/>
        </p:nvSpPr>
        <p:spPr>
          <a:xfrm>
            <a:off x="72390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RU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4B019064-9A98-E4A6-BC2B-7D05F2FB8F30}"/>
              </a:ext>
            </a:extLst>
          </p:cNvPr>
          <p:cNvCxnSpPr>
            <a:cxnSpLocks/>
            <a:stCxn id="79" idx="3"/>
            <a:endCxn id="81" idx="1"/>
          </p:cNvCxnSpPr>
          <p:nvPr/>
        </p:nvCxnSpPr>
        <p:spPr>
          <a:xfrm>
            <a:off x="70104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649B808B-E761-AC12-FE2F-14475CDC4AB1}"/>
              </a:ext>
            </a:extLst>
          </p:cNvPr>
          <p:cNvSpPr/>
          <p:nvPr/>
        </p:nvSpPr>
        <p:spPr>
          <a:xfrm>
            <a:off x="80772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RB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9543368B-123F-0968-9C31-BDEFCAF476AE}"/>
              </a:ext>
            </a:extLst>
          </p:cNvPr>
          <p:cNvCxnSpPr>
            <a:cxnSpLocks/>
            <a:stCxn id="81" idx="3"/>
            <a:endCxn id="83" idx="1"/>
          </p:cNvCxnSpPr>
          <p:nvPr/>
        </p:nvCxnSpPr>
        <p:spPr>
          <a:xfrm>
            <a:off x="78486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16561E73-6040-FABE-E50B-6B4215153B9C}"/>
              </a:ext>
            </a:extLst>
          </p:cNvPr>
          <p:cNvSpPr/>
          <p:nvPr/>
        </p:nvSpPr>
        <p:spPr>
          <a:xfrm>
            <a:off x="8915400" y="26593800"/>
            <a:ext cx="609600" cy="660400"/>
          </a:xfrm>
          <a:prstGeom prst="roundRect">
            <a:avLst>
              <a:gd name="adj" fmla="val 18000"/>
            </a:avLst>
          </a:prstGeom>
          <a:solidFill>
            <a:srgbClr val="2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Calibri" panose="020F0502020204030204" pitchFamily="34" charset="0"/>
              </a:rPr>
              <a:t>RU</a:t>
            </a:r>
            <a:endParaRPr lang="zh-CN" altLang="en-US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F9B7FA37-78BA-587D-A057-A7E5F53EFE3C}"/>
              </a:ext>
            </a:extLst>
          </p:cNvPr>
          <p:cNvCxnSpPr>
            <a:cxnSpLocks/>
            <a:stCxn id="83" idx="3"/>
            <a:endCxn id="85" idx="1"/>
          </p:cNvCxnSpPr>
          <p:nvPr/>
        </p:nvCxnSpPr>
        <p:spPr>
          <a:xfrm>
            <a:off x="8686800" y="26924000"/>
            <a:ext cx="228600" cy="0"/>
          </a:xfrm>
          <a:prstGeom prst="straightConnector1">
            <a:avLst/>
          </a:prstGeom>
          <a:ln w="31750">
            <a:solidFill>
              <a:srgbClr val="5260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连接符: 肘形 86">
            <a:extLst>
              <a:ext uri="{FF2B5EF4-FFF2-40B4-BE49-F238E27FC236}">
                <a16:creationId xmlns:a16="http://schemas.microsoft.com/office/drawing/2014/main" id="{78EE2F5F-2558-A66C-0B64-CCCDCD86DD92}"/>
              </a:ext>
            </a:extLst>
          </p:cNvPr>
          <p:cNvCxnSpPr>
            <a:cxnSpLocks/>
            <a:stCxn id="66" idx="2"/>
            <a:endCxn id="68" idx="0"/>
          </p:cNvCxnSpPr>
          <p:nvPr/>
        </p:nvCxnSpPr>
        <p:spPr>
          <a:xfrm rot="5400000">
            <a:off x="4993217" y="22413383"/>
            <a:ext cx="863600" cy="7497234"/>
          </a:xfrm>
          <a:prstGeom prst="bentConnector3">
            <a:avLst>
              <a:gd name="adj1" fmla="val 50000"/>
            </a:avLst>
          </a:prstGeom>
          <a:ln w="38100">
            <a:solidFill>
              <a:srgbClr val="D953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41D56F8F-4A27-33A8-851F-9FBB2D27356B}"/>
              </a:ext>
            </a:extLst>
          </p:cNvPr>
          <p:cNvSpPr/>
          <p:nvPr/>
        </p:nvSpPr>
        <p:spPr>
          <a:xfrm>
            <a:off x="2463800" y="25933400"/>
            <a:ext cx="5969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D9531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de-DE" altLang="zh-CN" sz="2000" b="1">
                <a:solidFill>
                  <a:srgbClr val="D9531E"/>
                </a:solidFill>
                <a:latin typeface="Calibri" panose="020F0502020204030204" pitchFamily="34" charset="0"/>
              </a:rPr>
              <a:t>32,768 64-QAM symbols (0.5 symbol / pixel)</a:t>
            </a:r>
            <a:endParaRPr lang="zh-CN" altLang="en-US" sz="2000" b="1">
              <a:solidFill>
                <a:srgbClr val="D9531E"/>
              </a:solidFill>
              <a:latin typeface="Calibri" panose="020F0502020204030204" pitchFamily="34" charset="0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58F48C83-2685-1B52-2AE3-6BA419F5682A}"/>
              </a:ext>
            </a:extLst>
          </p:cNvPr>
          <p:cNvSpPr txBox="1"/>
          <p:nvPr/>
        </p:nvSpPr>
        <p:spPr>
          <a:xfrm>
            <a:off x="1371600" y="27355800"/>
            <a:ext cx="8153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100" b="1">
                <a:solidFill>
                  <a:srgbClr val="52606D"/>
                </a:solidFill>
                <a:latin typeface="Calibri" panose="020F0502020204030204" pitchFamily="34" charset="0"/>
              </a:rPr>
              <a:t>Decoder: soft I/Q -&gt; image (59 conv)</a:t>
            </a:r>
            <a:endParaRPr lang="zh-CN" altLang="en-US" sz="2100" b="1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9E4DA6AD-1F84-B139-8073-B06EB8D3D903}"/>
              </a:ext>
            </a:extLst>
          </p:cNvPr>
          <p:cNvSpPr txBox="1"/>
          <p:nvPr/>
        </p:nvSpPr>
        <p:spPr>
          <a:xfrm>
            <a:off x="1371600" y="27762200"/>
            <a:ext cx="8153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>
                <a:solidFill>
                  <a:srgbClr val="52606D"/>
                </a:solidFill>
                <a:latin typeface="Calibri" panose="020F0502020204030204" pitchFamily="34" charset="0"/>
              </a:rPr>
              <a:t>RG/RB residual (+GDN), ATT attention, RU PixelShuffle (+IGDN)</a:t>
            </a:r>
            <a:endParaRPr lang="zh-CN" altLang="en-US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B594EB95-C148-FF27-31BD-4F6D8DF5D76E}"/>
              </a:ext>
            </a:extLst>
          </p:cNvPr>
          <p:cNvSpPr txBox="1"/>
          <p:nvPr/>
        </p:nvSpPr>
        <p:spPr>
          <a:xfrm>
            <a:off x="1371600" y="28270200"/>
            <a:ext cx="8153400" cy="279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C = 32, 16 latent channels, 4× down-sampling; 387k parameters; trained at 10 dB AWGN with a constellation-entropy (KL) penalty.</a:t>
            </a:r>
          </a:p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W8A12 post-training quantization: 0.05 dB below float (DIV2K); RTL bit-exact against the integer model.</a:t>
            </a:r>
            <a:endParaRPr lang="zh-CN" altLang="en-US" sz="2300">
              <a:solidFill>
                <a:srgbClr val="1F2933"/>
              </a:solidFill>
              <a:latin typeface="Calibri" panose="020F0502020204030204" pitchFamily="34" charset="0"/>
            </a:endParaRPr>
          </a:p>
        </p:txBody>
      </p:sp>
      <p:sp>
        <p:nvSpPr>
          <p:cNvPr id="92" name="card 4">
            <a:extLst>
              <a:ext uri="{FF2B5EF4-FFF2-40B4-BE49-F238E27FC236}">
                <a16:creationId xmlns:a16="http://schemas.microsoft.com/office/drawing/2014/main" id="{2469692B-3761-8993-E52B-BC307A2A2AC6}"/>
              </a:ext>
            </a:extLst>
          </p:cNvPr>
          <p:cNvSpPr/>
          <p:nvPr/>
        </p:nvSpPr>
        <p:spPr>
          <a:xfrm>
            <a:off x="914400" y="30670500"/>
            <a:ext cx="9067800" cy="9207500"/>
          </a:xfrm>
          <a:prstGeom prst="roundRect">
            <a:avLst>
              <a:gd name="adj" fmla="val 2521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badge 4">
            <a:extLst>
              <a:ext uri="{FF2B5EF4-FFF2-40B4-BE49-F238E27FC236}">
                <a16:creationId xmlns:a16="http://schemas.microsoft.com/office/drawing/2014/main" id="{53B2F619-C654-1E45-06AB-410F443A054D}"/>
              </a:ext>
            </a:extLst>
          </p:cNvPr>
          <p:cNvSpPr/>
          <p:nvPr/>
        </p:nvSpPr>
        <p:spPr>
          <a:xfrm>
            <a:off x="1270000" y="310007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4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94" name="title 4">
            <a:extLst>
              <a:ext uri="{FF2B5EF4-FFF2-40B4-BE49-F238E27FC236}">
                <a16:creationId xmlns:a16="http://schemas.microsoft.com/office/drawing/2014/main" id="{AB33D8B6-A843-90BD-4F23-7B8F5F08A603}"/>
              </a:ext>
            </a:extLst>
          </p:cNvPr>
          <p:cNvSpPr txBox="1"/>
          <p:nvPr/>
        </p:nvSpPr>
        <p:spPr>
          <a:xfrm>
            <a:off x="2235200" y="310007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OFDM PHY and RF front end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988F4D5-562C-3A3E-4F4E-63067813E62D}"/>
              </a:ext>
            </a:extLst>
          </p:cNvPr>
          <p:cNvSpPr txBox="1"/>
          <p:nvPr/>
        </p:nvSpPr>
        <p:spPr>
          <a:xfrm>
            <a:off x="1371600" y="31991300"/>
            <a:ext cx="8153400" cy="292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64-pt FFT, 48 data + 4 pilots; PN sign flip: 99 % PAPR 10.1-10.7 -&gt; 9.4-9.8 dB.</a:t>
            </a:r>
          </a:p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Per-symbol SFO tracking: frame-end EVM within 1.7 dB of the start (683 symbols).</a:t>
            </a:r>
          </a:p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AGC lock -14 dBFS: mid-frame gain steps 9/45 -&gt; 0/44; PHY alone: 0 errors in 7.15×10^8 bits.</a:t>
            </a:r>
            <a:endParaRPr lang="zh-CN" altLang="en-US" sz="2300">
              <a:solidFill>
                <a:srgbClr val="1F2933"/>
              </a:solidFill>
              <a:latin typeface="Calibri" panose="020F0502020204030204" pitchFamily="34" charset="0"/>
            </a:endParaRPr>
          </a:p>
        </p:txBody>
      </p:sp>
      <p:pic>
        <p:nvPicPr>
          <p:cNvPr id="97" name="图片 96">
            <a:extLst>
              <a:ext uri="{FF2B5EF4-FFF2-40B4-BE49-F238E27FC236}">
                <a16:creationId xmlns:a16="http://schemas.microsoft.com/office/drawing/2014/main" id="{B7716CA0-4591-CD54-0D05-5F57EA744E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1300" y="34861500"/>
            <a:ext cx="7874000" cy="4275336"/>
          </a:xfrm>
          <a:prstGeom prst="rect">
            <a:avLst/>
          </a:prstGeom>
          <a:ln w="19050">
            <a:solidFill>
              <a:srgbClr val="B8C7D6"/>
            </a:solidFill>
          </a:ln>
        </p:spPr>
      </p:pic>
      <p:sp>
        <p:nvSpPr>
          <p:cNvPr id="98" name="文本框 97">
            <a:extLst>
              <a:ext uri="{FF2B5EF4-FFF2-40B4-BE49-F238E27FC236}">
                <a16:creationId xmlns:a16="http://schemas.microsoft.com/office/drawing/2014/main" id="{0E7B8E3B-9706-0167-FF47-4D2F6C2C007B}"/>
              </a:ext>
            </a:extLst>
          </p:cNvPr>
          <p:cNvSpPr txBox="1"/>
          <p:nvPr/>
        </p:nvSpPr>
        <p:spPr>
          <a:xfrm>
            <a:off x="1371600" y="39238436"/>
            <a:ext cx="8153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zh-CN">
                <a:solidFill>
                  <a:srgbClr val="52606D"/>
                </a:solidFill>
                <a:latin typeface="Calibri" panose="020F0502020204030204" pitchFamily="34" charset="0"/>
              </a:rPr>
              <a:t>Live RX GUI: constellations, |H| vs time, per-subcarrier SNR, spectrum</a:t>
            </a:r>
            <a:endParaRPr lang="zh-CN" altLang="en-US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99" name="card 5">
            <a:extLst>
              <a:ext uri="{FF2B5EF4-FFF2-40B4-BE49-F238E27FC236}">
                <a16:creationId xmlns:a16="http://schemas.microsoft.com/office/drawing/2014/main" id="{9DF2B618-0ACA-F247-9A71-9DCA71578E25}"/>
              </a:ext>
            </a:extLst>
          </p:cNvPr>
          <p:cNvSpPr/>
          <p:nvPr/>
        </p:nvSpPr>
        <p:spPr>
          <a:xfrm>
            <a:off x="10591800" y="7239000"/>
            <a:ext cx="9067800" cy="13462000"/>
          </a:xfrm>
          <a:prstGeom prst="roundRect">
            <a:avLst>
              <a:gd name="adj" fmla="val 2521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badge 5">
            <a:extLst>
              <a:ext uri="{FF2B5EF4-FFF2-40B4-BE49-F238E27FC236}">
                <a16:creationId xmlns:a16="http://schemas.microsoft.com/office/drawing/2014/main" id="{900636D4-11E0-D922-01FB-930C4CBEDF4C}"/>
              </a:ext>
            </a:extLst>
          </p:cNvPr>
          <p:cNvSpPr/>
          <p:nvPr/>
        </p:nvSpPr>
        <p:spPr>
          <a:xfrm>
            <a:off x="10947400" y="7569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5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1" name="title 5">
            <a:extLst>
              <a:ext uri="{FF2B5EF4-FFF2-40B4-BE49-F238E27FC236}">
                <a16:creationId xmlns:a16="http://schemas.microsoft.com/office/drawing/2014/main" id="{64016564-3705-B11E-48C0-1E2D7AE6BA0D}"/>
              </a:ext>
            </a:extLst>
          </p:cNvPr>
          <p:cNvSpPr txBox="1"/>
          <p:nvPr/>
        </p:nvSpPr>
        <p:spPr>
          <a:xfrm>
            <a:off x="11912600" y="75692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Layer-streaming CNN engine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D4F34788-EA88-4642-A613-CF81179C1DD9}"/>
              </a:ext>
            </a:extLst>
          </p:cNvPr>
          <p:cNvSpPr txBox="1"/>
          <p:nvPr/>
        </p:nvSpPr>
        <p:spPr>
          <a:xfrm>
            <a:off x="11049000" y="8636000"/>
            <a:ext cx="8153400" cy="457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One engine per layer, chained by AXI-Stream with back-pressure: only line buffers, no frame storage.</a:t>
            </a:r>
          </a:p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Output-channel parallelism P chosen per layer: the smallest P that meets 30 fps at 250 MHz.</a:t>
            </a:r>
          </a:p>
          <a:p>
            <a:pPr marL="266700" indent="-2667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300">
                <a:solidFill>
                  <a:srgbClr val="1F2933"/>
                </a:solidFill>
                <a:latin typeface="Calibri" panose="020F0502020204030204" pitchFamily="34" charset="0"/>
              </a:rPr>
              <a:t>Branches that read the same input share one window reader; weights in LUT, BRAM or packed BRAM + gearbox; large activation buffers in URAM.</a:t>
            </a:r>
            <a:endParaRPr lang="zh-CN" altLang="en-US" sz="2300">
              <a:solidFill>
                <a:srgbClr val="1F2933"/>
              </a:solidFill>
              <a:latin typeface="Calibri" panose="020F0502020204030204" pitchFamily="34" charset="0"/>
            </a:endParaRPr>
          </a:p>
        </p:txBody>
      </p:sp>
      <p:sp>
        <p:nvSpPr>
          <p:cNvPr id="103" name="矩形: 圆角 102">
            <a:extLst>
              <a:ext uri="{FF2B5EF4-FFF2-40B4-BE49-F238E27FC236}">
                <a16:creationId xmlns:a16="http://schemas.microsoft.com/office/drawing/2014/main" id="{134D07CA-DF82-F396-2009-E444FCE649A3}"/>
              </a:ext>
            </a:extLst>
          </p:cNvPr>
          <p:cNvSpPr/>
          <p:nvPr/>
        </p:nvSpPr>
        <p:spPr>
          <a:xfrm>
            <a:off x="11049000" y="12319000"/>
            <a:ext cx="1778000" cy="121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Line buffer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K-1 rows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D884B2FA-765B-22C9-232C-DFCDB24C1CA7}"/>
              </a:ext>
            </a:extLst>
          </p:cNvPr>
          <p:cNvCxnSpPr/>
          <p:nvPr/>
        </p:nvCxnSpPr>
        <p:spPr>
          <a:xfrm>
            <a:off x="12827000" y="12928600"/>
            <a:ext cx="347134" cy="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DE3393EC-A285-9005-A91E-00B37214FABE}"/>
              </a:ext>
            </a:extLst>
          </p:cNvPr>
          <p:cNvSpPr/>
          <p:nvPr/>
        </p:nvSpPr>
        <p:spPr>
          <a:xfrm>
            <a:off x="13174134" y="12319000"/>
            <a:ext cx="1778000" cy="121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Window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K×K×Cin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1FB39207-A6DE-6ACC-7CCC-3AAF0DFFB4B5}"/>
              </a:ext>
            </a:extLst>
          </p:cNvPr>
          <p:cNvCxnSpPr/>
          <p:nvPr/>
        </p:nvCxnSpPr>
        <p:spPr>
          <a:xfrm>
            <a:off x="14952134" y="12928600"/>
            <a:ext cx="347132" cy="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B0403244-CF96-7A7E-B8B8-634164FBB696}"/>
              </a:ext>
            </a:extLst>
          </p:cNvPr>
          <p:cNvSpPr/>
          <p:nvPr/>
        </p:nvSpPr>
        <p:spPr>
          <a:xfrm>
            <a:off x="15299266" y="12319000"/>
            <a:ext cx="1778000" cy="1219200"/>
          </a:xfrm>
          <a:prstGeom prst="roundRect">
            <a:avLst>
              <a:gd name="adj" fmla="val 12000"/>
            </a:avLst>
          </a:prstGeom>
          <a:solidFill>
            <a:srgbClr val="DCE8F4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P MAC lanes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weights x P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D3BC3490-FDEB-F332-43D9-70F4645716D8}"/>
              </a:ext>
            </a:extLst>
          </p:cNvPr>
          <p:cNvCxnSpPr/>
          <p:nvPr/>
        </p:nvCxnSpPr>
        <p:spPr>
          <a:xfrm>
            <a:off x="17077266" y="12928600"/>
            <a:ext cx="347134" cy="0"/>
          </a:xfrm>
          <a:prstGeom prst="straightConnector1">
            <a:avLst/>
          </a:prstGeom>
          <a:ln w="50800">
            <a:solidFill>
              <a:srgbClr val="52606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矩形: 圆角 108">
            <a:extLst>
              <a:ext uri="{FF2B5EF4-FFF2-40B4-BE49-F238E27FC236}">
                <a16:creationId xmlns:a16="http://schemas.microsoft.com/office/drawing/2014/main" id="{E2B94B83-001A-4CA6-6770-8E1E193EAE81}"/>
              </a:ext>
            </a:extLst>
          </p:cNvPr>
          <p:cNvSpPr/>
          <p:nvPr/>
        </p:nvSpPr>
        <p:spPr>
          <a:xfrm>
            <a:off x="17424400" y="12319000"/>
            <a:ext cx="1778000" cy="121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0B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25400" rIns="76200" bIns="25400" rtlCol="0" anchor="ctr"/>
          <a:lstStyle/>
          <a:p>
            <a:pPr algn="ctr"/>
            <a:r>
              <a:rPr lang="en-US" altLang="zh-CN" sz="2300" b="1">
                <a:solidFill>
                  <a:srgbClr val="1F2933"/>
                </a:solidFill>
                <a:latin typeface="Calibri" panose="020F0502020204030204" pitchFamily="34" charset="0"/>
              </a:rPr>
              <a:t>Requantize</a:t>
            </a:r>
          </a:p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bias, act., shift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8EF0A4AA-250F-A86B-12CD-F864947F0DC0}"/>
              </a:ext>
            </a:extLst>
          </p:cNvPr>
          <p:cNvSpPr txBox="1"/>
          <p:nvPr/>
        </p:nvSpPr>
        <p:spPr>
          <a:xfrm>
            <a:off x="11049000" y="13639800"/>
            <a:ext cx="8153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altLang="zh-CN" sz="1900">
                <a:solidFill>
                  <a:srgbClr val="52606D"/>
                </a:solidFill>
                <a:latin typeface="Calibri" panose="020F0502020204030204" pitchFamily="34" charset="0"/>
              </a:rPr>
              <a:t>per layer; groups of P output channels re-read the window</a:t>
            </a:r>
            <a:endParaRPr lang="zh-CN" altLang="en-US" sz="1900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6397A282-8F3A-9FCA-5878-AD599994E312}"/>
              </a:ext>
            </a:extLst>
          </p:cNvPr>
          <p:cNvSpPr txBox="1"/>
          <p:nvPr/>
        </p:nvSpPr>
        <p:spPr>
          <a:xfrm>
            <a:off x="11049000" y="14478000"/>
            <a:ext cx="8153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400" b="1">
                <a:solidFill>
                  <a:srgbClr val="0B4F8A"/>
                </a:solidFill>
                <a:latin typeface="Calibri" panose="020F0502020204030204" pitchFamily="34" charset="0"/>
              </a:rPr>
              <a:t>Optimization steps (encoder / decoder)</a:t>
            </a:r>
            <a:endParaRPr lang="zh-CN" altLang="en-US" sz="24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112" name="表格 111">
            <a:extLst>
              <a:ext uri="{FF2B5EF4-FFF2-40B4-BE49-F238E27FC236}">
                <a16:creationId xmlns:a16="http://schemas.microsoft.com/office/drawing/2014/main" id="{CA57C2C3-C3E4-C265-AA8F-2019D0D4D5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469831"/>
              </p:ext>
            </p:extLst>
          </p:nvPr>
        </p:nvGraphicFramePr>
        <p:xfrm>
          <a:off x="11049000" y="14986000"/>
          <a:ext cx="8153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02100">
                  <a:extLst>
                    <a:ext uri="{9D8B030D-6E8A-4147-A177-3AD203B41FA5}">
                      <a16:colId xmlns:a16="http://schemas.microsoft.com/office/drawing/2014/main" val="393563497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65303320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1514779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Step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Before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After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3234805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Per-layer P: MAC lanes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1120 / 1191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217 / 296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474081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Weight gearbox: DSP, enc.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255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223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4590145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Activations to URAM: BRAM36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114 / 149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97.5 / 99.5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7558893"/>
                  </a:ext>
                </a:extLst>
              </a:tr>
            </a:tbl>
          </a:graphicData>
        </a:graphic>
      </p:graphicFrame>
      <p:sp>
        <p:nvSpPr>
          <p:cNvPr id="113" name="文本框 112">
            <a:extLst>
              <a:ext uri="{FF2B5EF4-FFF2-40B4-BE49-F238E27FC236}">
                <a16:creationId xmlns:a16="http://schemas.microsoft.com/office/drawing/2014/main" id="{CBCCD897-5C51-12E8-68FF-46179C8E09B5}"/>
              </a:ext>
            </a:extLst>
          </p:cNvPr>
          <p:cNvSpPr txBox="1"/>
          <p:nvPr/>
        </p:nvSpPr>
        <p:spPr>
          <a:xfrm>
            <a:off x="11049000" y="17932400"/>
            <a:ext cx="8153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400" b="1">
                <a:solidFill>
                  <a:srgbClr val="0B4F8A"/>
                </a:solidFill>
                <a:latin typeface="Calibri" panose="020F0502020204030204" pitchFamily="34" charset="0"/>
              </a:rPr>
              <a:t>Full TX / RX designs (xczu5eg, routed)</a:t>
            </a:r>
            <a:endParaRPr lang="zh-CN" altLang="en-US" sz="24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114" name="表格 113">
            <a:extLst>
              <a:ext uri="{FF2B5EF4-FFF2-40B4-BE49-F238E27FC236}">
                <a16:creationId xmlns:a16="http://schemas.microsoft.com/office/drawing/2014/main" id="{62AD0175-ABCD-DD60-D7FE-31327914CE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1817213"/>
              </p:ext>
            </p:extLst>
          </p:nvPr>
        </p:nvGraphicFramePr>
        <p:xfrm>
          <a:off x="11049000" y="18440400"/>
          <a:ext cx="8153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100">
                  <a:extLst>
                    <a:ext uri="{9D8B030D-6E8A-4147-A177-3AD203B41FA5}">
                      <a16:colId xmlns:a16="http://schemas.microsoft.com/office/drawing/2014/main" val="405671228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146623861"/>
                    </a:ext>
                  </a:extLst>
                </a:gridCol>
                <a:gridCol w="1587500">
                  <a:extLst>
                    <a:ext uri="{9D8B030D-6E8A-4147-A177-3AD203B41FA5}">
                      <a16:colId xmlns:a16="http://schemas.microsoft.com/office/drawing/2014/main" val="3009494439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354791128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4057135356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861614694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algn="l"/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LUT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BRAM36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URAM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DSP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WNS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1402337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TX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52.7k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104.5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10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243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+0.15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3339837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RX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70.8k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123.5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25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394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+0.23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3125425"/>
                  </a:ext>
                </a:extLst>
              </a:tr>
            </a:tbl>
          </a:graphicData>
        </a:graphic>
      </p:graphicFrame>
      <p:sp>
        <p:nvSpPr>
          <p:cNvPr id="115" name="card 6">
            <a:extLst>
              <a:ext uri="{FF2B5EF4-FFF2-40B4-BE49-F238E27FC236}">
                <a16:creationId xmlns:a16="http://schemas.microsoft.com/office/drawing/2014/main" id="{6608CCE3-703F-B173-09B0-621770B38C40}"/>
              </a:ext>
            </a:extLst>
          </p:cNvPr>
          <p:cNvSpPr/>
          <p:nvPr/>
        </p:nvSpPr>
        <p:spPr>
          <a:xfrm>
            <a:off x="20269200" y="7239000"/>
            <a:ext cx="9067800" cy="6096000"/>
          </a:xfrm>
          <a:prstGeom prst="roundRect">
            <a:avLst>
              <a:gd name="adj" fmla="val 3750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badge 6">
            <a:extLst>
              <a:ext uri="{FF2B5EF4-FFF2-40B4-BE49-F238E27FC236}">
                <a16:creationId xmlns:a16="http://schemas.microsoft.com/office/drawing/2014/main" id="{FB892D83-D1F3-2A10-6F2C-B2B341B0368D}"/>
              </a:ext>
            </a:extLst>
          </p:cNvPr>
          <p:cNvSpPr/>
          <p:nvPr/>
        </p:nvSpPr>
        <p:spPr>
          <a:xfrm>
            <a:off x="20624800" y="7569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17" name="title 6">
            <a:extLst>
              <a:ext uri="{FF2B5EF4-FFF2-40B4-BE49-F238E27FC236}">
                <a16:creationId xmlns:a16="http://schemas.microsoft.com/office/drawing/2014/main" id="{7544DABD-6841-7BB9-6BAB-F61013505264}"/>
              </a:ext>
            </a:extLst>
          </p:cNvPr>
          <p:cNvSpPr txBox="1"/>
          <p:nvPr/>
        </p:nvSpPr>
        <p:spPr>
          <a:xfrm>
            <a:off x="21590000" y="75692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Latency and throughput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pic>
        <p:nvPicPr>
          <p:cNvPr id="119" name="图片 118">
            <a:extLst>
              <a:ext uri="{FF2B5EF4-FFF2-40B4-BE49-F238E27FC236}">
                <a16:creationId xmlns:a16="http://schemas.microsoft.com/office/drawing/2014/main" id="{D73853BD-FD2C-9B68-9C38-5C5F466290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77200" y="8559800"/>
            <a:ext cx="8051800" cy="2569724"/>
          </a:xfrm>
          <a:prstGeom prst="rect">
            <a:avLst/>
          </a:prstGeom>
        </p:spPr>
      </p:pic>
      <p:sp>
        <p:nvSpPr>
          <p:cNvPr id="120" name="文本框 119">
            <a:extLst>
              <a:ext uri="{FF2B5EF4-FFF2-40B4-BE49-F238E27FC236}">
                <a16:creationId xmlns:a16="http://schemas.microsoft.com/office/drawing/2014/main" id="{07871724-65CF-0804-3FCB-4FEB3CA2768D}"/>
              </a:ext>
            </a:extLst>
          </p:cNvPr>
          <p:cNvSpPr txBox="1"/>
          <p:nvPr/>
        </p:nvSpPr>
        <p:spPr>
          <a:xfrm>
            <a:off x="20726400" y="11383524"/>
            <a:ext cx="8153400" cy="190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54000" indent="-2540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200">
                <a:solidFill>
                  <a:srgbClr val="1F2933"/>
                </a:solidFill>
                <a:latin typeface="Calibri" panose="020F0502020204030204" pitchFamily="34" charset="0"/>
              </a:rPr>
              <a:t>Medians from PL frame counters on both boards (1701 frames).</a:t>
            </a:r>
          </a:p>
          <a:p>
            <a:pPr marL="254000" indent="-254000">
              <a:spcAft>
                <a:spcPts val="10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200">
                <a:solidFill>
                  <a:srgbClr val="1F2933"/>
                </a:solidFill>
                <a:latin typeface="Calibri" panose="020F0502020204030204" pitchFamily="34" charset="0"/>
              </a:rPr>
              <a:t>30.0 fps sustained: 18,000 frames received in 600 s.</a:t>
            </a:r>
            <a:endParaRPr lang="zh-CN" altLang="en-US" sz="2200">
              <a:solidFill>
                <a:srgbClr val="1F2933"/>
              </a:solidFill>
              <a:latin typeface="Calibri" panose="020F0502020204030204" pitchFamily="34" charset="0"/>
            </a:endParaRPr>
          </a:p>
        </p:txBody>
      </p:sp>
      <p:sp>
        <p:nvSpPr>
          <p:cNvPr id="121" name="card 7">
            <a:extLst>
              <a:ext uri="{FF2B5EF4-FFF2-40B4-BE49-F238E27FC236}">
                <a16:creationId xmlns:a16="http://schemas.microsoft.com/office/drawing/2014/main" id="{94627F5C-BCCE-F900-06DE-9A1B4692D592}"/>
              </a:ext>
            </a:extLst>
          </p:cNvPr>
          <p:cNvSpPr/>
          <p:nvPr/>
        </p:nvSpPr>
        <p:spPr>
          <a:xfrm>
            <a:off x="20269200" y="13716000"/>
            <a:ext cx="9067800" cy="6985000"/>
          </a:xfrm>
          <a:prstGeom prst="roundRect">
            <a:avLst>
              <a:gd name="adj" fmla="val 3273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badge 7">
            <a:extLst>
              <a:ext uri="{FF2B5EF4-FFF2-40B4-BE49-F238E27FC236}">
                <a16:creationId xmlns:a16="http://schemas.microsoft.com/office/drawing/2014/main" id="{3D8D5292-F65C-AF5B-117F-364BD781F0EE}"/>
              </a:ext>
            </a:extLst>
          </p:cNvPr>
          <p:cNvSpPr/>
          <p:nvPr/>
        </p:nvSpPr>
        <p:spPr>
          <a:xfrm>
            <a:off x="20624800" y="14046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7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3" name="title 7">
            <a:extLst>
              <a:ext uri="{FF2B5EF4-FFF2-40B4-BE49-F238E27FC236}">
                <a16:creationId xmlns:a16="http://schemas.microsoft.com/office/drawing/2014/main" id="{AE5DD60F-4C55-F121-C7B7-3E8F72AFE624}"/>
              </a:ext>
            </a:extLst>
          </p:cNvPr>
          <p:cNvSpPr txBox="1"/>
          <p:nvPr/>
        </p:nvSpPr>
        <p:spPr>
          <a:xfrm>
            <a:off x="21590000" y="14046200"/>
            <a:ext cx="73914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vs. FPGA DeepJSCC [3]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124" name="表格 123">
            <a:extLst>
              <a:ext uri="{FF2B5EF4-FFF2-40B4-BE49-F238E27FC236}">
                <a16:creationId xmlns:a16="http://schemas.microsoft.com/office/drawing/2014/main" id="{D0C2C32C-01EB-846D-551F-AB71646F91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5224397"/>
              </p:ext>
            </p:extLst>
          </p:nvPr>
        </p:nvGraphicFramePr>
        <p:xfrm>
          <a:off x="20726400" y="15087600"/>
          <a:ext cx="8153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>
                  <a:extLst>
                    <a:ext uri="{9D8B030D-6E8A-4147-A177-3AD203B41FA5}">
                      <a16:colId xmlns:a16="http://schemas.microsoft.com/office/drawing/2014/main" val="4196690362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2374867641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141378289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algn="l"/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[3] GLOBECOM 25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This work</a:t>
                      </a:r>
                      <a:endParaRPr lang="zh-CN" altLang="en-US" sz="2100" b="1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0B4F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4405760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Conv. work / frame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0.22 GMAC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2.33 GMAC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470599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DSP enc. / dec.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1597 / 874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233 / 312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8066558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BRAM enc. / dec.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1039 / 1012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100 / 100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658028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Latency enc. / dec.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39.6 / 52.9 ms *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38.2 / 30.4 ms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05936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2100" b="1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PHY</a:t>
                      </a:r>
                      <a:endParaRPr lang="zh-CN" altLang="en-US" sz="2100" b="1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external 5G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100" b="0">
                          <a:solidFill>
                            <a:srgbClr val="1F2933"/>
                          </a:solidFill>
                          <a:latin typeface="Calibri" panose="020F0502020204030204" pitchFamily="34" charset="0"/>
                        </a:rPr>
                        <a:t>own OFDM in PL</a:t>
                      </a:r>
                      <a:endParaRPr lang="zh-CN" altLang="en-US" sz="2100" b="0">
                        <a:solidFill>
                          <a:srgbClr val="1F2933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762799"/>
                  </a:ext>
                </a:extLst>
              </a:tr>
            </a:tbl>
          </a:graphicData>
        </a:graphic>
      </p:graphicFrame>
      <p:sp>
        <p:nvSpPr>
          <p:cNvPr id="125" name="文本框 124">
            <a:extLst>
              <a:ext uri="{FF2B5EF4-FFF2-40B4-BE49-F238E27FC236}">
                <a16:creationId xmlns:a16="http://schemas.microsoft.com/office/drawing/2014/main" id="{5841CD91-F422-6184-02AF-46DD0B26A5BA}"/>
              </a:ext>
            </a:extLst>
          </p:cNvPr>
          <p:cNvSpPr txBox="1"/>
          <p:nvPr/>
        </p:nvSpPr>
        <p:spPr>
          <a:xfrm>
            <a:off x="20726400" y="19050000"/>
            <a:ext cx="8153400" cy="1143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>
                <a:solidFill>
                  <a:srgbClr val="52606D"/>
                </a:solidFill>
                <a:latin typeface="Calibri" panose="020F0502020204030204" pitchFamily="34" charset="0"/>
              </a:rPr>
              <a:t>Network cores; different devices and precision (INT8 vs W8A12): absolute counts, not a controlled comparison. * median including PS processing; ours: PL only.</a:t>
            </a:r>
            <a:endParaRPr lang="zh-CN" altLang="en-US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  <p:sp>
        <p:nvSpPr>
          <p:cNvPr id="126" name="card 8">
            <a:extLst>
              <a:ext uri="{FF2B5EF4-FFF2-40B4-BE49-F238E27FC236}">
                <a16:creationId xmlns:a16="http://schemas.microsoft.com/office/drawing/2014/main" id="{2B362D04-01D4-BAEC-D86E-976AD3AD3585}"/>
              </a:ext>
            </a:extLst>
          </p:cNvPr>
          <p:cNvSpPr/>
          <p:nvPr/>
        </p:nvSpPr>
        <p:spPr>
          <a:xfrm>
            <a:off x="10591800" y="21082000"/>
            <a:ext cx="18745200" cy="18796000"/>
          </a:xfrm>
          <a:prstGeom prst="roundRect">
            <a:avLst>
              <a:gd name="adj" fmla="val 1220"/>
            </a:avLst>
          </a:prstGeom>
          <a:solidFill>
            <a:srgbClr val="EEF3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badge 8">
            <a:extLst>
              <a:ext uri="{FF2B5EF4-FFF2-40B4-BE49-F238E27FC236}">
                <a16:creationId xmlns:a16="http://schemas.microsoft.com/office/drawing/2014/main" id="{789EECB1-7AF2-9F74-197F-ED68851B4601}"/>
              </a:ext>
            </a:extLst>
          </p:cNvPr>
          <p:cNvSpPr/>
          <p:nvPr/>
        </p:nvSpPr>
        <p:spPr>
          <a:xfrm>
            <a:off x="10947400" y="21412200"/>
            <a:ext cx="711200" cy="711200"/>
          </a:xfrm>
          <a:prstGeom prst="ellipse">
            <a:avLst/>
          </a:prstGeom>
          <a:solidFill>
            <a:srgbClr val="0B4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2800" b="1">
                <a:solidFill>
                  <a:srgbClr val="FFFFFF"/>
                </a:solidFill>
                <a:latin typeface="Calibri" panose="020F0502020204030204" pitchFamily="34" charset="0"/>
              </a:rPr>
              <a:t>8</a:t>
            </a:r>
            <a:endParaRPr lang="zh-CN" alt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8" name="title 8">
            <a:extLst>
              <a:ext uri="{FF2B5EF4-FFF2-40B4-BE49-F238E27FC236}">
                <a16:creationId xmlns:a16="http://schemas.microsoft.com/office/drawing/2014/main" id="{356BF61F-22C3-10E2-FAA2-6A35993C194D}"/>
              </a:ext>
            </a:extLst>
          </p:cNvPr>
          <p:cNvSpPr txBox="1"/>
          <p:nvPr/>
        </p:nvSpPr>
        <p:spPr>
          <a:xfrm>
            <a:off x="11912600" y="21412200"/>
            <a:ext cx="170688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4000" b="1">
                <a:solidFill>
                  <a:srgbClr val="0B4F8A"/>
                </a:solidFill>
                <a:latin typeface="Calibri" panose="020F0502020204030204" pitchFamily="34" charset="0"/>
              </a:rPr>
              <a:t>Graceful degradation, no cliff (measured over the air)</a:t>
            </a:r>
            <a:endParaRPr lang="zh-CN" altLang="en-US" sz="4000" b="1">
              <a:solidFill>
                <a:srgbClr val="0B4F8A"/>
              </a:solidFill>
              <a:latin typeface="Calibri" panose="020F0502020204030204" pitchFamily="34" charset="0"/>
            </a:endParaRPr>
          </a:p>
        </p:txBody>
      </p:sp>
      <p:pic>
        <p:nvPicPr>
          <p:cNvPr id="130" name="图片 129">
            <a:extLst>
              <a:ext uri="{FF2B5EF4-FFF2-40B4-BE49-F238E27FC236}">
                <a16:creationId xmlns:a16="http://schemas.microsoft.com/office/drawing/2014/main" id="{078F5F12-805B-853A-FDF7-0AB878C4D99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9799" y="22402800"/>
            <a:ext cx="7620000" cy="6558032"/>
          </a:xfrm>
          <a:prstGeom prst="rect">
            <a:avLst/>
          </a:prstGeom>
        </p:spPr>
      </p:pic>
      <p:sp>
        <p:nvSpPr>
          <p:cNvPr id="131" name="文本框 130">
            <a:extLst>
              <a:ext uri="{FF2B5EF4-FFF2-40B4-BE49-F238E27FC236}">
                <a16:creationId xmlns:a16="http://schemas.microsoft.com/office/drawing/2014/main" id="{809CF100-A0A7-DEC7-D9C3-39834D59FE5D}"/>
              </a:ext>
            </a:extLst>
          </p:cNvPr>
          <p:cNvSpPr txBox="1"/>
          <p:nvPr/>
        </p:nvSpPr>
        <p:spPr>
          <a:xfrm>
            <a:off x="19227800" y="22606000"/>
            <a:ext cx="9601200" cy="63040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79400" indent="-279400">
              <a:spcAft>
                <a:spcPts val="11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400">
                <a:solidFill>
                  <a:srgbClr val="1F2933"/>
                </a:solidFill>
                <a:latin typeface="Calibri" panose="020F0502020204030204" pitchFamily="34" charset="0"/>
              </a:rPr>
              <a:t>DeepJSCC-Q: 32.0 dB at 32 dB SNR and still 26.5 dB at 5.5 dB - the image quality follows the channel.</a:t>
            </a:r>
          </a:p>
          <a:p>
            <a:pPr marL="279400" indent="-279400">
              <a:spcAft>
                <a:spcPts val="11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400">
                <a:solidFill>
                  <a:srgbClr val="1F2933"/>
                </a:solidFill>
                <a:latin typeface="Calibri" panose="020F0502020204030204" pitchFamily="34" charset="0"/>
              </a:rPr>
              <a:t>SSCC (JPEG + K=7 convolutional code + 64-QAM) on the same PHY with the same 32,768 symbols per image: 28.2 dB, lost within 3 dB (SNR 20 -&gt; 17 dB).</a:t>
            </a:r>
          </a:p>
          <a:p>
            <a:pPr marL="279400" indent="-279400">
              <a:spcAft>
                <a:spcPts val="11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400">
                <a:solidFill>
                  <a:srgbClr val="1F2933"/>
                </a:solidFill>
                <a:latin typeface="Calibri" panose="020F0502020204030204" pitchFamily="34" charset="0"/>
              </a:rPr>
              <a:t>With the same channel-symbol budget, DeepJSCC-Q is 3.8 dB better even at high SNR.</a:t>
            </a:r>
          </a:p>
          <a:p>
            <a:pPr marL="279400" indent="-279400">
              <a:spcAft>
                <a:spcPts val="11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400">
                <a:solidFill>
                  <a:srgbClr val="1F2933"/>
                </a:solidFill>
                <a:latin typeface="Calibri" panose="020F0502020204030204" pitchFamily="34" charset="0"/>
              </a:rPr>
              <a:t>SNR is data-aided: received constellation against the known reference of a still image (DIV2K 0802), attenuator swept from 32 dB down.</a:t>
            </a:r>
          </a:p>
          <a:p>
            <a:pPr marL="279400" indent="-279400">
              <a:spcAft>
                <a:spcPts val="1100"/>
              </a:spcAft>
              <a:buClr>
                <a:srgbClr val="0B4F8A"/>
              </a:buClr>
              <a:buFont typeface="+mj-lt"/>
              <a:buChar char="•"/>
            </a:pPr>
            <a:r>
              <a:rPr lang="en-US" altLang="zh-CN" sz="2400">
                <a:solidFill>
                  <a:srgbClr val="1F2933"/>
                </a:solidFill>
                <a:latin typeface="Calibri" panose="020F0502020204030204" pitchFamily="34" charset="0"/>
              </a:rPr>
              <a:t>Below: decoded images from the same sweep - rows original, DeepJSCC-Q, SSCC; PSNR / SSIM under each image; an undecodable SSCC frame is scored as mid-gray.</a:t>
            </a:r>
            <a:endParaRPr lang="zh-CN" altLang="en-US" sz="2400">
              <a:solidFill>
                <a:srgbClr val="1F2933"/>
              </a:solidFill>
              <a:latin typeface="Calibri" panose="020F0502020204030204" pitchFamily="34" charset="0"/>
            </a:endParaRPr>
          </a:p>
        </p:txBody>
      </p:sp>
      <p:pic>
        <p:nvPicPr>
          <p:cNvPr id="133" name="图片 132">
            <a:extLst>
              <a:ext uri="{FF2B5EF4-FFF2-40B4-BE49-F238E27FC236}">
                <a16:creationId xmlns:a16="http://schemas.microsoft.com/office/drawing/2014/main" id="{F768FE5E-6D45-719A-E9AC-259F956F70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9800" y="29265631"/>
            <a:ext cx="17729200" cy="9972674"/>
          </a:xfrm>
          <a:prstGeom prst="rect">
            <a:avLst/>
          </a:prstGeom>
        </p:spPr>
      </p:pic>
      <p:sp>
        <p:nvSpPr>
          <p:cNvPr id="134" name="文本框 133">
            <a:extLst>
              <a:ext uri="{FF2B5EF4-FFF2-40B4-BE49-F238E27FC236}">
                <a16:creationId xmlns:a16="http://schemas.microsoft.com/office/drawing/2014/main" id="{39C43050-7597-1B39-7ADC-F531C1D9BC39}"/>
              </a:ext>
            </a:extLst>
          </p:cNvPr>
          <p:cNvSpPr txBox="1"/>
          <p:nvPr/>
        </p:nvSpPr>
        <p:spPr>
          <a:xfrm>
            <a:off x="914400" y="40309800"/>
            <a:ext cx="284480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2000">
                <a:solidFill>
                  <a:srgbClr val="1F2933"/>
                </a:solidFill>
                <a:latin typeface="Calibri" panose="020F0502020204030204" pitchFamily="34" charset="0"/>
              </a:rPr>
              <a:t>Developed with AI coding agents: Claude Code (PHY, RF, PYNQ software, measurements) and Codex (training, quantization, RTL generator); the human set the goals and constraints, made the key technical calls and did all hardware handling; the two models cross-reviewed the report. Hardware: 2× PYNQ-ZU (xczu5eg) + 2× AD-FMCOMMS3, Vivado 2025.2. Open source (MIT).</a:t>
            </a:r>
            <a:endParaRPr lang="zh-CN" altLang="en-US" sz="2000">
              <a:solidFill>
                <a:srgbClr val="1F2933"/>
              </a:solidFill>
              <a:latin typeface="Calibri" panose="020F0502020204030204" pitchFamily="34" charset="0"/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18C9E5C5-29E2-5007-DCC7-C33FFEFB666E}"/>
              </a:ext>
            </a:extLst>
          </p:cNvPr>
          <p:cNvSpPr txBox="1"/>
          <p:nvPr/>
        </p:nvSpPr>
        <p:spPr>
          <a:xfrm>
            <a:off x="914400" y="41529000"/>
            <a:ext cx="28448000" cy="1016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>
                <a:solidFill>
                  <a:srgbClr val="52606D"/>
                </a:solidFill>
                <a:latin typeface="Calibri" panose="020F0502020204030204" pitchFamily="34" charset="0"/>
              </a:rPr>
              <a:t>[1] E. Bourtsoulatze, D. B. Kurka, D. Gunduz, IEEE TCCN, 2019.   [2] T.-Y. Tung, D. B. Kurka, M. Jankowski, D. Gunduz, "DeepJSCC-Q," IEEE JSAIT, 2022.   [3] T. Isobe et al., "FPGA-based deep joint source-channel coding for real-time 5G image transmission," IEEE GLOBECOM, 2025.</a:t>
            </a:r>
            <a:endParaRPr lang="zh-CN" altLang="en-US">
              <a:solidFill>
                <a:srgbClr val="52606D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55362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1061</Words>
  <Application>Microsoft Office PowerPoint</Application>
  <PresentationFormat>自定义</PresentationFormat>
  <Paragraphs>148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Calibri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PC</dc:creator>
  <cp:lastModifiedBy>PC</cp:lastModifiedBy>
  <cp:revision>1</cp:revision>
  <dcterms:created xsi:type="dcterms:W3CDTF">2026-10-07T12:36:06Z</dcterms:created>
  <dcterms:modified xsi:type="dcterms:W3CDTF">2026-10-07T12:36:06Z</dcterms:modified>
</cp:coreProperties>
</file>