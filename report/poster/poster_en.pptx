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0276800" cy="4279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519FB6-34C2-8412-6540-9D1AE1079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600" y="7004376"/>
            <a:ext cx="22707600" cy="1490039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88048E2-9DE6-BD03-AD8F-F3E66CBEE6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600" y="22479385"/>
            <a:ext cx="22707600" cy="1033318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D48CA1-4587-AAB9-872E-B54CADCC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C2A123-19CD-9256-6ED7-91018FBA4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9A46F0-491A-8594-F742-D08199210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2444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4C3486-F063-4B53-B154-E923EBB03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7E657F-B64C-C031-E81C-2C67A456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46672A-D35B-331E-5147-02461F7B9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5DE714-AA4D-2F8B-4A59-780293C7B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137555-BF31-9252-5748-F431B16B9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233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F7A7BC-D5AC-3C32-C699-CEFCD842D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761" y="10670041"/>
            <a:ext cx="26113740" cy="17803192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3D4D7A-D4D4-9AAB-D6AE-095575D87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761" y="28641658"/>
            <a:ext cx="26113740" cy="936227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0595C2-8A75-7F0E-1A24-0A8D20A16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0F7148-A04D-239D-6D71-D12574AD4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9BBBA6-93EC-00A2-8F67-29AA6A4A6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3080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F32395-409D-AF0B-2CE9-640906510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B3B4CA-289E-6B8E-84EC-5D57E18BEF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530" y="11393252"/>
            <a:ext cx="12867640" cy="27155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553D61-E1F6-62E8-ADA5-162540DA4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7630" y="11393252"/>
            <a:ext cx="12867640" cy="27155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760AF9-F847-9F78-3B30-76EA6DA49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C6127C1-56D0-AC64-45FF-E664A897B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BFB782-9680-2362-270D-8D478E99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1829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BD012B-DC46-54C1-6980-A8829A57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4" y="2278660"/>
            <a:ext cx="26113740" cy="827249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D48E36-21BC-46BF-1AED-844503849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475" y="10491703"/>
            <a:ext cx="12808504" cy="514182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0051BAA-213A-2C59-FF05-92EBA45928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475" y="15633524"/>
            <a:ext cx="12808504" cy="2299455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838B1D0-E89C-E75E-E080-6ECC3CA8BA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7630" y="10491703"/>
            <a:ext cx="12871584" cy="514182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0B94D84-A5C2-4BC5-D985-073A8F97F9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7630" y="15633524"/>
            <a:ext cx="12871584" cy="2299455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9682FDF-E406-581D-A0E5-99EB659A9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A82327-B930-1FF4-CBBB-30017966D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F17A444-88FB-B13B-2688-53648FEDA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068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22E0C5-F38D-2E6B-2CE1-5DA7D7A03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6FB5951-6560-686F-DC96-335BD9D2E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94B6044-8D8B-892D-2338-BF77058C5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7ECE743-EBAB-8D2C-EFB5-F1A8AC78A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7880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0AD8FB-EFD9-DB0F-849C-C4730F889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B1B5294-2361-7470-8295-13DCC65BC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EDE758B-2074-AC60-17BB-C9D47B433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7687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2C6EC2-551F-1FFE-BE75-9E732AEBC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6" y="2853267"/>
            <a:ext cx="9765055" cy="99864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177CDB-20FD-F51A-84E2-AB04393BE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1584" y="6162273"/>
            <a:ext cx="15327630" cy="3041503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3555D83-1717-3B8B-8DF9-EA3067F802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476" y="12839700"/>
            <a:ext cx="9765055" cy="237871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00AE04-8111-A131-ABAA-206697F82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7C7EAD-9961-DD31-037D-1C4798FF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2AF2F69-E7E5-C713-43D2-EDC87291E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8055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F0E797-9076-C6BF-AB87-C3906BC7C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6" y="2853267"/>
            <a:ext cx="9765055" cy="99864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C206D9-B7C7-D077-D7A5-F2E8592E2A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1584" y="6162273"/>
            <a:ext cx="15327630" cy="3041503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738D70A-F53A-117C-905C-D915D3FEAD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476" y="12839700"/>
            <a:ext cx="9765055" cy="237871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CCF0C5A-7C78-6D5F-075A-098B911D8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A5ED8E-98FD-6570-326B-079B5CB7F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E63E2F0-3472-BA92-2EE8-8F6533EE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3427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75071-C62B-8C02-4BBA-F550CF50B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F9F8E03-13F6-2834-10C6-30C6FAE50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90408D-2B0D-AC8F-A43A-CDBACDE47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D0AEFF-0E60-D1C3-500B-44CCE5D93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AF804C-B074-FF96-F424-F7DEA1CF7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0597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FAC9108-54FA-6FE3-A147-F7DEEA6173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6836" y="2278651"/>
            <a:ext cx="6528435" cy="3627017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42950C5-8B83-E585-CA78-EEC5F991E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531" y="2278651"/>
            <a:ext cx="19206845" cy="3627017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5938DE-2D89-1A97-E1CA-487BA984A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CF7864-F65F-4268-85CD-5E44A4F87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D6E01D-16CE-CFC6-DD57-D6DB69796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242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32B1E35-1CD3-DEB8-6765-865EA0A0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530" y="2278660"/>
            <a:ext cx="26113740" cy="8272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23B91-C5FF-DA89-DD24-C7A193B18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530" y="11393252"/>
            <a:ext cx="26113740" cy="27155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1F3C51-5ECA-677F-C797-96A575FD6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530" y="39668342"/>
            <a:ext cx="681228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8E5DDC-8DBC-495D-83D8-7932EBA21A7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6B8A2-35F5-FF93-15AC-54AA373475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9190" y="39668342"/>
            <a:ext cx="1021842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5A1667-2070-4521-8776-9E3BA04A7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2990" y="39668342"/>
            <a:ext cx="681228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F10874-7FDD-43DA-9458-5F95828943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4596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ster title">
            <a:extLst>
              <a:ext uri="{FF2B5EF4-FFF2-40B4-BE49-F238E27FC236}">
                <a16:creationId xmlns:a16="http://schemas.microsoft.com/office/drawing/2014/main" id="{D907E541-EF34-F777-2F78-D43B7DE421ED}"/>
              </a:ext>
            </a:extLst>
          </p:cNvPr>
          <p:cNvSpPr txBox="1"/>
          <p:nvPr/>
        </p:nvSpPr>
        <p:spPr>
          <a:xfrm>
            <a:off x="914400" y="812800"/>
            <a:ext cx="28448000" cy="139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0" b="1">
                <a:solidFill>
                  <a:srgbClr val="0B4F8A"/>
                </a:solidFill>
                <a:latin typeface="Calibri" panose="020F0502020204030204" pitchFamily="34" charset="0"/>
              </a:rPr>
              <a:t>Real-Time Over-the-Air Image Transmission with DeepJSCC-Q on FPGA</a:t>
            </a:r>
            <a:endParaRPr lang="zh-CN" altLang="en-US" sz="7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98AA84E-C807-05F6-FB5F-4AD2506BBB4E}"/>
              </a:ext>
            </a:extLst>
          </p:cNvPr>
          <p:cNvSpPr txBox="1"/>
          <p:nvPr/>
        </p:nvSpPr>
        <p:spPr>
          <a:xfrm>
            <a:off x="914400" y="2108200"/>
            <a:ext cx="28448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3000">
                <a:solidFill>
                  <a:srgbClr val="52606D"/>
                </a:solidFill>
                <a:latin typeface="Calibri" panose="020F0502020204030204" pitchFamily="34" charset="0"/>
              </a:rPr>
              <a:t>Separate source and channel coding (JPEG + FEC) fails abruptly once the SNR drops below its code threshold; DeepJSCC-Q maps pixels straight to 64-QAM symbols and degrades gracefully. The CNN codec, an 802.11a-like OFDM PHY and the RF front-end control all run on two Zynq UltraScale+ boards.</a:t>
            </a:r>
            <a:endParaRPr lang="zh-CN" altLang="en-US" sz="30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tat 0">
            <a:extLst>
              <a:ext uri="{FF2B5EF4-FFF2-40B4-BE49-F238E27FC236}">
                <a16:creationId xmlns:a16="http://schemas.microsoft.com/office/drawing/2014/main" id="{27771538-55D1-75AF-C390-0A6E44361034}"/>
              </a:ext>
            </a:extLst>
          </p:cNvPr>
          <p:cNvSpPr/>
          <p:nvPr/>
        </p:nvSpPr>
        <p:spPr>
          <a:xfrm>
            <a:off x="914400" y="3683000"/>
            <a:ext cx="5323840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stat value 0">
            <a:extLst>
              <a:ext uri="{FF2B5EF4-FFF2-40B4-BE49-F238E27FC236}">
                <a16:creationId xmlns:a16="http://schemas.microsoft.com/office/drawing/2014/main" id="{A363A2A9-4BED-64C2-1465-0A820B622D92}"/>
              </a:ext>
            </a:extLst>
          </p:cNvPr>
          <p:cNvSpPr txBox="1"/>
          <p:nvPr/>
        </p:nvSpPr>
        <p:spPr>
          <a:xfrm>
            <a:off x="129540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30 fps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stat label 0">
            <a:extLst>
              <a:ext uri="{FF2B5EF4-FFF2-40B4-BE49-F238E27FC236}">
                <a16:creationId xmlns:a16="http://schemas.microsoft.com/office/drawing/2014/main" id="{4A2B69FD-3621-6623-CF9B-C2A066A6E1C3}"/>
              </a:ext>
            </a:extLst>
          </p:cNvPr>
          <p:cNvSpPr txBox="1"/>
          <p:nvPr/>
        </p:nvSpPr>
        <p:spPr>
          <a:xfrm>
            <a:off x="129540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256×256 RGB images over a 915 MHz air link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7" name="stat 1">
            <a:extLst>
              <a:ext uri="{FF2B5EF4-FFF2-40B4-BE49-F238E27FC236}">
                <a16:creationId xmlns:a16="http://schemas.microsoft.com/office/drawing/2014/main" id="{81912138-8AD2-9F88-9DC3-FAB53BCA9D25}"/>
              </a:ext>
            </a:extLst>
          </p:cNvPr>
          <p:cNvSpPr/>
          <p:nvPr/>
        </p:nvSpPr>
        <p:spPr>
          <a:xfrm>
            <a:off x="6695440" y="3683000"/>
            <a:ext cx="5323840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tat value 1">
            <a:extLst>
              <a:ext uri="{FF2B5EF4-FFF2-40B4-BE49-F238E27FC236}">
                <a16:creationId xmlns:a16="http://schemas.microsoft.com/office/drawing/2014/main" id="{7006E723-2FC2-5D12-0A79-8A37EB2EA2C4}"/>
              </a:ext>
            </a:extLst>
          </p:cNvPr>
          <p:cNvSpPr txBox="1"/>
          <p:nvPr/>
        </p:nvSpPr>
        <p:spPr>
          <a:xfrm>
            <a:off x="707644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71.5 ms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stat label 1">
            <a:extLst>
              <a:ext uri="{FF2B5EF4-FFF2-40B4-BE49-F238E27FC236}">
                <a16:creationId xmlns:a16="http://schemas.microsoft.com/office/drawing/2014/main" id="{ADAF3ECF-49CC-3638-D39F-7E3363622112}"/>
              </a:ext>
            </a:extLst>
          </p:cNvPr>
          <p:cNvSpPr txBox="1"/>
          <p:nvPr/>
        </p:nvSpPr>
        <p:spPr>
          <a:xfrm>
            <a:off x="707644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PL latency: encode 38.2 + air 2.9 + decode 30.4 ms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tat 2">
            <a:extLst>
              <a:ext uri="{FF2B5EF4-FFF2-40B4-BE49-F238E27FC236}">
                <a16:creationId xmlns:a16="http://schemas.microsoft.com/office/drawing/2014/main" id="{CD0E532C-7D9C-3310-229A-195E092ED09E}"/>
              </a:ext>
            </a:extLst>
          </p:cNvPr>
          <p:cNvSpPr/>
          <p:nvPr/>
        </p:nvSpPr>
        <p:spPr>
          <a:xfrm>
            <a:off x="12476480" y="3683000"/>
            <a:ext cx="5323841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stat value 2">
            <a:extLst>
              <a:ext uri="{FF2B5EF4-FFF2-40B4-BE49-F238E27FC236}">
                <a16:creationId xmlns:a16="http://schemas.microsoft.com/office/drawing/2014/main" id="{0551E793-5B4E-913D-B64F-9019B977CB41}"/>
              </a:ext>
            </a:extLst>
          </p:cNvPr>
          <p:cNvSpPr txBox="1"/>
          <p:nvPr/>
        </p:nvSpPr>
        <p:spPr>
          <a:xfrm>
            <a:off x="1285748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+3.8 dB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stat label 2">
            <a:extLst>
              <a:ext uri="{FF2B5EF4-FFF2-40B4-BE49-F238E27FC236}">
                <a16:creationId xmlns:a16="http://schemas.microsoft.com/office/drawing/2014/main" id="{DE7B3DB0-C377-A60A-E67B-C3558E0C5287}"/>
              </a:ext>
            </a:extLst>
          </p:cNvPr>
          <p:cNvSpPr txBox="1"/>
          <p:nvPr/>
        </p:nvSpPr>
        <p:spPr>
          <a:xfrm>
            <a:off x="1285748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PSNR over JPEG + convolutional code, with no cliff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stat 3">
            <a:extLst>
              <a:ext uri="{FF2B5EF4-FFF2-40B4-BE49-F238E27FC236}">
                <a16:creationId xmlns:a16="http://schemas.microsoft.com/office/drawing/2014/main" id="{180F8A2F-1348-FC90-9AD8-1A93F7614F3E}"/>
              </a:ext>
            </a:extLst>
          </p:cNvPr>
          <p:cNvSpPr/>
          <p:nvPr/>
        </p:nvSpPr>
        <p:spPr>
          <a:xfrm>
            <a:off x="18257520" y="3683000"/>
            <a:ext cx="5323841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stat value 3">
            <a:extLst>
              <a:ext uri="{FF2B5EF4-FFF2-40B4-BE49-F238E27FC236}">
                <a16:creationId xmlns:a16="http://schemas.microsoft.com/office/drawing/2014/main" id="{9F4908E6-E41D-1AA8-A20D-3439B6954E66}"/>
              </a:ext>
            </a:extLst>
          </p:cNvPr>
          <p:cNvSpPr txBox="1"/>
          <p:nvPr/>
        </p:nvSpPr>
        <p:spPr>
          <a:xfrm>
            <a:off x="1863852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2.33 GMAC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stat label 3">
            <a:extLst>
              <a:ext uri="{FF2B5EF4-FFF2-40B4-BE49-F238E27FC236}">
                <a16:creationId xmlns:a16="http://schemas.microsoft.com/office/drawing/2014/main" id="{674804A4-7C5D-1E37-6AF8-FE5C6E635C57}"/>
              </a:ext>
            </a:extLst>
          </p:cNvPr>
          <p:cNvSpPr txBox="1"/>
          <p:nvPr/>
        </p:nvSpPr>
        <p:spPr>
          <a:xfrm>
            <a:off x="1863852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per frame, 114 convolutions, W8A12 fixed point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stat 4">
            <a:extLst>
              <a:ext uri="{FF2B5EF4-FFF2-40B4-BE49-F238E27FC236}">
                <a16:creationId xmlns:a16="http://schemas.microsoft.com/office/drawing/2014/main" id="{7E97397A-D367-1FA6-0D00-1C5AC31F0941}"/>
              </a:ext>
            </a:extLst>
          </p:cNvPr>
          <p:cNvSpPr/>
          <p:nvPr/>
        </p:nvSpPr>
        <p:spPr>
          <a:xfrm>
            <a:off x="24038561" y="3683000"/>
            <a:ext cx="5323839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stat value 4">
            <a:extLst>
              <a:ext uri="{FF2B5EF4-FFF2-40B4-BE49-F238E27FC236}">
                <a16:creationId xmlns:a16="http://schemas.microsoft.com/office/drawing/2014/main" id="{8E3B7FAE-8796-02D6-0BC0-6D21A736D7FB}"/>
              </a:ext>
            </a:extLst>
          </p:cNvPr>
          <p:cNvSpPr txBox="1"/>
          <p:nvPr/>
        </p:nvSpPr>
        <p:spPr>
          <a:xfrm>
            <a:off x="24419561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4.5 / 4.9 W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stat label 4">
            <a:extLst>
              <a:ext uri="{FF2B5EF4-FFF2-40B4-BE49-F238E27FC236}">
                <a16:creationId xmlns:a16="http://schemas.microsoft.com/office/drawing/2014/main" id="{29E01A97-9952-A90F-5E0A-84ADACADC824}"/>
              </a:ext>
            </a:extLst>
          </p:cNvPr>
          <p:cNvSpPr txBox="1"/>
          <p:nvPr/>
        </p:nvSpPr>
        <p:spPr>
          <a:xfrm>
            <a:off x="24419561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TX / RX on-chip power (Vivado estimate)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card 1">
            <a:extLst>
              <a:ext uri="{FF2B5EF4-FFF2-40B4-BE49-F238E27FC236}">
                <a16:creationId xmlns:a16="http://schemas.microsoft.com/office/drawing/2014/main" id="{4AC753BA-EE6B-A0A5-628F-D7B597B1BCDE}"/>
              </a:ext>
            </a:extLst>
          </p:cNvPr>
          <p:cNvSpPr/>
          <p:nvPr/>
        </p:nvSpPr>
        <p:spPr>
          <a:xfrm>
            <a:off x="914400" y="7239000"/>
            <a:ext cx="9067800" cy="7112000"/>
          </a:xfrm>
          <a:prstGeom prst="roundRect">
            <a:avLst>
              <a:gd name="adj" fmla="val 3214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badge 1">
            <a:extLst>
              <a:ext uri="{FF2B5EF4-FFF2-40B4-BE49-F238E27FC236}">
                <a16:creationId xmlns:a16="http://schemas.microsoft.com/office/drawing/2014/main" id="{58FE3D1B-E0FB-977D-DBB1-A630B16A147D}"/>
              </a:ext>
            </a:extLst>
          </p:cNvPr>
          <p:cNvSpPr/>
          <p:nvPr/>
        </p:nvSpPr>
        <p:spPr>
          <a:xfrm>
            <a:off x="12700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1980FD73-0392-8696-07ED-278CB443C9CA}"/>
              </a:ext>
            </a:extLst>
          </p:cNvPr>
          <p:cNvSpPr txBox="1"/>
          <p:nvPr/>
        </p:nvSpPr>
        <p:spPr>
          <a:xfrm>
            <a:off x="22352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Hardware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DA61493D-89FB-1E79-1FDD-A34D0C81CA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8559800"/>
            <a:ext cx="8153400" cy="4806429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E9B97563-FB0C-ACF3-839E-365332215162}"/>
              </a:ext>
            </a:extLst>
          </p:cNvPr>
          <p:cNvSpPr txBox="1"/>
          <p:nvPr/>
        </p:nvSpPr>
        <p:spPr>
          <a:xfrm>
            <a:off x="1371600" y="13518629"/>
            <a:ext cx="8153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>
                <a:solidFill>
                  <a:srgbClr val="52606D"/>
                </a:solidFill>
                <a:latin typeface="Calibri" panose="020F0502020204030204" pitchFamily="34" charset="0"/>
              </a:rPr>
              <a:t>Left: RX (PYNQ-ZU + AD9361 + touch screen). Right: TX (PYNQ-ZU + AD9361 + USB camera). 915 MHz antennas in front.</a:t>
            </a:r>
            <a:endParaRPr lang="zh-CN" altLang="en-US" sz="21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card 2">
            <a:extLst>
              <a:ext uri="{FF2B5EF4-FFF2-40B4-BE49-F238E27FC236}">
                <a16:creationId xmlns:a16="http://schemas.microsoft.com/office/drawing/2014/main" id="{DFF6720A-2616-F078-81F9-ED51C91C2A5A}"/>
              </a:ext>
            </a:extLst>
          </p:cNvPr>
          <p:cNvSpPr/>
          <p:nvPr/>
        </p:nvSpPr>
        <p:spPr>
          <a:xfrm>
            <a:off x="914400" y="14732000"/>
            <a:ext cx="9067800" cy="8509000"/>
          </a:xfrm>
          <a:prstGeom prst="roundRect">
            <a:avLst>
              <a:gd name="adj" fmla="val 2687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badge 2">
            <a:extLst>
              <a:ext uri="{FF2B5EF4-FFF2-40B4-BE49-F238E27FC236}">
                <a16:creationId xmlns:a16="http://schemas.microsoft.com/office/drawing/2014/main" id="{A238221B-4497-1DE7-97A1-C417CCF17A63}"/>
              </a:ext>
            </a:extLst>
          </p:cNvPr>
          <p:cNvSpPr/>
          <p:nvPr/>
        </p:nvSpPr>
        <p:spPr>
          <a:xfrm>
            <a:off x="1270000" y="15062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itle 2">
            <a:extLst>
              <a:ext uri="{FF2B5EF4-FFF2-40B4-BE49-F238E27FC236}">
                <a16:creationId xmlns:a16="http://schemas.microsoft.com/office/drawing/2014/main" id="{6DC44B0E-3293-AE9C-05E2-3982479DA8F8}"/>
              </a:ext>
            </a:extLst>
          </p:cNvPr>
          <p:cNvSpPr txBox="1"/>
          <p:nvPr/>
        </p:nvSpPr>
        <p:spPr>
          <a:xfrm>
            <a:off x="2235200" y="15062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System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AF1CD94-BBC1-2BBB-AA61-2D5EE9870D54}"/>
              </a:ext>
            </a:extLst>
          </p:cNvPr>
          <p:cNvSpPr txBox="1"/>
          <p:nvPr/>
        </p:nvSpPr>
        <p:spPr>
          <a:xfrm>
            <a:off x="1371600" y="159512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52606D"/>
                </a:solidFill>
                <a:latin typeface="Calibri" panose="020F0502020204030204" pitchFamily="34" charset="0"/>
              </a:rPr>
              <a:t>TX board</a:t>
            </a:r>
            <a:endParaRPr lang="zh-CN" altLang="en-US" sz="22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6F71F4-B4A3-E763-5860-DBD9274F3CC1}"/>
              </a:ext>
            </a:extLst>
          </p:cNvPr>
          <p:cNvSpPr txBox="1"/>
          <p:nvPr/>
        </p:nvSpPr>
        <p:spPr>
          <a:xfrm>
            <a:off x="5715000" y="159512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52606D"/>
                </a:solidFill>
                <a:latin typeface="Calibri" panose="020F0502020204030204" pitchFamily="34" charset="0"/>
              </a:rPr>
              <a:t>RX board</a:t>
            </a:r>
            <a:endParaRPr lang="zh-CN" altLang="en-US" sz="22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CD07E43-DED7-943D-8B61-02B241247F3B}"/>
              </a:ext>
            </a:extLst>
          </p:cNvPr>
          <p:cNvSpPr/>
          <p:nvPr/>
        </p:nvSpPr>
        <p:spPr>
          <a:xfrm>
            <a:off x="1371600" y="164338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Camera / video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PS: crop to 256×256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AFD651D-9500-80A7-DB79-C96A792620A6}"/>
              </a:ext>
            </a:extLst>
          </p:cNvPr>
          <p:cNvSpPr/>
          <p:nvPr/>
        </p:nvSpPr>
        <p:spPr>
          <a:xfrm>
            <a:off x="5715000" y="164338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Touch-screen GUI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PS: display, control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503335A7-0A12-857D-C5EC-001A95BD8E9F}"/>
              </a:ext>
            </a:extLst>
          </p:cNvPr>
          <p:cNvCxnSpPr/>
          <p:nvPr/>
        </p:nvCxnSpPr>
        <p:spPr>
          <a:xfrm>
            <a:off x="3276600" y="175006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782A184-8D0C-4730-FBCF-5FF9084E929D}"/>
              </a:ext>
            </a:extLst>
          </p:cNvPr>
          <p:cNvCxnSpPr/>
          <p:nvPr/>
        </p:nvCxnSpPr>
        <p:spPr>
          <a:xfrm flipV="1">
            <a:off x="7620000" y="175006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24123639-7A64-292E-0CA1-265122675892}"/>
              </a:ext>
            </a:extLst>
          </p:cNvPr>
          <p:cNvSpPr/>
          <p:nvPr/>
        </p:nvSpPr>
        <p:spPr>
          <a:xfrm>
            <a:off x="1371600" y="178562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DeepJSCC-Q encoder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PL, W8A12, 250 MHz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CD8C88D-569E-B812-2C7A-765C6C7914F3}"/>
              </a:ext>
            </a:extLst>
          </p:cNvPr>
          <p:cNvSpPr/>
          <p:nvPr/>
        </p:nvSpPr>
        <p:spPr>
          <a:xfrm>
            <a:off x="5715000" y="178562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DeepJSCC-Q decoder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soft I/Q in, no hard decision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7DB9C56-7B47-E019-A155-50445374AF7B}"/>
              </a:ext>
            </a:extLst>
          </p:cNvPr>
          <p:cNvCxnSpPr/>
          <p:nvPr/>
        </p:nvCxnSpPr>
        <p:spPr>
          <a:xfrm>
            <a:off x="3276600" y="189230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80CD0EB-78A7-9933-5729-CA6312527137}"/>
              </a:ext>
            </a:extLst>
          </p:cNvPr>
          <p:cNvCxnSpPr/>
          <p:nvPr/>
        </p:nvCxnSpPr>
        <p:spPr>
          <a:xfrm flipV="1">
            <a:off x="7620000" y="189230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983CBB7C-234C-E289-A274-C95271020C29}"/>
              </a:ext>
            </a:extLst>
          </p:cNvPr>
          <p:cNvSpPr/>
          <p:nvPr/>
        </p:nvSpPr>
        <p:spPr>
          <a:xfrm>
            <a:off x="1371600" y="192786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nb-NO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OFDM transmitter</a:t>
            </a:r>
          </a:p>
          <a:p>
            <a:pPr algn="ctr"/>
            <a:r>
              <a:rPr lang="nb-NO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PN flip, IFFT, frame buffer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03683E9-9901-29BB-53E1-F403A9BAE621}"/>
              </a:ext>
            </a:extLst>
          </p:cNvPr>
          <p:cNvSpPr/>
          <p:nvPr/>
        </p:nvSpPr>
        <p:spPr>
          <a:xfrm>
            <a:off x="5715000" y="192786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OFDM receiver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sync, 2×LTF CE, SFO / CPE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94C4DD22-11D8-2B3E-07E5-7A2FBF55CA98}"/>
              </a:ext>
            </a:extLst>
          </p:cNvPr>
          <p:cNvCxnSpPr/>
          <p:nvPr/>
        </p:nvCxnSpPr>
        <p:spPr>
          <a:xfrm>
            <a:off x="3276600" y="203454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2AD18C80-ECA5-0144-FBA6-D676765A2F1E}"/>
              </a:ext>
            </a:extLst>
          </p:cNvPr>
          <p:cNvCxnSpPr/>
          <p:nvPr/>
        </p:nvCxnSpPr>
        <p:spPr>
          <a:xfrm flipV="1">
            <a:off x="7620000" y="203454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63888C46-73E3-FAC3-DBFB-167428B60BF7}"/>
              </a:ext>
            </a:extLst>
          </p:cNvPr>
          <p:cNvSpPr/>
          <p:nvPr/>
        </p:nvSpPr>
        <p:spPr>
          <a:xfrm>
            <a:off x="1371600" y="207010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AD9361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915 MHz, 20 MSPS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1F3DFE3-D243-3F6F-A12C-A9E26B2C88D6}"/>
              </a:ext>
            </a:extLst>
          </p:cNvPr>
          <p:cNvSpPr/>
          <p:nvPr/>
        </p:nvSpPr>
        <p:spPr>
          <a:xfrm>
            <a:off x="5715000" y="207010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AD9361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fast AGC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650E8FAD-9DB6-26A3-84A8-6F0704DCA2E7}"/>
              </a:ext>
            </a:extLst>
          </p:cNvPr>
          <p:cNvCxnSpPr/>
          <p:nvPr/>
        </p:nvCxnSpPr>
        <p:spPr>
          <a:xfrm>
            <a:off x="5181600" y="21234400"/>
            <a:ext cx="533400" cy="0"/>
          </a:xfrm>
          <a:prstGeom prst="straightConnector1">
            <a:avLst/>
          </a:prstGeom>
          <a:ln w="50800">
            <a:solidFill>
              <a:srgbClr val="D953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50E341C4-DAAC-5DAB-4BAD-F2351869A2C5}"/>
              </a:ext>
            </a:extLst>
          </p:cNvPr>
          <p:cNvSpPr txBox="1"/>
          <p:nvPr/>
        </p:nvSpPr>
        <p:spPr>
          <a:xfrm>
            <a:off x="5181600" y="20726400"/>
            <a:ext cx="53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D9531E"/>
                </a:solidFill>
                <a:latin typeface="Calibri" panose="020F0502020204030204" pitchFamily="34" charset="0"/>
              </a:rPr>
              <a:t>air</a:t>
            </a:r>
            <a:endParaRPr lang="zh-CN" altLang="en-US" sz="2200" b="1">
              <a:solidFill>
                <a:srgbClr val="D9531E"/>
              </a:solidFill>
              <a:latin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3AB406F-583E-558B-E0C2-AE5A30463CB8}"/>
              </a:ext>
            </a:extLst>
          </p:cNvPr>
          <p:cNvSpPr txBox="1"/>
          <p:nvPr/>
        </p:nvSpPr>
        <p:spPr>
          <a:xfrm>
            <a:off x="1371600" y="22047200"/>
            <a:ext cx="8153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>
                <a:solidFill>
                  <a:srgbClr val="52606D"/>
                </a:solidFill>
                <a:latin typeface="Calibri" panose="020F0502020204030204" pitchFamily="34" charset="0"/>
              </a:rPr>
              <a:t>One frame = one image = 32,768 64-QAM symbols = 683 OFDM symbols (2.75 ms on air). The coded image crosses the air link only; Ethernet carries control and the TX preview used for PSNR.</a:t>
            </a:r>
            <a:endParaRPr lang="zh-CN" altLang="en-US" sz="21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7" name="card 3">
            <a:extLst>
              <a:ext uri="{FF2B5EF4-FFF2-40B4-BE49-F238E27FC236}">
                <a16:creationId xmlns:a16="http://schemas.microsoft.com/office/drawing/2014/main" id="{9948B86B-465E-B6A2-D22C-703C6F9F63E3}"/>
              </a:ext>
            </a:extLst>
          </p:cNvPr>
          <p:cNvSpPr/>
          <p:nvPr/>
        </p:nvSpPr>
        <p:spPr>
          <a:xfrm>
            <a:off x="914400" y="23368000"/>
            <a:ext cx="9067800" cy="6921500"/>
          </a:xfrm>
          <a:prstGeom prst="roundRect">
            <a:avLst>
              <a:gd name="adj" fmla="val 3303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badge 3">
            <a:extLst>
              <a:ext uri="{FF2B5EF4-FFF2-40B4-BE49-F238E27FC236}">
                <a16:creationId xmlns:a16="http://schemas.microsoft.com/office/drawing/2014/main" id="{AE1521F0-C578-8E87-B0D1-4F6A756BDF57}"/>
              </a:ext>
            </a:extLst>
          </p:cNvPr>
          <p:cNvSpPr/>
          <p:nvPr/>
        </p:nvSpPr>
        <p:spPr>
          <a:xfrm>
            <a:off x="1270000" y="23698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9" name="title 3">
            <a:extLst>
              <a:ext uri="{FF2B5EF4-FFF2-40B4-BE49-F238E27FC236}">
                <a16:creationId xmlns:a16="http://schemas.microsoft.com/office/drawing/2014/main" id="{2ABB9E2E-6AC6-9437-B950-D0B567C332C0}"/>
              </a:ext>
            </a:extLst>
          </p:cNvPr>
          <p:cNvSpPr txBox="1"/>
          <p:nvPr/>
        </p:nvSpPr>
        <p:spPr>
          <a:xfrm>
            <a:off x="2235200" y="23698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DeepJSCC-Q network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757D6735-9858-B8A7-A7A1-E14989242E51}"/>
              </a:ext>
            </a:extLst>
          </p:cNvPr>
          <p:cNvSpPr txBox="1"/>
          <p:nvPr/>
        </p:nvSpPr>
        <p:spPr>
          <a:xfrm>
            <a:off x="1371600" y="246380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altLang="zh-CN" sz="2100" b="1">
                <a:solidFill>
                  <a:srgbClr val="52606D"/>
                </a:solidFill>
                <a:latin typeface="Calibri" panose="020F0502020204030204" pitchFamily="34" charset="0"/>
              </a:rPr>
              <a:t>Encoder: 256x256x3 image -&gt; 64x64x16 latent (55 conv)</a:t>
            </a:r>
            <a:endParaRPr lang="zh-CN" altLang="en-US" sz="21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03CFAAA-1F96-772C-A7F1-4A162B52178E}"/>
              </a:ext>
            </a:extLst>
          </p:cNvPr>
          <p:cNvSpPr/>
          <p:nvPr/>
        </p:nvSpPr>
        <p:spPr>
          <a:xfrm>
            <a:off x="1371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7A744AC-BB59-3D7E-9933-B549E45C4249}"/>
              </a:ext>
            </a:extLst>
          </p:cNvPr>
          <p:cNvSpPr/>
          <p:nvPr/>
        </p:nvSpPr>
        <p:spPr>
          <a:xfrm>
            <a:off x="2302933" y="25069800"/>
            <a:ext cx="702734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F39E7CD-42D0-4AFA-1A5B-CF399B88CB09}"/>
              </a:ext>
            </a:extLst>
          </p:cNvPr>
          <p:cNvCxnSpPr>
            <a:cxnSpLocks/>
            <a:stCxn id="51" idx="3"/>
            <a:endCxn id="52" idx="1"/>
          </p:cNvCxnSpPr>
          <p:nvPr/>
        </p:nvCxnSpPr>
        <p:spPr>
          <a:xfrm>
            <a:off x="2074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DEB90D95-8F1C-9B38-6CD9-2A91DC55FF0D}"/>
              </a:ext>
            </a:extLst>
          </p:cNvPr>
          <p:cNvSpPr/>
          <p:nvPr/>
        </p:nvSpPr>
        <p:spPr>
          <a:xfrm>
            <a:off x="3234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140D45A-7D5B-352D-66C9-A59601521CA9}"/>
              </a:ext>
            </a:extLst>
          </p:cNvPr>
          <p:cNvCxnSpPr>
            <a:cxnSpLocks/>
            <a:stCxn id="52" idx="3"/>
            <a:endCxn id="54" idx="1"/>
          </p:cNvCxnSpPr>
          <p:nvPr/>
        </p:nvCxnSpPr>
        <p:spPr>
          <a:xfrm>
            <a:off x="3005667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67A53A47-9DDC-BBA3-201F-63C4607CA43C}"/>
              </a:ext>
            </a:extLst>
          </p:cNvPr>
          <p:cNvSpPr/>
          <p:nvPr/>
        </p:nvSpPr>
        <p:spPr>
          <a:xfrm>
            <a:off x="4165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54CDA925-203E-CAAD-2A98-F14105934C94}"/>
              </a:ext>
            </a:extLst>
          </p:cNvPr>
          <p:cNvCxnSpPr>
            <a:cxnSpLocks/>
            <a:stCxn id="54" idx="3"/>
            <a:endCxn id="56" idx="1"/>
          </p:cNvCxnSpPr>
          <p:nvPr/>
        </p:nvCxnSpPr>
        <p:spPr>
          <a:xfrm>
            <a:off x="3937000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A7ADC38-D7F9-0C0D-3750-D91EB4C6FAD1}"/>
              </a:ext>
            </a:extLst>
          </p:cNvPr>
          <p:cNvSpPr/>
          <p:nvPr/>
        </p:nvSpPr>
        <p:spPr>
          <a:xfrm>
            <a:off x="5096933" y="25069800"/>
            <a:ext cx="702734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683CD1FA-D29A-24A6-341F-2A40E9E68491}"/>
              </a:ext>
            </a:extLst>
          </p:cNvPr>
          <p:cNvCxnSpPr>
            <a:cxnSpLocks/>
            <a:stCxn id="56" idx="3"/>
            <a:endCxn id="58" idx="1"/>
          </p:cNvCxnSpPr>
          <p:nvPr/>
        </p:nvCxnSpPr>
        <p:spPr>
          <a:xfrm>
            <a:off x="4868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18DC254-8DD8-02BC-ED60-B0C9E76C8A4A}"/>
              </a:ext>
            </a:extLst>
          </p:cNvPr>
          <p:cNvSpPr/>
          <p:nvPr/>
        </p:nvSpPr>
        <p:spPr>
          <a:xfrm>
            <a:off x="6028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6D41A184-239E-E211-42AB-79295E4AC5C4}"/>
              </a:ext>
            </a:extLst>
          </p:cNvPr>
          <p:cNvCxnSpPr>
            <a:cxnSpLocks/>
            <a:stCxn id="58" idx="3"/>
            <a:endCxn id="60" idx="1"/>
          </p:cNvCxnSpPr>
          <p:nvPr/>
        </p:nvCxnSpPr>
        <p:spPr>
          <a:xfrm>
            <a:off x="5799667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1C76FA0A-D4D8-5F03-7C4B-EAEA71E70F01}"/>
              </a:ext>
            </a:extLst>
          </p:cNvPr>
          <p:cNvSpPr/>
          <p:nvPr/>
        </p:nvSpPr>
        <p:spPr>
          <a:xfrm>
            <a:off x="6959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9E4BB2C-9B1C-23F7-FD0F-B7E2FB8F3B59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>
            <a:off x="6731000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24EAE674-1482-E553-7EC9-23FF5D3A6735}"/>
              </a:ext>
            </a:extLst>
          </p:cNvPr>
          <p:cNvSpPr/>
          <p:nvPr/>
        </p:nvSpPr>
        <p:spPr>
          <a:xfrm>
            <a:off x="7890933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B8A997A0-313C-110B-3590-8412A9D30024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>
            <a:off x="7662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EC738D8B-47D9-0FB8-C61D-0720041951EC}"/>
              </a:ext>
            </a:extLst>
          </p:cNvPr>
          <p:cNvSpPr/>
          <p:nvPr/>
        </p:nvSpPr>
        <p:spPr>
          <a:xfrm>
            <a:off x="8822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39FB3B9E-75F6-EDB3-4FF4-16D866FE64F9}"/>
              </a:ext>
            </a:extLst>
          </p:cNvPr>
          <p:cNvCxnSpPr>
            <a:cxnSpLocks/>
            <a:stCxn id="64" idx="3"/>
            <a:endCxn id="66" idx="1"/>
          </p:cNvCxnSpPr>
          <p:nvPr/>
        </p:nvCxnSpPr>
        <p:spPr>
          <a:xfrm>
            <a:off x="8593666" y="25400000"/>
            <a:ext cx="228601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BC1716A-578F-0EA6-8998-4F003CC5E416}"/>
              </a:ext>
            </a:extLst>
          </p:cNvPr>
          <p:cNvSpPr/>
          <p:nvPr/>
        </p:nvSpPr>
        <p:spPr>
          <a:xfrm>
            <a:off x="13716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5A3B205A-0711-986C-05B6-CA6AAFA42331}"/>
              </a:ext>
            </a:extLst>
          </p:cNvPr>
          <p:cNvSpPr/>
          <p:nvPr/>
        </p:nvSpPr>
        <p:spPr>
          <a:xfrm>
            <a:off x="22098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E3D54DAC-A3F1-AE1C-2A3E-038E51BD2165}"/>
              </a:ext>
            </a:extLst>
          </p:cNvPr>
          <p:cNvCxnSpPr>
            <a:cxnSpLocks/>
            <a:stCxn id="68" idx="3"/>
            <a:endCxn id="69" idx="1"/>
          </p:cNvCxnSpPr>
          <p:nvPr/>
        </p:nvCxnSpPr>
        <p:spPr>
          <a:xfrm>
            <a:off x="19812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0C27030E-A015-1653-34D5-893E4E3757B0}"/>
              </a:ext>
            </a:extLst>
          </p:cNvPr>
          <p:cNvSpPr/>
          <p:nvPr/>
        </p:nvSpPr>
        <p:spPr>
          <a:xfrm>
            <a:off x="30480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3ACF0569-103A-42A3-164E-921876304F76}"/>
              </a:ext>
            </a:extLst>
          </p:cNvPr>
          <p:cNvCxnSpPr>
            <a:cxnSpLocks/>
            <a:stCxn id="69" idx="3"/>
            <a:endCxn id="71" idx="1"/>
          </p:cNvCxnSpPr>
          <p:nvPr/>
        </p:nvCxnSpPr>
        <p:spPr>
          <a:xfrm>
            <a:off x="28194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6047F4E2-E821-A93A-C318-4256622C846C}"/>
              </a:ext>
            </a:extLst>
          </p:cNvPr>
          <p:cNvSpPr/>
          <p:nvPr/>
        </p:nvSpPr>
        <p:spPr>
          <a:xfrm>
            <a:off x="38862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A2C90E8D-33B9-4D40-B97A-E2F62285D9B5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36576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EBD9B2F9-1C1D-E113-FB9E-937E9B90AD45}"/>
              </a:ext>
            </a:extLst>
          </p:cNvPr>
          <p:cNvSpPr/>
          <p:nvPr/>
        </p:nvSpPr>
        <p:spPr>
          <a:xfrm>
            <a:off x="47244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F382524F-4D55-E6F9-074E-19C543DC34F8}"/>
              </a:ext>
            </a:extLst>
          </p:cNvPr>
          <p:cNvCxnSpPr>
            <a:cxnSpLocks/>
            <a:stCxn id="73" idx="3"/>
            <a:endCxn id="75" idx="1"/>
          </p:cNvCxnSpPr>
          <p:nvPr/>
        </p:nvCxnSpPr>
        <p:spPr>
          <a:xfrm>
            <a:off x="44958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CD8D7BF3-6B95-6CC0-7843-D6A60098EAA8}"/>
              </a:ext>
            </a:extLst>
          </p:cNvPr>
          <p:cNvSpPr/>
          <p:nvPr/>
        </p:nvSpPr>
        <p:spPr>
          <a:xfrm>
            <a:off x="55626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E5B1AB76-8010-00EB-C7F7-0FEC14FCE991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53340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AE708656-155F-D214-A6B1-393D2AB1117F}"/>
              </a:ext>
            </a:extLst>
          </p:cNvPr>
          <p:cNvSpPr/>
          <p:nvPr/>
        </p:nvSpPr>
        <p:spPr>
          <a:xfrm>
            <a:off x="64008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12F377F4-8179-FC0E-B919-6E5AB6D0EBB2}"/>
              </a:ext>
            </a:extLst>
          </p:cNvPr>
          <p:cNvCxnSpPr>
            <a:cxnSpLocks/>
            <a:stCxn id="77" idx="3"/>
            <a:endCxn id="79" idx="1"/>
          </p:cNvCxnSpPr>
          <p:nvPr/>
        </p:nvCxnSpPr>
        <p:spPr>
          <a:xfrm>
            <a:off x="61722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6ECCAF79-C919-ED2C-9E20-2E58410C94E1}"/>
              </a:ext>
            </a:extLst>
          </p:cNvPr>
          <p:cNvSpPr/>
          <p:nvPr/>
        </p:nvSpPr>
        <p:spPr>
          <a:xfrm>
            <a:off x="72390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5EB85A99-0763-9235-EA4F-37308BA1F112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70104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C1D4207D-B7D4-019E-8AD2-5EB24B05164E}"/>
              </a:ext>
            </a:extLst>
          </p:cNvPr>
          <p:cNvSpPr/>
          <p:nvPr/>
        </p:nvSpPr>
        <p:spPr>
          <a:xfrm>
            <a:off x="80772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FF20E93-2B46-6489-E539-2635BB45B783}"/>
              </a:ext>
            </a:extLst>
          </p:cNvPr>
          <p:cNvCxnSpPr>
            <a:cxnSpLocks/>
            <a:stCxn id="81" idx="3"/>
            <a:endCxn id="83" idx="1"/>
          </p:cNvCxnSpPr>
          <p:nvPr/>
        </p:nvCxnSpPr>
        <p:spPr>
          <a:xfrm>
            <a:off x="78486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3D752CD0-2C7E-CB26-0ABD-89338D7BC9BB}"/>
              </a:ext>
            </a:extLst>
          </p:cNvPr>
          <p:cNvSpPr/>
          <p:nvPr/>
        </p:nvSpPr>
        <p:spPr>
          <a:xfrm>
            <a:off x="89154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4BC9506E-A971-9441-D142-68927D87298A}"/>
              </a:ext>
            </a:extLst>
          </p:cNvPr>
          <p:cNvCxnSpPr>
            <a:cxnSpLocks/>
            <a:stCxn id="83" idx="3"/>
            <a:endCxn id="85" idx="1"/>
          </p:cNvCxnSpPr>
          <p:nvPr/>
        </p:nvCxnSpPr>
        <p:spPr>
          <a:xfrm>
            <a:off x="86868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3E2BB58A-3ECD-D026-0AF6-3A546573C0E7}"/>
              </a:ext>
            </a:extLst>
          </p:cNvPr>
          <p:cNvCxnSpPr>
            <a:cxnSpLocks/>
            <a:stCxn id="66" idx="2"/>
            <a:endCxn id="68" idx="0"/>
          </p:cNvCxnSpPr>
          <p:nvPr/>
        </p:nvCxnSpPr>
        <p:spPr>
          <a:xfrm rot="5400000">
            <a:off x="4993217" y="22413383"/>
            <a:ext cx="863600" cy="7497234"/>
          </a:xfrm>
          <a:prstGeom prst="bentConnector3">
            <a:avLst>
              <a:gd name="adj1" fmla="val 50000"/>
            </a:avLst>
          </a:prstGeom>
          <a:ln w="38100">
            <a:solidFill>
              <a:srgbClr val="D953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20D58471-D5D0-542E-72D4-D9359565A75C}"/>
              </a:ext>
            </a:extLst>
          </p:cNvPr>
          <p:cNvSpPr/>
          <p:nvPr/>
        </p:nvSpPr>
        <p:spPr>
          <a:xfrm>
            <a:off x="2463800" y="25933400"/>
            <a:ext cx="5969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D9531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de-DE" altLang="zh-CN" sz="2000" b="1">
                <a:solidFill>
                  <a:srgbClr val="D9531E"/>
                </a:solidFill>
                <a:latin typeface="Calibri" panose="020F0502020204030204" pitchFamily="34" charset="0"/>
              </a:rPr>
              <a:t>32,768 64-QAM symbols (0.5 symbol / pixel)</a:t>
            </a:r>
            <a:endParaRPr lang="zh-CN" altLang="en-US" sz="2000" b="1">
              <a:solidFill>
                <a:srgbClr val="D9531E"/>
              </a:solidFill>
              <a:latin typeface="Calibri" panose="020F050202020403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73ECB067-C60A-BE39-C831-5EA080AA47AD}"/>
              </a:ext>
            </a:extLst>
          </p:cNvPr>
          <p:cNvSpPr txBox="1"/>
          <p:nvPr/>
        </p:nvSpPr>
        <p:spPr>
          <a:xfrm>
            <a:off x="1371600" y="273558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 b="1">
                <a:solidFill>
                  <a:srgbClr val="52606D"/>
                </a:solidFill>
                <a:latin typeface="Calibri" panose="020F0502020204030204" pitchFamily="34" charset="0"/>
              </a:rPr>
              <a:t>Decoder: soft I/Q -&gt; image (59 conv)</a:t>
            </a:r>
            <a:endParaRPr lang="zh-CN" altLang="en-US" sz="21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6266DEB2-7BD8-F8E9-6C59-0D45E7230B3A}"/>
              </a:ext>
            </a:extLst>
          </p:cNvPr>
          <p:cNvSpPr txBox="1"/>
          <p:nvPr/>
        </p:nvSpPr>
        <p:spPr>
          <a:xfrm>
            <a:off x="1371600" y="277622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RG/RB residual (+GDN), ATT attention, RU PixelShuffle (+IGDN)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7A87E92A-AD72-0936-904E-292BE086E77A}"/>
              </a:ext>
            </a:extLst>
          </p:cNvPr>
          <p:cNvSpPr txBox="1"/>
          <p:nvPr/>
        </p:nvSpPr>
        <p:spPr>
          <a:xfrm>
            <a:off x="1371600" y="28270200"/>
            <a:ext cx="8153400" cy="279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C = 32, 16 latent channels, 4× down-sampling: same 32,768 symbols as [2] with 1/51 of its MACs; trained at 10 dB AWGN with a constellation-entropy (KL) penalty.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W8A12 post-training quantization: 0.05 dB below float (DIV2K); RTL bit-exact against the integer model.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92" name="card 4">
            <a:extLst>
              <a:ext uri="{FF2B5EF4-FFF2-40B4-BE49-F238E27FC236}">
                <a16:creationId xmlns:a16="http://schemas.microsoft.com/office/drawing/2014/main" id="{B20AB575-DDA3-8A9A-B442-83202A8F87E5}"/>
              </a:ext>
            </a:extLst>
          </p:cNvPr>
          <p:cNvSpPr/>
          <p:nvPr/>
        </p:nvSpPr>
        <p:spPr>
          <a:xfrm>
            <a:off x="914400" y="30670500"/>
            <a:ext cx="9067800" cy="9207500"/>
          </a:xfrm>
          <a:prstGeom prst="roundRect">
            <a:avLst>
              <a:gd name="adj" fmla="val 2521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badge 4">
            <a:extLst>
              <a:ext uri="{FF2B5EF4-FFF2-40B4-BE49-F238E27FC236}">
                <a16:creationId xmlns:a16="http://schemas.microsoft.com/office/drawing/2014/main" id="{2681D068-6943-5B32-4ACF-15D37398FB3A}"/>
              </a:ext>
            </a:extLst>
          </p:cNvPr>
          <p:cNvSpPr/>
          <p:nvPr/>
        </p:nvSpPr>
        <p:spPr>
          <a:xfrm>
            <a:off x="1270000" y="310007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title 4">
            <a:extLst>
              <a:ext uri="{FF2B5EF4-FFF2-40B4-BE49-F238E27FC236}">
                <a16:creationId xmlns:a16="http://schemas.microsoft.com/office/drawing/2014/main" id="{F9991551-B5D0-36B2-EC8D-2B8FDA85F15F}"/>
              </a:ext>
            </a:extLst>
          </p:cNvPr>
          <p:cNvSpPr txBox="1"/>
          <p:nvPr/>
        </p:nvSpPr>
        <p:spPr>
          <a:xfrm>
            <a:off x="2235200" y="310007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OFDM PHY and RF front end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53763C73-A1AE-ADE3-9F2B-DE9508DB03C3}"/>
              </a:ext>
            </a:extLst>
          </p:cNvPr>
          <p:cNvSpPr txBox="1"/>
          <p:nvPr/>
        </p:nvSpPr>
        <p:spPr>
          <a:xfrm>
            <a:off x="1371600" y="31991300"/>
            <a:ext cx="81534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64-pt FFT, 48 data + 4 pilots; PN sign flip: 99 % PAPR 10.1-10.7 -&gt; 9.4-9.8 dB.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Second-order SFO / CPE loop, no steady-state error under a 40 ppm ramp: frame-end EVM within 1.7 dB of the start (683 symbols).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AD9361: SPI handshake fixed, TX quadrature-calibration phase search in PL, FIR redesigned: loopback EVM -22 -&gt; -32 dB.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Fast AGC locked at -14 dBFS with a PL-counter watchdog; PHY alone: 0 errors in 7.15×10^8 bits.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pic>
        <p:nvPicPr>
          <p:cNvPr id="97" name="图片 96">
            <a:extLst>
              <a:ext uri="{FF2B5EF4-FFF2-40B4-BE49-F238E27FC236}">
                <a16:creationId xmlns:a16="http://schemas.microsoft.com/office/drawing/2014/main" id="{08C1F404-9F33-DDA2-B64A-4C52939507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6800" y="36156901"/>
            <a:ext cx="6223000" cy="3378895"/>
          </a:xfrm>
          <a:prstGeom prst="rect">
            <a:avLst/>
          </a:prstGeom>
          <a:ln w="19050">
            <a:solidFill>
              <a:srgbClr val="B8C7D6"/>
            </a:solidFill>
          </a:ln>
        </p:spPr>
      </p:pic>
      <p:sp>
        <p:nvSpPr>
          <p:cNvPr id="98" name="文本框 97">
            <a:extLst>
              <a:ext uri="{FF2B5EF4-FFF2-40B4-BE49-F238E27FC236}">
                <a16:creationId xmlns:a16="http://schemas.microsoft.com/office/drawing/2014/main" id="{EC787625-29C1-7B86-2D9D-AF997C9F7682}"/>
              </a:ext>
            </a:extLst>
          </p:cNvPr>
          <p:cNvSpPr txBox="1"/>
          <p:nvPr/>
        </p:nvSpPr>
        <p:spPr>
          <a:xfrm>
            <a:off x="1371600" y="39611995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Live RX GUI: constellations, |H| vs time (Mali-400 GPU), per-subcarrier SNR, spectrum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9" name="card 5">
            <a:extLst>
              <a:ext uri="{FF2B5EF4-FFF2-40B4-BE49-F238E27FC236}">
                <a16:creationId xmlns:a16="http://schemas.microsoft.com/office/drawing/2014/main" id="{7276B9E9-D420-E4D5-F2EB-5977F476B5B2}"/>
              </a:ext>
            </a:extLst>
          </p:cNvPr>
          <p:cNvSpPr/>
          <p:nvPr/>
        </p:nvSpPr>
        <p:spPr>
          <a:xfrm>
            <a:off x="10591800" y="7239000"/>
            <a:ext cx="9067800" cy="13462000"/>
          </a:xfrm>
          <a:prstGeom prst="roundRect">
            <a:avLst>
              <a:gd name="adj" fmla="val 2521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badge 5">
            <a:extLst>
              <a:ext uri="{FF2B5EF4-FFF2-40B4-BE49-F238E27FC236}">
                <a16:creationId xmlns:a16="http://schemas.microsoft.com/office/drawing/2014/main" id="{7731B3D4-E91B-1BC1-2607-D666E16DFEDA}"/>
              </a:ext>
            </a:extLst>
          </p:cNvPr>
          <p:cNvSpPr/>
          <p:nvPr/>
        </p:nvSpPr>
        <p:spPr>
          <a:xfrm>
            <a:off x="109474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title 5">
            <a:extLst>
              <a:ext uri="{FF2B5EF4-FFF2-40B4-BE49-F238E27FC236}">
                <a16:creationId xmlns:a16="http://schemas.microsoft.com/office/drawing/2014/main" id="{7FE643CE-524B-9DE7-8673-F5DFC5FE30CE}"/>
              </a:ext>
            </a:extLst>
          </p:cNvPr>
          <p:cNvSpPr txBox="1"/>
          <p:nvPr/>
        </p:nvSpPr>
        <p:spPr>
          <a:xfrm>
            <a:off x="119126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Layer-streaming CNN engine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5050220-ECBC-0072-62F0-57B381DF511C}"/>
              </a:ext>
            </a:extLst>
          </p:cNvPr>
          <p:cNvSpPr txBox="1"/>
          <p:nvPr/>
        </p:nvSpPr>
        <p:spPr>
          <a:xfrm>
            <a:off x="11049000" y="8636000"/>
            <a:ext cx="8153400" cy="457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One engine per layer, chained by AXI-Stream with back-pressure: only line buffers, no frame storage.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Output-channel parallelism P chosen per layer: the smallest P that meets 30 fps at 250 MHz.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Branches that read the same input share one window reader; weights in LUT, BRAM or packed BRAM + gearbox; large activation buffers in URAM.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7762CB4C-ED42-5B12-849D-C2900B8F8364}"/>
              </a:ext>
            </a:extLst>
          </p:cNvPr>
          <p:cNvSpPr/>
          <p:nvPr/>
        </p:nvSpPr>
        <p:spPr>
          <a:xfrm>
            <a:off x="11049000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Line buffer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K or K+1 rows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5EAD585B-A919-102F-B51D-EAD9710C4CA6}"/>
              </a:ext>
            </a:extLst>
          </p:cNvPr>
          <p:cNvCxnSpPr/>
          <p:nvPr/>
        </p:nvCxnSpPr>
        <p:spPr>
          <a:xfrm>
            <a:off x="12827000" y="12928600"/>
            <a:ext cx="347134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D7C7177C-8516-E70B-A3FD-2E55508E6EF7}"/>
              </a:ext>
            </a:extLst>
          </p:cNvPr>
          <p:cNvSpPr/>
          <p:nvPr/>
        </p:nvSpPr>
        <p:spPr>
          <a:xfrm>
            <a:off x="13174134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Window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K×K×Cin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F069743A-69CB-6019-F7F9-E07F095D64AD}"/>
              </a:ext>
            </a:extLst>
          </p:cNvPr>
          <p:cNvCxnSpPr/>
          <p:nvPr/>
        </p:nvCxnSpPr>
        <p:spPr>
          <a:xfrm>
            <a:off x="14952134" y="12928600"/>
            <a:ext cx="347132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C631A303-F312-2259-ECA6-C0DA85D97C0E}"/>
              </a:ext>
            </a:extLst>
          </p:cNvPr>
          <p:cNvSpPr/>
          <p:nvPr/>
        </p:nvSpPr>
        <p:spPr>
          <a:xfrm>
            <a:off x="15299266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P MAC lanes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weights x P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F90C66D5-D175-DC23-9BB1-E01C658DCFEC}"/>
              </a:ext>
            </a:extLst>
          </p:cNvPr>
          <p:cNvCxnSpPr/>
          <p:nvPr/>
        </p:nvCxnSpPr>
        <p:spPr>
          <a:xfrm>
            <a:off x="17077266" y="12928600"/>
            <a:ext cx="347134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矩形: 圆角 108">
            <a:extLst>
              <a:ext uri="{FF2B5EF4-FFF2-40B4-BE49-F238E27FC236}">
                <a16:creationId xmlns:a16="http://schemas.microsoft.com/office/drawing/2014/main" id="{3A74B5CA-15EC-8E30-2803-D870E0F4FECA}"/>
              </a:ext>
            </a:extLst>
          </p:cNvPr>
          <p:cNvSpPr/>
          <p:nvPr/>
        </p:nvSpPr>
        <p:spPr>
          <a:xfrm>
            <a:off x="17424400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Requantize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bias, act., shift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8A979131-6870-7ADD-4EB9-39D55852ED83}"/>
              </a:ext>
            </a:extLst>
          </p:cNvPr>
          <p:cNvSpPr txBox="1"/>
          <p:nvPr/>
        </p:nvSpPr>
        <p:spPr>
          <a:xfrm>
            <a:off x="11049000" y="136398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per layer; groups of P output channels re-read the window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9CD67D8E-38BC-3000-2797-9318EAEAA901}"/>
              </a:ext>
            </a:extLst>
          </p:cNvPr>
          <p:cNvSpPr txBox="1"/>
          <p:nvPr/>
        </p:nvSpPr>
        <p:spPr>
          <a:xfrm>
            <a:off x="11049000" y="14478000"/>
            <a:ext cx="8153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400" b="1">
                <a:solidFill>
                  <a:srgbClr val="0B4F8A"/>
                </a:solidFill>
                <a:latin typeface="Calibri" panose="020F0502020204030204" pitchFamily="34" charset="0"/>
              </a:rPr>
              <a:t>Network sized for on-chip storage (256x256 input)</a:t>
            </a:r>
            <a:endParaRPr lang="zh-CN" altLang="en-US" sz="24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CB0F9B42-DA6C-9716-212D-3E2F09BFD7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897796"/>
              </p:ext>
            </p:extLst>
          </p:nvPr>
        </p:nvGraphicFramePr>
        <p:xfrm>
          <a:off x="11049000" y="14986000"/>
          <a:ext cx="8153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4100">
                  <a:extLst>
                    <a:ext uri="{9D8B030D-6E8A-4147-A177-3AD203B41FA5}">
                      <a16:colId xmlns:a16="http://schemas.microsoft.com/office/drawing/2014/main" val="40147265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0186374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400301815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DeepJSCC-Q [2]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This work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073199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Channels / down-sampling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256 / 16x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32 / 4x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23838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Conv. MAC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47.7 / 70.5 G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0.91 / 1.42 G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7477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Parameters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34.4 M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387 k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947967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Kodak PSNR, 10 dB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34.9 dB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33.3 dB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185791"/>
                  </a:ext>
                </a:extLst>
              </a:tr>
            </a:tbl>
          </a:graphicData>
        </a:graphic>
      </p:graphicFrame>
      <p:sp>
        <p:nvSpPr>
          <p:cNvPr id="113" name="文本框 112">
            <a:extLst>
              <a:ext uri="{FF2B5EF4-FFF2-40B4-BE49-F238E27FC236}">
                <a16:creationId xmlns:a16="http://schemas.microsoft.com/office/drawing/2014/main" id="{2B54F5AF-6699-2AAA-1AB8-F5173D2C013B}"/>
              </a:ext>
            </a:extLst>
          </p:cNvPr>
          <p:cNvSpPr txBox="1"/>
          <p:nvPr/>
        </p:nvSpPr>
        <p:spPr>
          <a:xfrm>
            <a:off x="11049000" y="17932400"/>
            <a:ext cx="8153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400" b="1">
                <a:solidFill>
                  <a:srgbClr val="0B4F8A"/>
                </a:solidFill>
                <a:latin typeface="Calibri" panose="020F0502020204030204" pitchFamily="34" charset="0"/>
              </a:rPr>
              <a:t>Full TX / RX designs (xczu5eg, routed)</a:t>
            </a:r>
            <a:endParaRPr lang="zh-CN" altLang="en-US" sz="24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14" name="表格 113">
            <a:extLst>
              <a:ext uri="{FF2B5EF4-FFF2-40B4-BE49-F238E27FC236}">
                <a16:creationId xmlns:a16="http://schemas.microsoft.com/office/drawing/2014/main" id="{707EB77B-DC0D-8552-2948-0B4F71E337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862977"/>
              </p:ext>
            </p:extLst>
          </p:nvPr>
        </p:nvGraphicFramePr>
        <p:xfrm>
          <a:off x="11049000" y="18440400"/>
          <a:ext cx="8153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3744487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018366560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5778674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97222643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980480718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607827423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l"/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LUT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BRAM36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URAM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DSP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WNS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442447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TX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52.7k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104.5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243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+0.26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64023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RX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70.8k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123.5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394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+0.23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3762462"/>
                  </a:ext>
                </a:extLst>
              </a:tr>
            </a:tbl>
          </a:graphicData>
        </a:graphic>
      </p:graphicFrame>
      <p:sp>
        <p:nvSpPr>
          <p:cNvPr id="115" name="card 6">
            <a:extLst>
              <a:ext uri="{FF2B5EF4-FFF2-40B4-BE49-F238E27FC236}">
                <a16:creationId xmlns:a16="http://schemas.microsoft.com/office/drawing/2014/main" id="{BA1AD1B0-AF34-5396-D21F-05029F9B7AEE}"/>
              </a:ext>
            </a:extLst>
          </p:cNvPr>
          <p:cNvSpPr/>
          <p:nvPr/>
        </p:nvSpPr>
        <p:spPr>
          <a:xfrm>
            <a:off x="20269200" y="7239000"/>
            <a:ext cx="9067800" cy="6096000"/>
          </a:xfrm>
          <a:prstGeom prst="roundRect">
            <a:avLst>
              <a:gd name="adj" fmla="val 3750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badge 6">
            <a:extLst>
              <a:ext uri="{FF2B5EF4-FFF2-40B4-BE49-F238E27FC236}">
                <a16:creationId xmlns:a16="http://schemas.microsoft.com/office/drawing/2014/main" id="{7453FACF-14F4-C613-59B0-C2C2C0EB9D02}"/>
              </a:ext>
            </a:extLst>
          </p:cNvPr>
          <p:cNvSpPr/>
          <p:nvPr/>
        </p:nvSpPr>
        <p:spPr>
          <a:xfrm>
            <a:off x="206248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7" name="title 6">
            <a:extLst>
              <a:ext uri="{FF2B5EF4-FFF2-40B4-BE49-F238E27FC236}">
                <a16:creationId xmlns:a16="http://schemas.microsoft.com/office/drawing/2014/main" id="{8B0F140A-F65E-726B-01E3-F73A942E7E1A}"/>
              </a:ext>
            </a:extLst>
          </p:cNvPr>
          <p:cNvSpPr txBox="1"/>
          <p:nvPr/>
        </p:nvSpPr>
        <p:spPr>
          <a:xfrm>
            <a:off x="215900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Latency and throughput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119" name="图片 118">
            <a:extLst>
              <a:ext uri="{FF2B5EF4-FFF2-40B4-BE49-F238E27FC236}">
                <a16:creationId xmlns:a16="http://schemas.microsoft.com/office/drawing/2014/main" id="{F5911503-E58C-C992-45BB-5DB5378095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77200" y="8559800"/>
            <a:ext cx="8051800" cy="2569724"/>
          </a:xfrm>
          <a:prstGeom prst="rect">
            <a:avLst/>
          </a:prstGeom>
        </p:spPr>
      </p:pic>
      <p:sp>
        <p:nvSpPr>
          <p:cNvPr id="120" name="文本框 119">
            <a:extLst>
              <a:ext uri="{FF2B5EF4-FFF2-40B4-BE49-F238E27FC236}">
                <a16:creationId xmlns:a16="http://schemas.microsoft.com/office/drawing/2014/main" id="{8682FFC2-191C-2228-1A13-52381D3B10BA}"/>
              </a:ext>
            </a:extLst>
          </p:cNvPr>
          <p:cNvSpPr txBox="1"/>
          <p:nvPr/>
        </p:nvSpPr>
        <p:spPr>
          <a:xfrm>
            <a:off x="20726400" y="11383524"/>
            <a:ext cx="8153400" cy="190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200">
                <a:solidFill>
                  <a:srgbClr val="1F2933"/>
                </a:solidFill>
                <a:latin typeface="Calibri" panose="020F0502020204030204" pitchFamily="34" charset="0"/>
              </a:rPr>
              <a:t>Medians from PL frame counters on both boards (1701 frames).</a:t>
            </a:r>
          </a:p>
          <a:p>
            <a:pPr marL="254000" indent="-2540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200">
                <a:solidFill>
                  <a:srgbClr val="1F2933"/>
                </a:solidFill>
                <a:latin typeface="Calibri" panose="020F0502020204030204" pitchFamily="34" charset="0"/>
              </a:rPr>
              <a:t>30.0 fps sustained: 18,000 frames received in 600 s.</a:t>
            </a:r>
            <a:endParaRPr lang="zh-CN" altLang="en-US" sz="22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card 7">
            <a:extLst>
              <a:ext uri="{FF2B5EF4-FFF2-40B4-BE49-F238E27FC236}">
                <a16:creationId xmlns:a16="http://schemas.microsoft.com/office/drawing/2014/main" id="{4A7F605B-7E68-D95A-839F-768930810AAA}"/>
              </a:ext>
            </a:extLst>
          </p:cNvPr>
          <p:cNvSpPr/>
          <p:nvPr/>
        </p:nvSpPr>
        <p:spPr>
          <a:xfrm>
            <a:off x="20269200" y="13716000"/>
            <a:ext cx="9067800" cy="6985000"/>
          </a:xfrm>
          <a:prstGeom prst="roundRect">
            <a:avLst>
              <a:gd name="adj" fmla="val 3273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badge 7">
            <a:extLst>
              <a:ext uri="{FF2B5EF4-FFF2-40B4-BE49-F238E27FC236}">
                <a16:creationId xmlns:a16="http://schemas.microsoft.com/office/drawing/2014/main" id="{0BAEF2EE-A656-CEF6-0989-4EA9FE115409}"/>
              </a:ext>
            </a:extLst>
          </p:cNvPr>
          <p:cNvSpPr/>
          <p:nvPr/>
        </p:nvSpPr>
        <p:spPr>
          <a:xfrm>
            <a:off x="20624800" y="14046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7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3" name="title 7">
            <a:extLst>
              <a:ext uri="{FF2B5EF4-FFF2-40B4-BE49-F238E27FC236}">
                <a16:creationId xmlns:a16="http://schemas.microsoft.com/office/drawing/2014/main" id="{AB014EBB-5986-78B7-4270-6B291B1B347F}"/>
              </a:ext>
            </a:extLst>
          </p:cNvPr>
          <p:cNvSpPr txBox="1"/>
          <p:nvPr/>
        </p:nvSpPr>
        <p:spPr>
          <a:xfrm>
            <a:off x="21590000" y="14046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vs. FPGA DeepJSCC [3]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24" name="表格 123">
            <a:extLst>
              <a:ext uri="{FF2B5EF4-FFF2-40B4-BE49-F238E27FC236}">
                <a16:creationId xmlns:a16="http://schemas.microsoft.com/office/drawing/2014/main" id="{10DA6328-6BCF-5A41-C725-78E3CED9E3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787023"/>
              </p:ext>
            </p:extLst>
          </p:nvPr>
        </p:nvGraphicFramePr>
        <p:xfrm>
          <a:off x="20726400" y="15087600"/>
          <a:ext cx="8153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129918804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993240396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499665444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l"/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[3] GLOBECOM 25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This work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55520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Conv. work / frame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0.22 GMAC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2.33 GMAC (10.5x)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330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DSP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1597 / 874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233 / 312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23431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BRAM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1039 / 1012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100 / 100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50571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Latency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39.6 / 52.9 ms *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38.2 / 30.4 ms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39632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PHY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external 5G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own OFDM in PL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3636343"/>
                  </a:ext>
                </a:extLst>
              </a:tr>
            </a:tbl>
          </a:graphicData>
        </a:graphic>
      </p:graphicFrame>
      <p:sp>
        <p:nvSpPr>
          <p:cNvPr id="125" name="文本框 124">
            <a:extLst>
              <a:ext uri="{FF2B5EF4-FFF2-40B4-BE49-F238E27FC236}">
                <a16:creationId xmlns:a16="http://schemas.microsoft.com/office/drawing/2014/main" id="{5FE32F0F-FA31-BAC9-1E89-8C4339115356}"/>
              </a:ext>
            </a:extLst>
          </p:cNvPr>
          <p:cNvSpPr txBox="1"/>
          <p:nvPr/>
        </p:nvSpPr>
        <p:spPr>
          <a:xfrm>
            <a:off x="20726400" y="19050000"/>
            <a:ext cx="81534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Network cores; different devices and precision (INT8 vs W8A12): absolute counts, not a controlled comparison. * median including PS processing; ours: PL only.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26" name="card 8">
            <a:extLst>
              <a:ext uri="{FF2B5EF4-FFF2-40B4-BE49-F238E27FC236}">
                <a16:creationId xmlns:a16="http://schemas.microsoft.com/office/drawing/2014/main" id="{DFC22B31-AB82-B8DC-EC93-8C7C27B24A0B}"/>
              </a:ext>
            </a:extLst>
          </p:cNvPr>
          <p:cNvSpPr/>
          <p:nvPr/>
        </p:nvSpPr>
        <p:spPr>
          <a:xfrm>
            <a:off x="10591800" y="21082000"/>
            <a:ext cx="18745200" cy="18796000"/>
          </a:xfrm>
          <a:prstGeom prst="roundRect">
            <a:avLst>
              <a:gd name="adj" fmla="val 1220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badge 8">
            <a:extLst>
              <a:ext uri="{FF2B5EF4-FFF2-40B4-BE49-F238E27FC236}">
                <a16:creationId xmlns:a16="http://schemas.microsoft.com/office/drawing/2014/main" id="{CBCA01D9-9929-F260-5EDC-209DF585E89E}"/>
              </a:ext>
            </a:extLst>
          </p:cNvPr>
          <p:cNvSpPr/>
          <p:nvPr/>
        </p:nvSpPr>
        <p:spPr>
          <a:xfrm>
            <a:off x="10947400" y="21412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8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8" name="title 8">
            <a:extLst>
              <a:ext uri="{FF2B5EF4-FFF2-40B4-BE49-F238E27FC236}">
                <a16:creationId xmlns:a16="http://schemas.microsoft.com/office/drawing/2014/main" id="{492AAF10-7D65-3545-813D-145CFCE6BD4C}"/>
              </a:ext>
            </a:extLst>
          </p:cNvPr>
          <p:cNvSpPr txBox="1"/>
          <p:nvPr/>
        </p:nvSpPr>
        <p:spPr>
          <a:xfrm>
            <a:off x="11912600" y="21412200"/>
            <a:ext cx="170688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Graceful degradation, no cliff (measured over the air)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130" name="图片 129">
            <a:extLst>
              <a:ext uri="{FF2B5EF4-FFF2-40B4-BE49-F238E27FC236}">
                <a16:creationId xmlns:a16="http://schemas.microsoft.com/office/drawing/2014/main" id="{273804B8-CD0D-5E41-97F4-E21B6EE17E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799" y="22402800"/>
            <a:ext cx="7620000" cy="6558032"/>
          </a:xfrm>
          <a:prstGeom prst="rect">
            <a:avLst/>
          </a:prstGeom>
        </p:spPr>
      </p:pic>
      <p:sp>
        <p:nvSpPr>
          <p:cNvPr id="131" name="文本框 130">
            <a:extLst>
              <a:ext uri="{FF2B5EF4-FFF2-40B4-BE49-F238E27FC236}">
                <a16:creationId xmlns:a16="http://schemas.microsoft.com/office/drawing/2014/main" id="{60DA4EAE-22C7-6EE3-F43C-65AF9899BEF4}"/>
              </a:ext>
            </a:extLst>
          </p:cNvPr>
          <p:cNvSpPr txBox="1"/>
          <p:nvPr/>
        </p:nvSpPr>
        <p:spPr>
          <a:xfrm>
            <a:off x="19227800" y="22606000"/>
            <a:ext cx="9601200" cy="63040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DeepJSCC-Q: 32.0 dB at 32 dB SNR and still 26.5 dB at 5.5 dB - the image quality follows the channel.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SSCC (JPEG + K=7 convolutional code + 64-QAM) on the same PHY with the same 32,768 symbols per image: 28.2 dB, lost within 3 dB (SNR 20 -&gt; 17 dB).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With the same channel-symbol budget, DeepJSCC-Q is 3.8 dB better even at high SNR.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SNR is data-aided: received constellation against the known reference of a still image (DIV2K 0802), attenuator swept from 32 dB down.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Below: decoded images from the same sweep - rows original, DeepJSCC-Q, SSCC; PSNR / SSIM under each image; an undecodable SSCC frame is scored as mid-gray.</a:t>
            </a:r>
            <a:endParaRPr lang="zh-CN" altLang="en-US" sz="24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pic>
        <p:nvPicPr>
          <p:cNvPr id="133" name="图片 132">
            <a:extLst>
              <a:ext uri="{FF2B5EF4-FFF2-40B4-BE49-F238E27FC236}">
                <a16:creationId xmlns:a16="http://schemas.microsoft.com/office/drawing/2014/main" id="{6C1B6074-7AFE-22CE-49A5-3FCAF978DF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29265631"/>
            <a:ext cx="17729200" cy="9972674"/>
          </a:xfrm>
          <a:prstGeom prst="rect">
            <a:avLst/>
          </a:prstGeom>
        </p:spPr>
      </p:pic>
      <p:sp>
        <p:nvSpPr>
          <p:cNvPr id="134" name="文本框 133">
            <a:extLst>
              <a:ext uri="{FF2B5EF4-FFF2-40B4-BE49-F238E27FC236}">
                <a16:creationId xmlns:a16="http://schemas.microsoft.com/office/drawing/2014/main" id="{FAAADF6C-7CFB-20B4-C796-E7BDA0552A3B}"/>
              </a:ext>
            </a:extLst>
          </p:cNvPr>
          <p:cNvSpPr txBox="1"/>
          <p:nvPr/>
        </p:nvSpPr>
        <p:spPr>
          <a:xfrm>
            <a:off x="914400" y="40309800"/>
            <a:ext cx="28448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000">
                <a:solidFill>
                  <a:srgbClr val="1F2933"/>
                </a:solidFill>
                <a:latin typeface="Calibri" panose="020F0502020204030204" pitchFamily="34" charset="0"/>
              </a:rPr>
              <a:t>Developed with AI coding agents: Claude Code (PHY, RF, PYNQ software, measurements) and Codex (training, quantization, RTL generator); the human set the goals and constraints, made the key technical calls and did all hardware handling; the two models cross-reviewed the report. Hardware: 2× PYNQ-ZU (xczu5eg) + 2× AD-FMCOMMS3, Vivado 2025.2. Open source (MIT).</a:t>
            </a:r>
            <a:endParaRPr lang="zh-CN" altLang="en-US" sz="20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3CE4E6E5-B0F7-C244-0D38-3FFF72C53725}"/>
              </a:ext>
            </a:extLst>
          </p:cNvPr>
          <p:cNvSpPr txBox="1"/>
          <p:nvPr/>
        </p:nvSpPr>
        <p:spPr>
          <a:xfrm>
            <a:off x="914400" y="41529000"/>
            <a:ext cx="28448000" cy="101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[1] E. Bourtsoulatze, D. B. Kurka, D. Gunduz, IEEE TCCN, 2019.   [2] T.-Y. Tung, D. B. Kurka, M. Jankowski, D. Gunduz, "DeepJSCC-Q," IEEE JSAIT, 2022.   [3] T. Isobe et al., "FPGA-based deep joint source-channel coding for real-time 5G image transmission," IEEE GLOBECOM, 2025.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1104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1129</Words>
  <Application>Microsoft Office PowerPoint</Application>
  <PresentationFormat>自定义</PresentationFormat>
  <Paragraphs>151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Calibri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</dc:creator>
  <cp:lastModifiedBy>PC</cp:lastModifiedBy>
  <cp:revision>1</cp:revision>
  <dcterms:created xsi:type="dcterms:W3CDTF">2026-10-13T13:01:31Z</dcterms:created>
  <dcterms:modified xsi:type="dcterms:W3CDTF">2026-10-13T13:01:31Z</dcterms:modified>
</cp:coreProperties>
</file>