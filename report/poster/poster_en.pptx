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6800" cy="4279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1AB3D-F13A-2F78-DD24-3FF3879B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600" y="7004376"/>
            <a:ext cx="22707600" cy="1490039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02A4B7-3313-D5B6-C005-CBA166D97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600" y="22479385"/>
            <a:ext cx="22707600" cy="103331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A6606-A088-5FBF-0BFE-F6BE0A72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3FB4F-B92F-3E06-2F35-26B16EBB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CA847-ED54-12C9-7F45-97D82F9C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8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F5E4E-5296-EC5C-2F01-3C7423EA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D6D9F0-D2FF-010C-CCE6-A5B2B0897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09E8C-C3F1-C824-9E07-65F9AB2D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08481-68AB-FFC8-917D-84C950BD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C7F222-207A-AA2A-4F05-9588AFE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49D06-4F1C-3AD9-4697-9A7A85DA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761" y="10670041"/>
            <a:ext cx="26113740" cy="1780319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965D4A-5CE2-E832-BCE1-1D7A8CA5B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761" y="28641658"/>
            <a:ext cx="26113740" cy="93622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40001-4457-0ACB-01A7-A44C5703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2C51C-B79F-362E-DB46-8ECED1F1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4BA246-E733-0FA8-8549-433E6690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8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2D987-B4C9-B7C4-B82B-B3150050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2AF38-5B3C-F92C-12AB-9138F871F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530" y="11393252"/>
            <a:ext cx="12867640" cy="27155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0168E5-AB05-5B44-2F77-7F7205990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7630" y="11393252"/>
            <a:ext cx="12867640" cy="27155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687DE0-7695-4057-6B7E-7E8D97D6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5A00D9-8C4D-154A-E5C4-588BD084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A45DD-0F60-49D0-79F7-0CE46C66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B2AD6-1CDA-1D42-C415-E0CE44FD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4" y="2278660"/>
            <a:ext cx="26113740" cy="8272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025E2-E006-89E1-8B89-A2E8EE12A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475" y="10491703"/>
            <a:ext cx="12808504" cy="5141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456D9E-9593-542F-57E9-AC86E6223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475" y="15633524"/>
            <a:ext cx="12808504" cy="22994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A236F1-569A-806C-C038-FD86CDC9B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7630" y="10491703"/>
            <a:ext cx="12871584" cy="5141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DB1B19-E557-6260-7594-7DFBB81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7630" y="15633524"/>
            <a:ext cx="12871584" cy="22994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507602-076A-51E5-D14D-FC7AFC70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2507F9-CCF0-568E-86F4-A8B50CCB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0FCF05-AC4A-48B6-9427-CAF8A06E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EC9B2-AAFE-28F8-D4C5-9A9041B8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7D2C00-342D-E8DB-4A96-A5A5B996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0A2369-6ADE-F172-B0AB-2FBD9A10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C49AE2-84E1-924F-8CC0-7235A535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71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20B774-DBE2-EB25-F4D0-E14C88A9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CB3A96-C357-6A14-0F3F-DDD44AFF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B30B9-F865-1BB4-EC84-E19B024E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33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04844-B683-F891-73E8-BF0F9B04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6" y="2853267"/>
            <a:ext cx="9765055" cy="99864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EFC7A-7944-7DAC-F5A7-219C9CD96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1584" y="6162273"/>
            <a:ext cx="15327630" cy="304150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D50E23-7FA8-BCCE-09F2-821BFAB1B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476" y="12839700"/>
            <a:ext cx="9765055" cy="237871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E5178B-DF7E-C34D-6022-14CBF02C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36F55-8D6A-D6FC-6F96-534AE5E3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6BBA19-A0F1-1983-5D07-FB4EE887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42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48ACC-2D67-2179-203C-705DE290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6" y="2853267"/>
            <a:ext cx="9765055" cy="99864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32063-EE8E-296E-3341-D669CC261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1584" y="6162273"/>
            <a:ext cx="15327630" cy="304150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654DD9-FD63-6972-0E4C-BC4C3FE6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476" y="12839700"/>
            <a:ext cx="9765055" cy="237871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BD7881-888E-2116-0536-19E4FB70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A18864-E8CA-B4DA-2B49-13DD1A05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F8C758-68AC-6BA4-4BF0-3F712525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9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2C72F-E94F-9A75-2ED9-CA977DFD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CA5A47-CFE9-AFD4-08C1-525B56969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E4232-4249-D109-1C50-5173056C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4C35D-7C3C-0655-38B4-A97D795B3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2527F1-68B7-7BAA-BA64-F6582B6B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05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DFC5B8-0719-85AD-5B39-BC31D990D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6836" y="2278651"/>
            <a:ext cx="6528435" cy="362701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73C0AA-F3A1-BBC5-4D65-A4785AF08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531" y="2278651"/>
            <a:ext cx="19206845" cy="362701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B470A-8C90-84E0-E451-E68EB4BE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1BD2A-7C92-344D-25A5-0DB80F0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D443C-6DBA-D27E-57B0-C32CB87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51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A6654B-2809-AFA7-1240-1C0614AD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530" y="2278660"/>
            <a:ext cx="26113740" cy="8272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33D867-9C33-222C-C0C9-19F75C65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530" y="11393252"/>
            <a:ext cx="26113740" cy="27155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0D3F6-DA34-AEA3-E610-277E2B045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530" y="39668342"/>
            <a:ext cx="6812280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F490C-865A-46A7-9644-4676E9929DDD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852DF-5A55-41BA-A547-4C4ECE50A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9190" y="39668342"/>
            <a:ext cx="10218420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DD0A27-CCCF-E059-C98E-8D1869425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2990" y="39668342"/>
            <a:ext cx="6812280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59DA1-6AAB-40E2-800A-C51A0D9D0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13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ter title">
            <a:extLst>
              <a:ext uri="{FF2B5EF4-FFF2-40B4-BE49-F238E27FC236}">
                <a16:creationId xmlns:a16="http://schemas.microsoft.com/office/drawing/2014/main" id="{6C744693-9816-5078-F864-9EBD8BC27B2C}"/>
              </a:ext>
            </a:extLst>
          </p:cNvPr>
          <p:cNvSpPr txBox="1"/>
          <p:nvPr/>
        </p:nvSpPr>
        <p:spPr>
          <a:xfrm>
            <a:off x="914400" y="812800"/>
            <a:ext cx="28448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000" b="1">
                <a:solidFill>
                  <a:srgbClr val="0B4F8A"/>
                </a:solidFill>
                <a:latin typeface="Calibri" panose="020F0502020204030204" pitchFamily="34" charset="0"/>
              </a:rPr>
              <a:t>Real-Time Over-the-Air Image Transmission with DeepJSCC-Q on FPGA</a:t>
            </a:r>
            <a:endParaRPr lang="zh-CN" altLang="en-US" sz="7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004AA05-DCDC-311D-1357-068A645B8D9B}"/>
              </a:ext>
            </a:extLst>
          </p:cNvPr>
          <p:cNvSpPr txBox="1"/>
          <p:nvPr/>
        </p:nvSpPr>
        <p:spPr>
          <a:xfrm>
            <a:off x="914400" y="2108200"/>
            <a:ext cx="28448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3000">
                <a:solidFill>
                  <a:srgbClr val="52606D"/>
                </a:solidFill>
                <a:latin typeface="Calibri" panose="020F0502020204030204" pitchFamily="34" charset="0"/>
              </a:rPr>
              <a:t>Separate source and channel coding (JPEG + FEC) fails abruptly once the SNR drops below its code threshold; DeepJSCC-Q maps pixels straight to 64-QAM symbols and degrades gracefully. The CNN codec, an 802.11a-like OFDM PHY and the RF front-end control all run on two Zynq UltraScale+ boards.</a:t>
            </a:r>
            <a:endParaRPr lang="zh-CN" altLang="en-US" sz="30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tat 0">
            <a:extLst>
              <a:ext uri="{FF2B5EF4-FFF2-40B4-BE49-F238E27FC236}">
                <a16:creationId xmlns:a16="http://schemas.microsoft.com/office/drawing/2014/main" id="{8672DFDA-3B96-B90A-849A-9E4EDA5AE92A}"/>
              </a:ext>
            </a:extLst>
          </p:cNvPr>
          <p:cNvSpPr/>
          <p:nvPr/>
        </p:nvSpPr>
        <p:spPr>
          <a:xfrm>
            <a:off x="914400" y="3683000"/>
            <a:ext cx="5323840" cy="2921000"/>
          </a:xfrm>
          <a:prstGeom prst="roundRect">
            <a:avLst>
              <a:gd name="adj" fmla="val 6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tat value 0">
            <a:extLst>
              <a:ext uri="{FF2B5EF4-FFF2-40B4-BE49-F238E27FC236}">
                <a16:creationId xmlns:a16="http://schemas.microsoft.com/office/drawing/2014/main" id="{1E122D7F-2E09-2142-A857-B41F3D047DDB}"/>
              </a:ext>
            </a:extLst>
          </p:cNvPr>
          <p:cNvSpPr txBox="1"/>
          <p:nvPr/>
        </p:nvSpPr>
        <p:spPr>
          <a:xfrm>
            <a:off x="1295400" y="38862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0" b="1">
                <a:solidFill>
                  <a:srgbClr val="FFFFFF"/>
                </a:solidFill>
                <a:latin typeface="Calibri" panose="020F0502020204030204" pitchFamily="34" charset="0"/>
              </a:rPr>
              <a:t>30 fps</a:t>
            </a:r>
            <a:endParaRPr lang="zh-CN" altLang="en-US" sz="7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tat label 0">
            <a:extLst>
              <a:ext uri="{FF2B5EF4-FFF2-40B4-BE49-F238E27FC236}">
                <a16:creationId xmlns:a16="http://schemas.microsoft.com/office/drawing/2014/main" id="{5F689573-C2E5-1731-016C-8113B43196BE}"/>
              </a:ext>
            </a:extLst>
          </p:cNvPr>
          <p:cNvSpPr txBox="1"/>
          <p:nvPr/>
        </p:nvSpPr>
        <p:spPr>
          <a:xfrm>
            <a:off x="1295400" y="52578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>
                <a:solidFill>
                  <a:srgbClr val="D6E4F2"/>
                </a:solidFill>
                <a:latin typeface="Calibri" panose="020F0502020204030204" pitchFamily="34" charset="0"/>
              </a:rPr>
              <a:t>256×256 RGB images over a 915 MHz air link</a:t>
            </a:r>
            <a:endParaRPr lang="zh-CN" altLang="en-US" sz="2500">
              <a:solidFill>
                <a:srgbClr val="D6E4F2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tat 1">
            <a:extLst>
              <a:ext uri="{FF2B5EF4-FFF2-40B4-BE49-F238E27FC236}">
                <a16:creationId xmlns:a16="http://schemas.microsoft.com/office/drawing/2014/main" id="{B8A9D80E-4ACC-F71C-B19E-64714F2FD759}"/>
              </a:ext>
            </a:extLst>
          </p:cNvPr>
          <p:cNvSpPr/>
          <p:nvPr/>
        </p:nvSpPr>
        <p:spPr>
          <a:xfrm>
            <a:off x="6695440" y="3683000"/>
            <a:ext cx="5323840" cy="2921000"/>
          </a:xfrm>
          <a:prstGeom prst="roundRect">
            <a:avLst>
              <a:gd name="adj" fmla="val 6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stat value 1">
            <a:extLst>
              <a:ext uri="{FF2B5EF4-FFF2-40B4-BE49-F238E27FC236}">
                <a16:creationId xmlns:a16="http://schemas.microsoft.com/office/drawing/2014/main" id="{4C304B33-64A3-E667-4ABF-130BBF70489B}"/>
              </a:ext>
            </a:extLst>
          </p:cNvPr>
          <p:cNvSpPr txBox="1"/>
          <p:nvPr/>
        </p:nvSpPr>
        <p:spPr>
          <a:xfrm>
            <a:off x="7076440" y="38862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0" b="1">
                <a:solidFill>
                  <a:srgbClr val="FFFFFF"/>
                </a:solidFill>
                <a:latin typeface="Calibri" panose="020F0502020204030204" pitchFamily="34" charset="0"/>
              </a:rPr>
              <a:t>71.5 ms</a:t>
            </a:r>
            <a:endParaRPr lang="zh-CN" altLang="en-US" sz="7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stat label 1">
            <a:extLst>
              <a:ext uri="{FF2B5EF4-FFF2-40B4-BE49-F238E27FC236}">
                <a16:creationId xmlns:a16="http://schemas.microsoft.com/office/drawing/2014/main" id="{B09D15A0-2739-6770-5405-66483B287B59}"/>
              </a:ext>
            </a:extLst>
          </p:cNvPr>
          <p:cNvSpPr txBox="1"/>
          <p:nvPr/>
        </p:nvSpPr>
        <p:spPr>
          <a:xfrm>
            <a:off x="7076440" y="52578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>
                <a:solidFill>
                  <a:srgbClr val="D6E4F2"/>
                </a:solidFill>
                <a:latin typeface="Calibri" panose="020F0502020204030204" pitchFamily="34" charset="0"/>
              </a:rPr>
              <a:t>PL latency: encode 38.2 + air 2.9 + decode 30.4 ms</a:t>
            </a:r>
            <a:endParaRPr lang="zh-CN" altLang="en-US" sz="2500">
              <a:solidFill>
                <a:srgbClr val="D6E4F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stat 2">
            <a:extLst>
              <a:ext uri="{FF2B5EF4-FFF2-40B4-BE49-F238E27FC236}">
                <a16:creationId xmlns:a16="http://schemas.microsoft.com/office/drawing/2014/main" id="{086AAF36-8CAB-E977-E7D4-06FF2FB77834}"/>
              </a:ext>
            </a:extLst>
          </p:cNvPr>
          <p:cNvSpPr/>
          <p:nvPr/>
        </p:nvSpPr>
        <p:spPr>
          <a:xfrm>
            <a:off x="12476480" y="3683000"/>
            <a:ext cx="5323841" cy="2921000"/>
          </a:xfrm>
          <a:prstGeom prst="roundRect">
            <a:avLst>
              <a:gd name="adj" fmla="val 6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tat value 2">
            <a:extLst>
              <a:ext uri="{FF2B5EF4-FFF2-40B4-BE49-F238E27FC236}">
                <a16:creationId xmlns:a16="http://schemas.microsoft.com/office/drawing/2014/main" id="{91CA04AB-147D-7C65-4BCA-4B8FE19CD36E}"/>
              </a:ext>
            </a:extLst>
          </p:cNvPr>
          <p:cNvSpPr txBox="1"/>
          <p:nvPr/>
        </p:nvSpPr>
        <p:spPr>
          <a:xfrm>
            <a:off x="12857480" y="38862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0" b="1">
                <a:solidFill>
                  <a:srgbClr val="FFFFFF"/>
                </a:solidFill>
                <a:latin typeface="Calibri" panose="020F0502020204030204" pitchFamily="34" charset="0"/>
              </a:rPr>
              <a:t>+3.8 dB</a:t>
            </a:r>
            <a:endParaRPr lang="zh-CN" altLang="en-US" sz="7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stat label 2">
            <a:extLst>
              <a:ext uri="{FF2B5EF4-FFF2-40B4-BE49-F238E27FC236}">
                <a16:creationId xmlns:a16="http://schemas.microsoft.com/office/drawing/2014/main" id="{882E9260-A822-ACDA-D436-8706F1711AE6}"/>
              </a:ext>
            </a:extLst>
          </p:cNvPr>
          <p:cNvSpPr txBox="1"/>
          <p:nvPr/>
        </p:nvSpPr>
        <p:spPr>
          <a:xfrm>
            <a:off x="12857480" y="52578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>
                <a:solidFill>
                  <a:srgbClr val="D6E4F2"/>
                </a:solidFill>
                <a:latin typeface="Calibri" panose="020F0502020204030204" pitchFamily="34" charset="0"/>
              </a:rPr>
              <a:t>PSNR over JPEG + convolutional code, with no cliff</a:t>
            </a:r>
            <a:endParaRPr lang="zh-CN" altLang="en-US" sz="2500">
              <a:solidFill>
                <a:srgbClr val="D6E4F2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stat 3">
            <a:extLst>
              <a:ext uri="{FF2B5EF4-FFF2-40B4-BE49-F238E27FC236}">
                <a16:creationId xmlns:a16="http://schemas.microsoft.com/office/drawing/2014/main" id="{B01B911C-6A59-3524-A9A7-BE912F918C39}"/>
              </a:ext>
            </a:extLst>
          </p:cNvPr>
          <p:cNvSpPr/>
          <p:nvPr/>
        </p:nvSpPr>
        <p:spPr>
          <a:xfrm>
            <a:off x="18257520" y="3683000"/>
            <a:ext cx="5323841" cy="2921000"/>
          </a:xfrm>
          <a:prstGeom prst="roundRect">
            <a:avLst>
              <a:gd name="adj" fmla="val 6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stat value 3">
            <a:extLst>
              <a:ext uri="{FF2B5EF4-FFF2-40B4-BE49-F238E27FC236}">
                <a16:creationId xmlns:a16="http://schemas.microsoft.com/office/drawing/2014/main" id="{F5CF9537-3674-DAC4-D5AE-28CAA6F86CB6}"/>
              </a:ext>
            </a:extLst>
          </p:cNvPr>
          <p:cNvSpPr txBox="1"/>
          <p:nvPr/>
        </p:nvSpPr>
        <p:spPr>
          <a:xfrm>
            <a:off x="18638520" y="38862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0" b="1">
                <a:solidFill>
                  <a:srgbClr val="FFFFFF"/>
                </a:solidFill>
                <a:latin typeface="Calibri" panose="020F0502020204030204" pitchFamily="34" charset="0"/>
              </a:rPr>
              <a:t>2.33 GMAC</a:t>
            </a:r>
            <a:endParaRPr lang="zh-CN" altLang="en-US" sz="7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stat label 3">
            <a:extLst>
              <a:ext uri="{FF2B5EF4-FFF2-40B4-BE49-F238E27FC236}">
                <a16:creationId xmlns:a16="http://schemas.microsoft.com/office/drawing/2014/main" id="{07E3297C-3387-4268-F54C-E54F70674522}"/>
              </a:ext>
            </a:extLst>
          </p:cNvPr>
          <p:cNvSpPr txBox="1"/>
          <p:nvPr/>
        </p:nvSpPr>
        <p:spPr>
          <a:xfrm>
            <a:off x="18638520" y="52578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>
                <a:solidFill>
                  <a:srgbClr val="D6E4F2"/>
                </a:solidFill>
                <a:latin typeface="Calibri" panose="020F0502020204030204" pitchFamily="34" charset="0"/>
              </a:rPr>
              <a:t>per frame, 114 convolutions, W8A12 fixed point</a:t>
            </a:r>
            <a:endParaRPr lang="zh-CN" altLang="en-US" sz="2500">
              <a:solidFill>
                <a:srgbClr val="D6E4F2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stat 4">
            <a:extLst>
              <a:ext uri="{FF2B5EF4-FFF2-40B4-BE49-F238E27FC236}">
                <a16:creationId xmlns:a16="http://schemas.microsoft.com/office/drawing/2014/main" id="{2FCC626A-FA5A-EB2A-779E-C4DCFA9A5C51}"/>
              </a:ext>
            </a:extLst>
          </p:cNvPr>
          <p:cNvSpPr/>
          <p:nvPr/>
        </p:nvSpPr>
        <p:spPr>
          <a:xfrm>
            <a:off x="24038561" y="3683000"/>
            <a:ext cx="5323839" cy="2921000"/>
          </a:xfrm>
          <a:prstGeom prst="roundRect">
            <a:avLst>
              <a:gd name="adj" fmla="val 6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stat value 4">
            <a:extLst>
              <a:ext uri="{FF2B5EF4-FFF2-40B4-BE49-F238E27FC236}">
                <a16:creationId xmlns:a16="http://schemas.microsoft.com/office/drawing/2014/main" id="{E46BEDDD-7862-9B63-9677-4806036D0BEF}"/>
              </a:ext>
            </a:extLst>
          </p:cNvPr>
          <p:cNvSpPr txBox="1"/>
          <p:nvPr/>
        </p:nvSpPr>
        <p:spPr>
          <a:xfrm>
            <a:off x="24419561" y="38862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0" b="1">
                <a:solidFill>
                  <a:srgbClr val="FFFFFF"/>
                </a:solidFill>
                <a:latin typeface="Calibri" panose="020F0502020204030204" pitchFamily="34" charset="0"/>
              </a:rPr>
              <a:t>4.5 / 4.9 W</a:t>
            </a:r>
            <a:endParaRPr lang="zh-CN" altLang="en-US" sz="7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stat label 4">
            <a:extLst>
              <a:ext uri="{FF2B5EF4-FFF2-40B4-BE49-F238E27FC236}">
                <a16:creationId xmlns:a16="http://schemas.microsoft.com/office/drawing/2014/main" id="{FBFD4341-E23F-B298-2939-80185E04861C}"/>
              </a:ext>
            </a:extLst>
          </p:cNvPr>
          <p:cNvSpPr txBox="1"/>
          <p:nvPr/>
        </p:nvSpPr>
        <p:spPr>
          <a:xfrm>
            <a:off x="24419561" y="5257800"/>
            <a:ext cx="456184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>
                <a:solidFill>
                  <a:srgbClr val="D6E4F2"/>
                </a:solidFill>
                <a:latin typeface="Calibri" panose="020F0502020204030204" pitchFamily="34" charset="0"/>
              </a:rPr>
              <a:t>TX / RX on-chip power (Vivado estimate)</a:t>
            </a:r>
            <a:endParaRPr lang="zh-CN" altLang="en-US" sz="2500">
              <a:solidFill>
                <a:srgbClr val="D6E4F2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ard 1">
            <a:extLst>
              <a:ext uri="{FF2B5EF4-FFF2-40B4-BE49-F238E27FC236}">
                <a16:creationId xmlns:a16="http://schemas.microsoft.com/office/drawing/2014/main" id="{3E1C5252-8219-D5A7-8B4F-B8B8E33EC260}"/>
              </a:ext>
            </a:extLst>
          </p:cNvPr>
          <p:cNvSpPr/>
          <p:nvPr/>
        </p:nvSpPr>
        <p:spPr>
          <a:xfrm>
            <a:off x="914400" y="7239000"/>
            <a:ext cx="9067800" cy="7112000"/>
          </a:xfrm>
          <a:prstGeom prst="roundRect">
            <a:avLst>
              <a:gd name="adj" fmla="val 3214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adge 1">
            <a:extLst>
              <a:ext uri="{FF2B5EF4-FFF2-40B4-BE49-F238E27FC236}">
                <a16:creationId xmlns:a16="http://schemas.microsoft.com/office/drawing/2014/main" id="{9C6E937A-4E4A-98DC-E989-63FF7335EC55}"/>
              </a:ext>
            </a:extLst>
          </p:cNvPr>
          <p:cNvSpPr/>
          <p:nvPr/>
        </p:nvSpPr>
        <p:spPr>
          <a:xfrm>
            <a:off x="1270000" y="7569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208C23C-5825-F510-C6B1-5A81D32138D7}"/>
              </a:ext>
            </a:extLst>
          </p:cNvPr>
          <p:cNvSpPr txBox="1"/>
          <p:nvPr/>
        </p:nvSpPr>
        <p:spPr>
          <a:xfrm>
            <a:off x="2235200" y="7569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Hardware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4225661-19CC-E60A-2F60-CEA051D07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8559800"/>
            <a:ext cx="8153400" cy="480642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A92A3ED-59EB-CDB3-9E51-E390E85DF2CD}"/>
              </a:ext>
            </a:extLst>
          </p:cNvPr>
          <p:cNvSpPr txBox="1"/>
          <p:nvPr/>
        </p:nvSpPr>
        <p:spPr>
          <a:xfrm>
            <a:off x="1371600" y="13518629"/>
            <a:ext cx="8153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06D"/>
                </a:solidFill>
                <a:latin typeface="Calibri" panose="020F0502020204030204" pitchFamily="34" charset="0"/>
              </a:rPr>
              <a:t>Left: RX (PYNQ-ZU + AD9361 + touch screen). Right: TX (PYNQ-ZU + AD9361 + USB camera). 915 MHz antennas in front.</a:t>
            </a:r>
            <a:endParaRPr lang="zh-CN" altLang="en-US" sz="21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ard 2">
            <a:extLst>
              <a:ext uri="{FF2B5EF4-FFF2-40B4-BE49-F238E27FC236}">
                <a16:creationId xmlns:a16="http://schemas.microsoft.com/office/drawing/2014/main" id="{AACE9CBE-1248-BC62-1FBA-1D70970187D0}"/>
              </a:ext>
            </a:extLst>
          </p:cNvPr>
          <p:cNvSpPr/>
          <p:nvPr/>
        </p:nvSpPr>
        <p:spPr>
          <a:xfrm>
            <a:off x="914400" y="14732000"/>
            <a:ext cx="9067800" cy="8509000"/>
          </a:xfrm>
          <a:prstGeom prst="roundRect">
            <a:avLst>
              <a:gd name="adj" fmla="val 2687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badge 2">
            <a:extLst>
              <a:ext uri="{FF2B5EF4-FFF2-40B4-BE49-F238E27FC236}">
                <a16:creationId xmlns:a16="http://schemas.microsoft.com/office/drawing/2014/main" id="{CAF971A8-973A-7733-27B4-6291A88F6EF2}"/>
              </a:ext>
            </a:extLst>
          </p:cNvPr>
          <p:cNvSpPr/>
          <p:nvPr/>
        </p:nvSpPr>
        <p:spPr>
          <a:xfrm>
            <a:off x="1270000" y="15062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itle 2">
            <a:extLst>
              <a:ext uri="{FF2B5EF4-FFF2-40B4-BE49-F238E27FC236}">
                <a16:creationId xmlns:a16="http://schemas.microsoft.com/office/drawing/2014/main" id="{25FA2011-BA11-A350-78FA-A633BC2FC3DD}"/>
              </a:ext>
            </a:extLst>
          </p:cNvPr>
          <p:cNvSpPr txBox="1"/>
          <p:nvPr/>
        </p:nvSpPr>
        <p:spPr>
          <a:xfrm>
            <a:off x="2235200" y="15062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System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9855358-4191-98B5-225E-85FCF56456B2}"/>
              </a:ext>
            </a:extLst>
          </p:cNvPr>
          <p:cNvSpPr txBox="1"/>
          <p:nvPr/>
        </p:nvSpPr>
        <p:spPr>
          <a:xfrm>
            <a:off x="1371600" y="159512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52606D"/>
                </a:solidFill>
                <a:latin typeface="Calibri" panose="020F0502020204030204" pitchFamily="34" charset="0"/>
              </a:rPr>
              <a:t>TX board</a:t>
            </a:r>
            <a:endParaRPr lang="zh-CN" altLang="en-US" sz="2200" b="1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5314AF-37FC-8FDC-5B35-DA1A12C03B86}"/>
              </a:ext>
            </a:extLst>
          </p:cNvPr>
          <p:cNvSpPr txBox="1"/>
          <p:nvPr/>
        </p:nvSpPr>
        <p:spPr>
          <a:xfrm>
            <a:off x="5715000" y="15951200"/>
            <a:ext cx="381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52606D"/>
                </a:solidFill>
                <a:latin typeface="Calibri" panose="020F0502020204030204" pitchFamily="34" charset="0"/>
              </a:rPr>
              <a:t>RX board</a:t>
            </a:r>
            <a:endParaRPr lang="zh-CN" altLang="en-US" sz="2200" b="1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D9FA62E-2EBB-96B1-9CC1-42ADBC8057E7}"/>
              </a:ext>
            </a:extLst>
          </p:cNvPr>
          <p:cNvSpPr/>
          <p:nvPr/>
        </p:nvSpPr>
        <p:spPr>
          <a:xfrm>
            <a:off x="1371600" y="164338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Camera / video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PS: crop to 256×256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A49EB3D-AC56-4187-A14E-6D9D63980B10}"/>
              </a:ext>
            </a:extLst>
          </p:cNvPr>
          <p:cNvSpPr/>
          <p:nvPr/>
        </p:nvSpPr>
        <p:spPr>
          <a:xfrm>
            <a:off x="5715000" y="164338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Touch-screen GUI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PS: display, control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C0E6F7F-51AB-470C-244D-7F2B295B3DBA}"/>
              </a:ext>
            </a:extLst>
          </p:cNvPr>
          <p:cNvCxnSpPr/>
          <p:nvPr/>
        </p:nvCxnSpPr>
        <p:spPr>
          <a:xfrm>
            <a:off x="3276600" y="175006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FE896E5-A4F9-E9E1-C3B4-4B8B48E83AA5}"/>
              </a:ext>
            </a:extLst>
          </p:cNvPr>
          <p:cNvCxnSpPr/>
          <p:nvPr/>
        </p:nvCxnSpPr>
        <p:spPr>
          <a:xfrm flipV="1">
            <a:off x="7620000" y="175006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4E1F4B4-3841-76D6-6E60-2AF65551497E}"/>
              </a:ext>
            </a:extLst>
          </p:cNvPr>
          <p:cNvSpPr/>
          <p:nvPr/>
        </p:nvSpPr>
        <p:spPr>
          <a:xfrm>
            <a:off x="1371600" y="178562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DeepJSCC-Q encoder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PL, W8A12, 250 MHz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E06D000-9498-1422-E26D-315D3B23AEB2}"/>
              </a:ext>
            </a:extLst>
          </p:cNvPr>
          <p:cNvSpPr/>
          <p:nvPr/>
        </p:nvSpPr>
        <p:spPr>
          <a:xfrm>
            <a:off x="5715000" y="178562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DeepJSCC-Q decoder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soft I/Q in, no hard decision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34003DC-0914-0C82-7778-73033423426D}"/>
              </a:ext>
            </a:extLst>
          </p:cNvPr>
          <p:cNvCxnSpPr/>
          <p:nvPr/>
        </p:nvCxnSpPr>
        <p:spPr>
          <a:xfrm>
            <a:off x="3276600" y="189230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99D935D-A358-F8F9-8287-970BDF15EA3A}"/>
              </a:ext>
            </a:extLst>
          </p:cNvPr>
          <p:cNvCxnSpPr/>
          <p:nvPr/>
        </p:nvCxnSpPr>
        <p:spPr>
          <a:xfrm flipV="1">
            <a:off x="7620000" y="189230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1D040C9-B72C-A27D-AA71-613D0F1EE70A}"/>
              </a:ext>
            </a:extLst>
          </p:cNvPr>
          <p:cNvSpPr/>
          <p:nvPr/>
        </p:nvSpPr>
        <p:spPr>
          <a:xfrm>
            <a:off x="1371600" y="192786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nb-NO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OFDM transmitter</a:t>
            </a:r>
          </a:p>
          <a:p>
            <a:pPr algn="ctr"/>
            <a:r>
              <a:rPr lang="nb-NO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PN flip, IFFT, frame buffer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A048B1B-537F-CABB-E4FB-FDE4BA8F61B9}"/>
              </a:ext>
            </a:extLst>
          </p:cNvPr>
          <p:cNvSpPr/>
          <p:nvPr/>
        </p:nvSpPr>
        <p:spPr>
          <a:xfrm>
            <a:off x="5715000" y="192786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OFDM receiver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sync, 2×LTF CE, SFO / CPE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97BE20F-A6B1-0F10-CC60-D17E0A19AAA3}"/>
              </a:ext>
            </a:extLst>
          </p:cNvPr>
          <p:cNvCxnSpPr/>
          <p:nvPr/>
        </p:nvCxnSpPr>
        <p:spPr>
          <a:xfrm>
            <a:off x="3276600" y="203454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BE86A3A-9B45-8E1A-EE33-F0B9520E3904}"/>
              </a:ext>
            </a:extLst>
          </p:cNvPr>
          <p:cNvCxnSpPr/>
          <p:nvPr/>
        </p:nvCxnSpPr>
        <p:spPr>
          <a:xfrm flipV="1">
            <a:off x="7620000" y="20345400"/>
            <a:ext cx="0" cy="35560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D4AE8C9-F5D5-D17D-5F12-B1F2E692162D}"/>
              </a:ext>
            </a:extLst>
          </p:cNvPr>
          <p:cNvSpPr/>
          <p:nvPr/>
        </p:nvSpPr>
        <p:spPr>
          <a:xfrm>
            <a:off x="1371600" y="207010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AD9361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915 MHz, 20 MSPS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B788CED-7AC2-2F94-3076-19AE6E0B21C5}"/>
              </a:ext>
            </a:extLst>
          </p:cNvPr>
          <p:cNvSpPr/>
          <p:nvPr/>
        </p:nvSpPr>
        <p:spPr>
          <a:xfrm>
            <a:off x="5715000" y="20701000"/>
            <a:ext cx="3810000" cy="106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AD9361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fast AGC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777CC2A-A9EA-327E-0ECA-F7D165357350}"/>
              </a:ext>
            </a:extLst>
          </p:cNvPr>
          <p:cNvCxnSpPr/>
          <p:nvPr/>
        </p:nvCxnSpPr>
        <p:spPr>
          <a:xfrm>
            <a:off x="5181600" y="21234400"/>
            <a:ext cx="533400" cy="0"/>
          </a:xfrm>
          <a:prstGeom prst="straightConnector1">
            <a:avLst/>
          </a:prstGeom>
          <a:ln w="50800">
            <a:solidFill>
              <a:srgbClr val="D953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83D90D8-B540-B63D-D16E-88E5C150E940}"/>
              </a:ext>
            </a:extLst>
          </p:cNvPr>
          <p:cNvSpPr txBox="1"/>
          <p:nvPr/>
        </p:nvSpPr>
        <p:spPr>
          <a:xfrm>
            <a:off x="5181600" y="20726400"/>
            <a:ext cx="53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D9531E"/>
                </a:solidFill>
                <a:latin typeface="Calibri" panose="020F0502020204030204" pitchFamily="34" charset="0"/>
              </a:rPr>
              <a:t>air</a:t>
            </a:r>
            <a:endParaRPr lang="zh-CN" altLang="en-US" sz="2200" b="1">
              <a:solidFill>
                <a:srgbClr val="D9531E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F1D8FC9-082C-DE8A-C848-C419B4B49DEE}"/>
              </a:ext>
            </a:extLst>
          </p:cNvPr>
          <p:cNvSpPr txBox="1"/>
          <p:nvPr/>
        </p:nvSpPr>
        <p:spPr>
          <a:xfrm>
            <a:off x="1371600" y="22047200"/>
            <a:ext cx="81534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06D"/>
                </a:solidFill>
                <a:latin typeface="Calibri" panose="020F0502020204030204" pitchFamily="34" charset="0"/>
              </a:rPr>
              <a:t>One frame = one image = 32,768 64-QAM symbols = 683 OFDM symbols (2.75 ms on air). The coded image crosses the air link only; Ethernet carries control and the TX preview used for PSNR.</a:t>
            </a:r>
            <a:endParaRPr lang="zh-CN" altLang="en-US" sz="21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card 3">
            <a:extLst>
              <a:ext uri="{FF2B5EF4-FFF2-40B4-BE49-F238E27FC236}">
                <a16:creationId xmlns:a16="http://schemas.microsoft.com/office/drawing/2014/main" id="{A35961E8-923B-F22B-246F-F0B3A92C2836}"/>
              </a:ext>
            </a:extLst>
          </p:cNvPr>
          <p:cNvSpPr/>
          <p:nvPr/>
        </p:nvSpPr>
        <p:spPr>
          <a:xfrm>
            <a:off x="914400" y="23368000"/>
            <a:ext cx="9067800" cy="6921500"/>
          </a:xfrm>
          <a:prstGeom prst="roundRect">
            <a:avLst>
              <a:gd name="adj" fmla="val 3303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badge 3">
            <a:extLst>
              <a:ext uri="{FF2B5EF4-FFF2-40B4-BE49-F238E27FC236}">
                <a16:creationId xmlns:a16="http://schemas.microsoft.com/office/drawing/2014/main" id="{83E829D4-E89E-12D6-B636-68EBFC610B57}"/>
              </a:ext>
            </a:extLst>
          </p:cNvPr>
          <p:cNvSpPr/>
          <p:nvPr/>
        </p:nvSpPr>
        <p:spPr>
          <a:xfrm>
            <a:off x="1270000" y="23698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title 3">
            <a:extLst>
              <a:ext uri="{FF2B5EF4-FFF2-40B4-BE49-F238E27FC236}">
                <a16:creationId xmlns:a16="http://schemas.microsoft.com/office/drawing/2014/main" id="{CF73AC8B-9440-7F1B-CAB3-30F1353FBD4E}"/>
              </a:ext>
            </a:extLst>
          </p:cNvPr>
          <p:cNvSpPr txBox="1"/>
          <p:nvPr/>
        </p:nvSpPr>
        <p:spPr>
          <a:xfrm>
            <a:off x="2235200" y="23698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DeepJSCC-Q network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1A3FD2B-4D0A-D714-9BE0-AD7AB7800639}"/>
              </a:ext>
            </a:extLst>
          </p:cNvPr>
          <p:cNvSpPr txBox="1"/>
          <p:nvPr/>
        </p:nvSpPr>
        <p:spPr>
          <a:xfrm>
            <a:off x="1371600" y="24638000"/>
            <a:ext cx="815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altLang="zh-CN" sz="2100" b="1">
                <a:solidFill>
                  <a:srgbClr val="52606D"/>
                </a:solidFill>
                <a:latin typeface="Calibri" panose="020F0502020204030204" pitchFamily="34" charset="0"/>
              </a:rPr>
              <a:t>Encoder: 256x256x3 image -&gt; 64x64x16 latent (55 conv)</a:t>
            </a:r>
            <a:endParaRPr lang="zh-CN" altLang="en-US" sz="2100" b="1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A9A2BE7-BE36-6A64-1629-6F78AF38BBC6}"/>
              </a:ext>
            </a:extLst>
          </p:cNvPr>
          <p:cNvSpPr/>
          <p:nvPr/>
        </p:nvSpPr>
        <p:spPr>
          <a:xfrm>
            <a:off x="1371600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RG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523B5AB-B9F6-DE4A-DD43-98A9B3519A78}"/>
              </a:ext>
            </a:extLst>
          </p:cNvPr>
          <p:cNvSpPr/>
          <p:nvPr/>
        </p:nvSpPr>
        <p:spPr>
          <a:xfrm>
            <a:off x="2302933" y="25069800"/>
            <a:ext cx="702734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0E9C90F-E2BE-2FB5-C9EA-BA5ABBF68EC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2074333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1B7CAA0-425A-A876-08E0-456A8C77BAD3}"/>
              </a:ext>
            </a:extLst>
          </p:cNvPr>
          <p:cNvSpPr/>
          <p:nvPr/>
        </p:nvSpPr>
        <p:spPr>
          <a:xfrm>
            <a:off x="3234267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RG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C0EC43B-DABB-1B94-DB9F-9A03623A105E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>
            <a:off x="3005667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DDE98B8-B1A7-8372-5C0F-963CF420C963}"/>
              </a:ext>
            </a:extLst>
          </p:cNvPr>
          <p:cNvSpPr/>
          <p:nvPr/>
        </p:nvSpPr>
        <p:spPr>
          <a:xfrm>
            <a:off x="4165600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ATT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64A2574-DB48-9732-B844-7E34A6473E94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3937000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13F93AF-8654-67F4-9F0F-D8CB223A2F1E}"/>
              </a:ext>
            </a:extLst>
          </p:cNvPr>
          <p:cNvSpPr/>
          <p:nvPr/>
        </p:nvSpPr>
        <p:spPr>
          <a:xfrm>
            <a:off x="5096933" y="25069800"/>
            <a:ext cx="702734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10BA6CB-54D5-A91F-02D8-9A4FD99082D0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4868333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A95BEF9-7831-9319-95A3-9836EBE542AF}"/>
              </a:ext>
            </a:extLst>
          </p:cNvPr>
          <p:cNvSpPr/>
          <p:nvPr/>
        </p:nvSpPr>
        <p:spPr>
          <a:xfrm>
            <a:off x="6028267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RG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27F54B7-7DBA-C315-8DF1-C8B0BBB0078D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5799667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FE23C0F-74AF-2F62-3E69-2FF6F29DF10B}"/>
              </a:ext>
            </a:extLst>
          </p:cNvPr>
          <p:cNvSpPr/>
          <p:nvPr/>
        </p:nvSpPr>
        <p:spPr>
          <a:xfrm>
            <a:off x="6959600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0188A99-77CC-A3A0-21C8-C1E4BFB430EF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>
            <a:off x="6731000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330DA733-1AE0-480D-6301-EA65E33DF1F1}"/>
              </a:ext>
            </a:extLst>
          </p:cNvPr>
          <p:cNvSpPr/>
          <p:nvPr/>
        </p:nvSpPr>
        <p:spPr>
          <a:xfrm>
            <a:off x="7890933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RG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BEADFA17-01B1-114A-1CB8-6402C9CFD700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>
            <a:off x="7662333" y="25400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C5BE1D9E-AF82-EB42-A000-E129EADD7E6E}"/>
              </a:ext>
            </a:extLst>
          </p:cNvPr>
          <p:cNvSpPr/>
          <p:nvPr/>
        </p:nvSpPr>
        <p:spPr>
          <a:xfrm>
            <a:off x="8822267" y="25069800"/>
            <a:ext cx="702733" cy="660400"/>
          </a:xfrm>
          <a:prstGeom prst="roundRect">
            <a:avLst>
              <a:gd name="adj" fmla="val 18000"/>
            </a:avLst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ATT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FCD6A74-56ED-1311-0DF2-F882231912A3}"/>
              </a:ext>
            </a:extLst>
          </p:cNvPr>
          <p:cNvCxnSpPr>
            <a:cxnSpLocks/>
            <a:stCxn id="64" idx="3"/>
            <a:endCxn id="66" idx="1"/>
          </p:cNvCxnSpPr>
          <p:nvPr/>
        </p:nvCxnSpPr>
        <p:spPr>
          <a:xfrm>
            <a:off x="8593666" y="25400000"/>
            <a:ext cx="228601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964E846-C7C8-3B26-F119-7628F9B51033}"/>
              </a:ext>
            </a:extLst>
          </p:cNvPr>
          <p:cNvSpPr/>
          <p:nvPr/>
        </p:nvSpPr>
        <p:spPr>
          <a:xfrm>
            <a:off x="13716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ATT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41BC8F7-D843-C3DB-F6A7-BBF9C9AFEEB1}"/>
              </a:ext>
            </a:extLst>
          </p:cNvPr>
          <p:cNvSpPr/>
          <p:nvPr/>
        </p:nvSpPr>
        <p:spPr>
          <a:xfrm>
            <a:off x="22098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4B3A299-2F96-CE9C-3486-70B333E05587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>
            <a:off x="19812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470AFDD4-E226-5F29-E3C6-7DD2CA6E58CA}"/>
              </a:ext>
            </a:extLst>
          </p:cNvPr>
          <p:cNvSpPr/>
          <p:nvPr/>
        </p:nvSpPr>
        <p:spPr>
          <a:xfrm>
            <a:off x="30480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RU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B06A2E5B-2E40-9910-2853-370A1E993FE1}"/>
              </a:ext>
            </a:extLst>
          </p:cNvPr>
          <p:cNvCxnSpPr>
            <a:cxnSpLocks/>
            <a:stCxn id="69" idx="3"/>
            <a:endCxn id="71" idx="1"/>
          </p:cNvCxnSpPr>
          <p:nvPr/>
        </p:nvCxnSpPr>
        <p:spPr>
          <a:xfrm>
            <a:off x="28194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22F7CD4-F9A4-DAD2-EE37-5A76433A05ED}"/>
              </a:ext>
            </a:extLst>
          </p:cNvPr>
          <p:cNvSpPr/>
          <p:nvPr/>
        </p:nvSpPr>
        <p:spPr>
          <a:xfrm>
            <a:off x="38862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752A47E-3503-E329-8F0F-C36D7456ED9B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36576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045B200C-4815-A66E-F932-4F924BC67AF7}"/>
              </a:ext>
            </a:extLst>
          </p:cNvPr>
          <p:cNvSpPr/>
          <p:nvPr/>
        </p:nvSpPr>
        <p:spPr>
          <a:xfrm>
            <a:off x="47244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RU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0E969EF-D9F9-806E-0E65-337C445E6A20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>
            <a:off x="44958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7E0FC30F-0ECF-A5B7-32D3-AC882033B662}"/>
              </a:ext>
            </a:extLst>
          </p:cNvPr>
          <p:cNvSpPr/>
          <p:nvPr/>
        </p:nvSpPr>
        <p:spPr>
          <a:xfrm>
            <a:off x="55626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ATT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108F778-4FD6-B721-EB31-D4295791D73F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53340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DA13281-C3B0-0FB4-561D-7A0BB779DDCF}"/>
              </a:ext>
            </a:extLst>
          </p:cNvPr>
          <p:cNvSpPr/>
          <p:nvPr/>
        </p:nvSpPr>
        <p:spPr>
          <a:xfrm>
            <a:off x="64008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BC52AE9-F1BD-99DA-C428-1973786360F2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>
          <a:xfrm>
            <a:off x="61722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9FB2EE3-7EB2-8583-E898-28FC73D1867F}"/>
              </a:ext>
            </a:extLst>
          </p:cNvPr>
          <p:cNvSpPr/>
          <p:nvPr/>
        </p:nvSpPr>
        <p:spPr>
          <a:xfrm>
            <a:off x="72390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RU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758C07D-8883-81B7-5483-A60150AF9704}"/>
              </a:ext>
            </a:extLst>
          </p:cNvPr>
          <p:cNvCxnSpPr>
            <a:cxnSpLocks/>
            <a:stCxn id="79" idx="3"/>
            <a:endCxn id="81" idx="1"/>
          </p:cNvCxnSpPr>
          <p:nvPr/>
        </p:nvCxnSpPr>
        <p:spPr>
          <a:xfrm>
            <a:off x="70104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872A803-6936-04F5-601D-5DFC24B772A8}"/>
              </a:ext>
            </a:extLst>
          </p:cNvPr>
          <p:cNvSpPr/>
          <p:nvPr/>
        </p:nvSpPr>
        <p:spPr>
          <a:xfrm>
            <a:off x="80772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RB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2B6EDCE-EFB3-6566-DB2E-8009C3694EC5}"/>
              </a:ext>
            </a:extLst>
          </p:cNvPr>
          <p:cNvCxnSpPr>
            <a:cxnSpLocks/>
            <a:stCxn id="81" idx="3"/>
            <a:endCxn id="83" idx="1"/>
          </p:cNvCxnSpPr>
          <p:nvPr/>
        </p:nvCxnSpPr>
        <p:spPr>
          <a:xfrm>
            <a:off x="78486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A3E4ACE8-3721-D083-7121-81E177E6009C}"/>
              </a:ext>
            </a:extLst>
          </p:cNvPr>
          <p:cNvSpPr/>
          <p:nvPr/>
        </p:nvSpPr>
        <p:spPr>
          <a:xfrm>
            <a:off x="8915400" y="26593800"/>
            <a:ext cx="609600" cy="660400"/>
          </a:xfrm>
          <a:prstGeom prst="roundRect">
            <a:avLst>
              <a:gd name="adj" fmla="val 18000"/>
            </a:avLst>
          </a:prstGeom>
          <a:solidFill>
            <a:srgbClr val="2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Calibri" panose="020F0502020204030204" pitchFamily="34" charset="0"/>
              </a:rPr>
              <a:t>RU</a:t>
            </a:r>
            <a:endParaRPr lang="zh-CN" altLang="en-US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038C8D5A-6088-ACD2-67D9-7FA8CECA2677}"/>
              </a:ext>
            </a:extLst>
          </p:cNvPr>
          <p:cNvCxnSpPr>
            <a:cxnSpLocks/>
            <a:stCxn id="83" idx="3"/>
            <a:endCxn id="85" idx="1"/>
          </p:cNvCxnSpPr>
          <p:nvPr/>
        </p:nvCxnSpPr>
        <p:spPr>
          <a:xfrm>
            <a:off x="8686800" y="26924000"/>
            <a:ext cx="228600" cy="0"/>
          </a:xfrm>
          <a:prstGeom prst="straightConnector1">
            <a:avLst/>
          </a:prstGeom>
          <a:ln w="31750">
            <a:solidFill>
              <a:srgbClr val="52606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D0DA5DB7-4612-F2A8-8C87-A889ACA3AF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rot="5400000">
            <a:off x="4993217" y="22413383"/>
            <a:ext cx="863600" cy="7497234"/>
          </a:xfrm>
          <a:prstGeom prst="bentConnector3">
            <a:avLst>
              <a:gd name="adj1" fmla="val 50000"/>
            </a:avLst>
          </a:prstGeom>
          <a:ln w="38100">
            <a:solidFill>
              <a:srgbClr val="D953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215208B2-596E-BAA4-78CD-AA46FB0F1D13}"/>
              </a:ext>
            </a:extLst>
          </p:cNvPr>
          <p:cNvSpPr/>
          <p:nvPr/>
        </p:nvSpPr>
        <p:spPr>
          <a:xfrm>
            <a:off x="2463800" y="25933400"/>
            <a:ext cx="5969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D953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de-DE" altLang="zh-CN" sz="2000" b="1">
                <a:solidFill>
                  <a:srgbClr val="D9531E"/>
                </a:solidFill>
                <a:latin typeface="Calibri" panose="020F0502020204030204" pitchFamily="34" charset="0"/>
              </a:rPr>
              <a:t>32,768 64-QAM symbols (0.5 symbol / pixel)</a:t>
            </a:r>
            <a:endParaRPr lang="zh-CN" altLang="en-US" sz="2000" b="1">
              <a:solidFill>
                <a:srgbClr val="D9531E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EEFF4AD-1C6E-F45B-8DB0-F6EEEA4F4E7D}"/>
              </a:ext>
            </a:extLst>
          </p:cNvPr>
          <p:cNvSpPr txBox="1"/>
          <p:nvPr/>
        </p:nvSpPr>
        <p:spPr>
          <a:xfrm>
            <a:off x="1371600" y="27355800"/>
            <a:ext cx="815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52606D"/>
                </a:solidFill>
                <a:latin typeface="Calibri" panose="020F0502020204030204" pitchFamily="34" charset="0"/>
              </a:rPr>
              <a:t>Decoder: soft I/Q -&gt; image (59 conv)</a:t>
            </a:r>
            <a:endParaRPr lang="zh-CN" altLang="en-US" sz="2100" b="1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A0497CE-EA51-BBA6-2D2E-91DFF9933C16}"/>
              </a:ext>
            </a:extLst>
          </p:cNvPr>
          <p:cNvSpPr txBox="1"/>
          <p:nvPr/>
        </p:nvSpPr>
        <p:spPr>
          <a:xfrm>
            <a:off x="1371600" y="27762200"/>
            <a:ext cx="815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2606D"/>
                </a:solidFill>
                <a:latin typeface="Calibri" panose="020F0502020204030204" pitchFamily="34" charset="0"/>
              </a:rPr>
              <a:t>RG/RB residual (+GDN), ATT attention, RU PixelShuffle (+IGDN)</a:t>
            </a:r>
            <a:endParaRPr lang="zh-CN" altLang="en-US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5FD9853-C7C6-68B2-951F-4A7D5C567B37}"/>
              </a:ext>
            </a:extLst>
          </p:cNvPr>
          <p:cNvSpPr txBox="1"/>
          <p:nvPr/>
        </p:nvSpPr>
        <p:spPr>
          <a:xfrm>
            <a:off x="1371600" y="28270200"/>
            <a:ext cx="81534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C = 32, 16 latent channels, 4× down-sampling: same 32,768 symbols as [2] with 1/51 of its MACs; trained at 10 dB AWGN with a constellation-entropy (KL) penalty.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W8A12 post-training quantization: 0.05 dB below float (DIV2K); RTL bit-exact against the integer model.</a:t>
            </a:r>
            <a:endParaRPr lang="zh-CN" altLang="en-US" sz="2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card 4">
            <a:extLst>
              <a:ext uri="{FF2B5EF4-FFF2-40B4-BE49-F238E27FC236}">
                <a16:creationId xmlns:a16="http://schemas.microsoft.com/office/drawing/2014/main" id="{2E2169F8-3155-6A13-439B-586F6311E7FF}"/>
              </a:ext>
            </a:extLst>
          </p:cNvPr>
          <p:cNvSpPr/>
          <p:nvPr/>
        </p:nvSpPr>
        <p:spPr>
          <a:xfrm>
            <a:off x="914400" y="30670500"/>
            <a:ext cx="9067800" cy="9207500"/>
          </a:xfrm>
          <a:prstGeom prst="roundRect">
            <a:avLst>
              <a:gd name="adj" fmla="val 2521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badge 4">
            <a:extLst>
              <a:ext uri="{FF2B5EF4-FFF2-40B4-BE49-F238E27FC236}">
                <a16:creationId xmlns:a16="http://schemas.microsoft.com/office/drawing/2014/main" id="{D9DD6845-9065-B838-B1EC-22F8A78807BE}"/>
              </a:ext>
            </a:extLst>
          </p:cNvPr>
          <p:cNvSpPr/>
          <p:nvPr/>
        </p:nvSpPr>
        <p:spPr>
          <a:xfrm>
            <a:off x="1270000" y="310007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title 4">
            <a:extLst>
              <a:ext uri="{FF2B5EF4-FFF2-40B4-BE49-F238E27FC236}">
                <a16:creationId xmlns:a16="http://schemas.microsoft.com/office/drawing/2014/main" id="{88593BBD-434A-02CD-1B27-C5A9647CCE69}"/>
              </a:ext>
            </a:extLst>
          </p:cNvPr>
          <p:cNvSpPr txBox="1"/>
          <p:nvPr/>
        </p:nvSpPr>
        <p:spPr>
          <a:xfrm>
            <a:off x="2235200" y="310007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OFDM PHY and RF front end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C59AB35-4DAC-3D3E-B832-5EFC7A9B2C85}"/>
              </a:ext>
            </a:extLst>
          </p:cNvPr>
          <p:cNvSpPr txBox="1"/>
          <p:nvPr/>
        </p:nvSpPr>
        <p:spPr>
          <a:xfrm>
            <a:off x="1371600" y="31991300"/>
            <a:ext cx="8153400" cy="381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64-pt FFT, 48 data + 4 pilots; PN sign flip: 99 % PAPR 10.1-10.7 -&gt; 9.4-9.8 dB.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Second-order SFO / CPE loop, no steady-state error under a 40 ppm ramp: frame-end EVM within 1.7 dB of the start (683 symbols).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AD9361: SPI handshake fixed, TX quadrature-calibration phase search in PL, FIR redesigned: loopback EVM -22 -&gt; -32 dB.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Fast AGC locked at -14 dBFS with a PL-counter watchdog; PHY alone: 0 errors in 7.15×10^8 bits.</a:t>
            </a:r>
            <a:endParaRPr lang="zh-CN" altLang="en-US" sz="2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B36CC9BC-6420-6212-C1D9-935382174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36156901"/>
            <a:ext cx="6223000" cy="3378895"/>
          </a:xfrm>
          <a:prstGeom prst="rect">
            <a:avLst/>
          </a:prstGeom>
          <a:ln w="19050">
            <a:solidFill>
              <a:srgbClr val="B8C7D6"/>
            </a:solidFill>
          </a:ln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59949D33-3E46-B11E-C04E-F6FC0F39F0F3}"/>
              </a:ext>
            </a:extLst>
          </p:cNvPr>
          <p:cNvSpPr txBox="1"/>
          <p:nvPr/>
        </p:nvSpPr>
        <p:spPr>
          <a:xfrm>
            <a:off x="1371600" y="39611995"/>
            <a:ext cx="815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52606D"/>
                </a:solidFill>
                <a:latin typeface="Calibri" panose="020F0502020204030204" pitchFamily="34" charset="0"/>
              </a:rPr>
              <a:t>Live RX GUI: constellations, |H| vs time (Mali-400 GPU), per-subcarrier SNR, spectrum</a:t>
            </a:r>
            <a:endParaRPr lang="zh-CN" altLang="en-US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card 5">
            <a:extLst>
              <a:ext uri="{FF2B5EF4-FFF2-40B4-BE49-F238E27FC236}">
                <a16:creationId xmlns:a16="http://schemas.microsoft.com/office/drawing/2014/main" id="{0CF138FB-B619-5FFF-55E2-69301234A0E6}"/>
              </a:ext>
            </a:extLst>
          </p:cNvPr>
          <p:cNvSpPr/>
          <p:nvPr/>
        </p:nvSpPr>
        <p:spPr>
          <a:xfrm>
            <a:off x="10591800" y="7239000"/>
            <a:ext cx="9067800" cy="13462000"/>
          </a:xfrm>
          <a:prstGeom prst="roundRect">
            <a:avLst>
              <a:gd name="adj" fmla="val 2521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badge 5">
            <a:extLst>
              <a:ext uri="{FF2B5EF4-FFF2-40B4-BE49-F238E27FC236}">
                <a16:creationId xmlns:a16="http://schemas.microsoft.com/office/drawing/2014/main" id="{B87A8511-2E51-A4FA-87DF-C095493DA41C}"/>
              </a:ext>
            </a:extLst>
          </p:cNvPr>
          <p:cNvSpPr/>
          <p:nvPr/>
        </p:nvSpPr>
        <p:spPr>
          <a:xfrm>
            <a:off x="10947400" y="7569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title 5">
            <a:extLst>
              <a:ext uri="{FF2B5EF4-FFF2-40B4-BE49-F238E27FC236}">
                <a16:creationId xmlns:a16="http://schemas.microsoft.com/office/drawing/2014/main" id="{C20A0E08-E8C7-94A0-2E42-2FAEE373FB17}"/>
              </a:ext>
            </a:extLst>
          </p:cNvPr>
          <p:cNvSpPr txBox="1"/>
          <p:nvPr/>
        </p:nvSpPr>
        <p:spPr>
          <a:xfrm>
            <a:off x="11912600" y="7569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Layer-streaming CNN engine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3B381C3-1516-429C-F471-848178BA5F87}"/>
              </a:ext>
            </a:extLst>
          </p:cNvPr>
          <p:cNvSpPr txBox="1"/>
          <p:nvPr/>
        </p:nvSpPr>
        <p:spPr>
          <a:xfrm>
            <a:off x="11049000" y="8636000"/>
            <a:ext cx="8153400" cy="457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One engine per layer, chained by AXI-Stream with back-pressure: only line buffers, no frame storage.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Output-channel parallelism P chosen per layer: the smallest P that meets 30 fps at 250 MHz.</a:t>
            </a:r>
          </a:p>
          <a:p>
            <a:pPr marL="266700" indent="-2667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300">
                <a:solidFill>
                  <a:srgbClr val="1F2933"/>
                </a:solidFill>
                <a:latin typeface="Calibri" panose="020F0502020204030204" pitchFamily="34" charset="0"/>
              </a:rPr>
              <a:t>Branches that read the same input share one window reader; weights in LUT, BRAM or packed BRAM + gearbox; large activation buffers in URAM.</a:t>
            </a:r>
            <a:endParaRPr lang="zh-CN" altLang="en-US" sz="2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D9AADF56-7A2E-072B-B834-001DFAA75A6B}"/>
              </a:ext>
            </a:extLst>
          </p:cNvPr>
          <p:cNvSpPr/>
          <p:nvPr/>
        </p:nvSpPr>
        <p:spPr>
          <a:xfrm>
            <a:off x="11049000" y="12319000"/>
            <a:ext cx="1778000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Line buffer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K or K+1 rows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6CF68156-A2A1-D8D8-7094-E1BD5ECDA4A8}"/>
              </a:ext>
            </a:extLst>
          </p:cNvPr>
          <p:cNvCxnSpPr/>
          <p:nvPr/>
        </p:nvCxnSpPr>
        <p:spPr>
          <a:xfrm>
            <a:off x="12827000" y="12928600"/>
            <a:ext cx="347134" cy="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A8D04817-4A89-8016-1FB6-C0133437B0FB}"/>
              </a:ext>
            </a:extLst>
          </p:cNvPr>
          <p:cNvSpPr/>
          <p:nvPr/>
        </p:nvSpPr>
        <p:spPr>
          <a:xfrm>
            <a:off x="13174134" y="12319000"/>
            <a:ext cx="1778000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Window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K×K×Cin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D7BD9C74-AD02-0662-E111-C4592100BA99}"/>
              </a:ext>
            </a:extLst>
          </p:cNvPr>
          <p:cNvCxnSpPr/>
          <p:nvPr/>
        </p:nvCxnSpPr>
        <p:spPr>
          <a:xfrm>
            <a:off x="14952134" y="12928600"/>
            <a:ext cx="347132" cy="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3F65A75A-35D1-93F2-5831-CA8E6E2C3031}"/>
              </a:ext>
            </a:extLst>
          </p:cNvPr>
          <p:cNvSpPr/>
          <p:nvPr/>
        </p:nvSpPr>
        <p:spPr>
          <a:xfrm>
            <a:off x="15299266" y="12319000"/>
            <a:ext cx="1778000" cy="12192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P MAC lanes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weights x P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539E4C7-AAFA-4591-4799-F43F95EC4BD4}"/>
              </a:ext>
            </a:extLst>
          </p:cNvPr>
          <p:cNvCxnSpPr/>
          <p:nvPr/>
        </p:nvCxnSpPr>
        <p:spPr>
          <a:xfrm>
            <a:off x="17077266" y="12928600"/>
            <a:ext cx="347134" cy="0"/>
          </a:xfrm>
          <a:prstGeom prst="straightConnector1">
            <a:avLst/>
          </a:prstGeom>
          <a:ln w="50800">
            <a:solidFill>
              <a:srgbClr val="5260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07D0067F-9E5E-FCC4-0850-9FD0F86312F5}"/>
              </a:ext>
            </a:extLst>
          </p:cNvPr>
          <p:cNvSpPr/>
          <p:nvPr/>
        </p:nvSpPr>
        <p:spPr>
          <a:xfrm>
            <a:off x="17424400" y="12319000"/>
            <a:ext cx="1778000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B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lang="en-US" altLang="zh-CN" sz="2300" b="1">
                <a:solidFill>
                  <a:srgbClr val="1F2933"/>
                </a:solidFill>
                <a:latin typeface="Calibri" panose="020F0502020204030204" pitchFamily="34" charset="0"/>
              </a:rPr>
              <a:t>Requantize</a:t>
            </a:r>
          </a:p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bias, act., shift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E7E3D2F-E67B-9923-EA27-3223FA87BF7C}"/>
              </a:ext>
            </a:extLst>
          </p:cNvPr>
          <p:cNvSpPr txBox="1"/>
          <p:nvPr/>
        </p:nvSpPr>
        <p:spPr>
          <a:xfrm>
            <a:off x="11049000" y="13639800"/>
            <a:ext cx="8153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900">
                <a:solidFill>
                  <a:srgbClr val="52606D"/>
                </a:solidFill>
                <a:latin typeface="Calibri" panose="020F0502020204030204" pitchFamily="34" charset="0"/>
              </a:rPr>
              <a:t>per layer; groups of P output channels re-read the window</a:t>
            </a:r>
            <a:endParaRPr lang="zh-CN" altLang="en-US" sz="1900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4D7C0D9-1D66-00A8-9E35-7B2C7838438E}"/>
              </a:ext>
            </a:extLst>
          </p:cNvPr>
          <p:cNvSpPr txBox="1"/>
          <p:nvPr/>
        </p:nvSpPr>
        <p:spPr>
          <a:xfrm>
            <a:off x="11049000" y="14478000"/>
            <a:ext cx="8153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 b="1">
                <a:solidFill>
                  <a:srgbClr val="0B4F8A"/>
                </a:solidFill>
                <a:latin typeface="Calibri" panose="020F0502020204030204" pitchFamily="34" charset="0"/>
              </a:rPr>
              <a:t>Network sized for on-chip storage (256x256 input)</a:t>
            </a:r>
            <a:endParaRPr lang="zh-CN" altLang="en-US" sz="24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12" name="表格 111">
            <a:extLst>
              <a:ext uri="{FF2B5EF4-FFF2-40B4-BE49-F238E27FC236}">
                <a16:creationId xmlns:a16="http://schemas.microsoft.com/office/drawing/2014/main" id="{4A0C434F-77A0-3C20-217B-7B69E6CC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30044"/>
              </p:ext>
            </p:extLst>
          </p:nvPr>
        </p:nvGraphicFramePr>
        <p:xfrm>
          <a:off x="11049000" y="14986000"/>
          <a:ext cx="81534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0">
                  <a:extLst>
                    <a:ext uri="{9D8B030D-6E8A-4147-A177-3AD203B41FA5}">
                      <a16:colId xmlns:a16="http://schemas.microsoft.com/office/drawing/2014/main" val="278746865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3313509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7677928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DeepJSCC-Q [2]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This work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51839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Channels / down-sampling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256 / 16x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32 / 4x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5483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Conv. MAC enc. / dec.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47.7 / 70.5 G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0.91 / 1.42 G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01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Parameters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34.4 M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387 k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7245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Kodak PSNR, 10 dB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34.9 dB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33.3 dB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47767"/>
                  </a:ext>
                </a:extLst>
              </a:tr>
            </a:tbl>
          </a:graphicData>
        </a:graphic>
      </p:graphicFrame>
      <p:sp>
        <p:nvSpPr>
          <p:cNvPr id="113" name="文本框 112">
            <a:extLst>
              <a:ext uri="{FF2B5EF4-FFF2-40B4-BE49-F238E27FC236}">
                <a16:creationId xmlns:a16="http://schemas.microsoft.com/office/drawing/2014/main" id="{52A4F72B-8C68-CBE6-E746-2F023F52F9BE}"/>
              </a:ext>
            </a:extLst>
          </p:cNvPr>
          <p:cNvSpPr txBox="1"/>
          <p:nvPr/>
        </p:nvSpPr>
        <p:spPr>
          <a:xfrm>
            <a:off x="11049000" y="17932400"/>
            <a:ext cx="8153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 b="1">
                <a:solidFill>
                  <a:srgbClr val="0B4F8A"/>
                </a:solidFill>
                <a:latin typeface="Calibri" panose="020F0502020204030204" pitchFamily="34" charset="0"/>
              </a:rPr>
              <a:t>Full TX / RX designs (xczu5eg, routed)</a:t>
            </a:r>
            <a:endParaRPr lang="zh-CN" altLang="en-US" sz="24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14" name="表格 113">
            <a:extLst>
              <a:ext uri="{FF2B5EF4-FFF2-40B4-BE49-F238E27FC236}">
                <a16:creationId xmlns:a16="http://schemas.microsoft.com/office/drawing/2014/main" id="{88198563-9479-7BB1-B8A6-ED1957E36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4482"/>
              </p:ext>
            </p:extLst>
          </p:nvPr>
        </p:nvGraphicFramePr>
        <p:xfrm>
          <a:off x="11049000" y="18440400"/>
          <a:ext cx="8153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18589956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930106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86465995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65141929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53126203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92726539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LUT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BRAM36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URAM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DSP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WNS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7988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TX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52.7k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104.5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243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+0.15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936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RX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70.8k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123.5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394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+0.23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01674"/>
                  </a:ext>
                </a:extLst>
              </a:tr>
            </a:tbl>
          </a:graphicData>
        </a:graphic>
      </p:graphicFrame>
      <p:sp>
        <p:nvSpPr>
          <p:cNvPr id="115" name="card 6">
            <a:extLst>
              <a:ext uri="{FF2B5EF4-FFF2-40B4-BE49-F238E27FC236}">
                <a16:creationId xmlns:a16="http://schemas.microsoft.com/office/drawing/2014/main" id="{DED2AD83-E2B8-428E-9697-2F2FCED92181}"/>
              </a:ext>
            </a:extLst>
          </p:cNvPr>
          <p:cNvSpPr/>
          <p:nvPr/>
        </p:nvSpPr>
        <p:spPr>
          <a:xfrm>
            <a:off x="20269200" y="7239000"/>
            <a:ext cx="9067800" cy="6096000"/>
          </a:xfrm>
          <a:prstGeom prst="roundRect">
            <a:avLst>
              <a:gd name="adj" fmla="val 3750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badge 6">
            <a:extLst>
              <a:ext uri="{FF2B5EF4-FFF2-40B4-BE49-F238E27FC236}">
                <a16:creationId xmlns:a16="http://schemas.microsoft.com/office/drawing/2014/main" id="{3B0872F4-5FB8-4AB8-A7EE-7B8B671CD969}"/>
              </a:ext>
            </a:extLst>
          </p:cNvPr>
          <p:cNvSpPr/>
          <p:nvPr/>
        </p:nvSpPr>
        <p:spPr>
          <a:xfrm>
            <a:off x="20624800" y="7569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7" name="title 6">
            <a:extLst>
              <a:ext uri="{FF2B5EF4-FFF2-40B4-BE49-F238E27FC236}">
                <a16:creationId xmlns:a16="http://schemas.microsoft.com/office/drawing/2014/main" id="{A0C5FF35-C156-7473-C672-664FCA107DB3}"/>
              </a:ext>
            </a:extLst>
          </p:cNvPr>
          <p:cNvSpPr txBox="1"/>
          <p:nvPr/>
        </p:nvSpPr>
        <p:spPr>
          <a:xfrm>
            <a:off x="21590000" y="7569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Latency and throughput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CA072971-CB47-331B-D818-FBFCA0E1C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200" y="8559800"/>
            <a:ext cx="8051800" cy="2569724"/>
          </a:xfrm>
          <a:prstGeom prst="rect">
            <a:avLst/>
          </a:prstGeom>
        </p:spPr>
      </p:pic>
      <p:sp>
        <p:nvSpPr>
          <p:cNvPr id="120" name="文本框 119">
            <a:extLst>
              <a:ext uri="{FF2B5EF4-FFF2-40B4-BE49-F238E27FC236}">
                <a16:creationId xmlns:a16="http://schemas.microsoft.com/office/drawing/2014/main" id="{D7FEB570-69CA-9170-B049-91DA3AF3BC48}"/>
              </a:ext>
            </a:extLst>
          </p:cNvPr>
          <p:cNvSpPr txBox="1"/>
          <p:nvPr/>
        </p:nvSpPr>
        <p:spPr>
          <a:xfrm>
            <a:off x="20726400" y="11383524"/>
            <a:ext cx="8153400" cy="190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200">
                <a:solidFill>
                  <a:srgbClr val="1F2933"/>
                </a:solidFill>
                <a:latin typeface="Calibri" panose="020F0502020204030204" pitchFamily="34" charset="0"/>
              </a:rPr>
              <a:t>Medians from PL frame counters on both boards (1701 frames).</a:t>
            </a:r>
          </a:p>
          <a:p>
            <a:pPr marL="254000" indent="-254000">
              <a:spcAft>
                <a:spcPts val="10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200">
                <a:solidFill>
                  <a:srgbClr val="1F2933"/>
                </a:solidFill>
                <a:latin typeface="Calibri" panose="020F0502020204030204" pitchFamily="34" charset="0"/>
              </a:rPr>
              <a:t>30.0 fps sustained: 18,000 frames received in 600 s.</a:t>
            </a:r>
            <a:endParaRPr lang="zh-CN" altLang="en-US" sz="22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21" name="card 7">
            <a:extLst>
              <a:ext uri="{FF2B5EF4-FFF2-40B4-BE49-F238E27FC236}">
                <a16:creationId xmlns:a16="http://schemas.microsoft.com/office/drawing/2014/main" id="{F48EACCD-7B29-8F71-F357-384A94E9B2F3}"/>
              </a:ext>
            </a:extLst>
          </p:cNvPr>
          <p:cNvSpPr/>
          <p:nvPr/>
        </p:nvSpPr>
        <p:spPr>
          <a:xfrm>
            <a:off x="20269200" y="13716000"/>
            <a:ext cx="9067800" cy="6985000"/>
          </a:xfrm>
          <a:prstGeom prst="roundRect">
            <a:avLst>
              <a:gd name="adj" fmla="val 3273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badge 7">
            <a:extLst>
              <a:ext uri="{FF2B5EF4-FFF2-40B4-BE49-F238E27FC236}">
                <a16:creationId xmlns:a16="http://schemas.microsoft.com/office/drawing/2014/main" id="{97C97CD9-43DA-CE79-243C-62C86437E0D8}"/>
              </a:ext>
            </a:extLst>
          </p:cNvPr>
          <p:cNvSpPr/>
          <p:nvPr/>
        </p:nvSpPr>
        <p:spPr>
          <a:xfrm>
            <a:off x="20624800" y="14046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7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title 7">
            <a:extLst>
              <a:ext uri="{FF2B5EF4-FFF2-40B4-BE49-F238E27FC236}">
                <a16:creationId xmlns:a16="http://schemas.microsoft.com/office/drawing/2014/main" id="{C7791312-BB2B-AA42-C4F6-B51EDD9AB97C}"/>
              </a:ext>
            </a:extLst>
          </p:cNvPr>
          <p:cNvSpPr txBox="1"/>
          <p:nvPr/>
        </p:nvSpPr>
        <p:spPr>
          <a:xfrm>
            <a:off x="21590000" y="14046200"/>
            <a:ext cx="73914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vs. FPGA DeepJSCC [3]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24" name="表格 123">
            <a:extLst>
              <a:ext uri="{FF2B5EF4-FFF2-40B4-BE49-F238E27FC236}">
                <a16:creationId xmlns:a16="http://schemas.microsoft.com/office/drawing/2014/main" id="{ADCF0D8F-7CF3-1527-2297-EA4E5EC46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57239"/>
              </p:ext>
            </p:extLst>
          </p:nvPr>
        </p:nvGraphicFramePr>
        <p:xfrm>
          <a:off x="20726400" y="15087600"/>
          <a:ext cx="8153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27529697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7456058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66850778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[3] GLOBECOM 25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This work</a:t>
                      </a:r>
                      <a:endParaRPr lang="zh-CN" altLang="en-US" sz="2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0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4969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Conv. work / frame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0.22 GMAC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2.33 GMAC (10.5x)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20083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DSP enc. / dec.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1597 / 874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233 / 312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8721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BRAM enc. / dec.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1039 / 1012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100 / 100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14084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Latency enc. / dec.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39.6 / 52.9 ms *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38.2 / 30.4 ms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005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1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PHY</a:t>
                      </a:r>
                      <a:endParaRPr lang="zh-CN" altLang="en-US" sz="2100" b="1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external 5G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own OFDM in PL</a:t>
                      </a:r>
                      <a:endParaRPr lang="zh-CN" altLang="en-US" sz="2100" b="0">
                        <a:solidFill>
                          <a:srgbClr val="1F2933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623666"/>
                  </a:ext>
                </a:extLst>
              </a:tr>
            </a:tbl>
          </a:graphicData>
        </a:graphic>
      </p:graphicFrame>
      <p:sp>
        <p:nvSpPr>
          <p:cNvPr id="125" name="文本框 124">
            <a:extLst>
              <a:ext uri="{FF2B5EF4-FFF2-40B4-BE49-F238E27FC236}">
                <a16:creationId xmlns:a16="http://schemas.microsoft.com/office/drawing/2014/main" id="{E44546C8-07A6-3E41-C933-9C13BF88F906}"/>
              </a:ext>
            </a:extLst>
          </p:cNvPr>
          <p:cNvSpPr txBox="1"/>
          <p:nvPr/>
        </p:nvSpPr>
        <p:spPr>
          <a:xfrm>
            <a:off x="20726400" y="19050000"/>
            <a:ext cx="81534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2606D"/>
                </a:solidFill>
                <a:latin typeface="Calibri" panose="020F0502020204030204" pitchFamily="34" charset="0"/>
              </a:rPr>
              <a:t>Network cores; different devices and precision (INT8 vs W8A12): absolute counts, not a controlled comparison. * median including PS processing; ours: PL only.</a:t>
            </a:r>
            <a:endParaRPr lang="zh-CN" altLang="en-US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  <p:sp>
        <p:nvSpPr>
          <p:cNvPr id="126" name="card 8">
            <a:extLst>
              <a:ext uri="{FF2B5EF4-FFF2-40B4-BE49-F238E27FC236}">
                <a16:creationId xmlns:a16="http://schemas.microsoft.com/office/drawing/2014/main" id="{AB00C2A3-2EE3-D2D7-74CA-BD60824874B2}"/>
              </a:ext>
            </a:extLst>
          </p:cNvPr>
          <p:cNvSpPr/>
          <p:nvPr/>
        </p:nvSpPr>
        <p:spPr>
          <a:xfrm>
            <a:off x="10591800" y="21082000"/>
            <a:ext cx="18745200" cy="18796000"/>
          </a:xfrm>
          <a:prstGeom prst="roundRect">
            <a:avLst>
              <a:gd name="adj" fmla="val 1220"/>
            </a:avLst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badge 8">
            <a:extLst>
              <a:ext uri="{FF2B5EF4-FFF2-40B4-BE49-F238E27FC236}">
                <a16:creationId xmlns:a16="http://schemas.microsoft.com/office/drawing/2014/main" id="{5F69600A-F752-3D49-AF29-30C53B6E2857}"/>
              </a:ext>
            </a:extLst>
          </p:cNvPr>
          <p:cNvSpPr/>
          <p:nvPr/>
        </p:nvSpPr>
        <p:spPr>
          <a:xfrm>
            <a:off x="10947400" y="21412200"/>
            <a:ext cx="711200" cy="711200"/>
          </a:xfrm>
          <a:prstGeom prst="ellipse">
            <a:avLst/>
          </a:prstGeom>
          <a:solidFill>
            <a:srgbClr val="0B4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Calibri" panose="020F0502020204030204" pitchFamily="34" charset="0"/>
              </a:rPr>
              <a:t>8</a:t>
            </a:r>
            <a:endParaRPr lang="zh-CN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title 8">
            <a:extLst>
              <a:ext uri="{FF2B5EF4-FFF2-40B4-BE49-F238E27FC236}">
                <a16:creationId xmlns:a16="http://schemas.microsoft.com/office/drawing/2014/main" id="{89486330-4443-08C6-5E2D-5CC22C0BE89D}"/>
              </a:ext>
            </a:extLst>
          </p:cNvPr>
          <p:cNvSpPr txBox="1"/>
          <p:nvPr/>
        </p:nvSpPr>
        <p:spPr>
          <a:xfrm>
            <a:off x="11912600" y="21412200"/>
            <a:ext cx="17068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4000" b="1">
                <a:solidFill>
                  <a:srgbClr val="0B4F8A"/>
                </a:solidFill>
                <a:latin typeface="Calibri" panose="020F0502020204030204" pitchFamily="34" charset="0"/>
              </a:rPr>
              <a:t>Graceful degradation, no cliff (measured over the air)</a:t>
            </a:r>
            <a:endParaRPr lang="zh-CN" altLang="en-US" sz="4000" b="1">
              <a:solidFill>
                <a:srgbClr val="0B4F8A"/>
              </a:solidFill>
              <a:latin typeface="Calibri" panose="020F0502020204030204" pitchFamily="34" charset="0"/>
            </a:endParaRPr>
          </a:p>
        </p:txBody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91857929-D64A-C827-7C78-68FCD6EB0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799" y="22402800"/>
            <a:ext cx="7620000" cy="6558032"/>
          </a:xfrm>
          <a:prstGeom prst="rect">
            <a:avLst/>
          </a:prstGeom>
        </p:spPr>
      </p:pic>
      <p:sp>
        <p:nvSpPr>
          <p:cNvPr id="131" name="文本框 130">
            <a:extLst>
              <a:ext uri="{FF2B5EF4-FFF2-40B4-BE49-F238E27FC236}">
                <a16:creationId xmlns:a16="http://schemas.microsoft.com/office/drawing/2014/main" id="{35A7B70C-DEAA-DAEC-B01E-85AF33F38C48}"/>
              </a:ext>
            </a:extLst>
          </p:cNvPr>
          <p:cNvSpPr txBox="1"/>
          <p:nvPr/>
        </p:nvSpPr>
        <p:spPr>
          <a:xfrm>
            <a:off x="19227800" y="22606000"/>
            <a:ext cx="9601200" cy="6304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79400" indent="-279400">
              <a:spcAft>
                <a:spcPts val="11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400">
                <a:solidFill>
                  <a:srgbClr val="1F2933"/>
                </a:solidFill>
                <a:latin typeface="Calibri" panose="020F0502020204030204" pitchFamily="34" charset="0"/>
              </a:rPr>
              <a:t>DeepJSCC-Q: 32.0 dB at 32 dB SNR and still 26.5 dB at 5.5 dB - the image quality follows the channel.</a:t>
            </a:r>
          </a:p>
          <a:p>
            <a:pPr marL="279400" indent="-279400">
              <a:spcAft>
                <a:spcPts val="11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400">
                <a:solidFill>
                  <a:srgbClr val="1F2933"/>
                </a:solidFill>
                <a:latin typeface="Calibri" panose="020F0502020204030204" pitchFamily="34" charset="0"/>
              </a:rPr>
              <a:t>SSCC (JPEG + K=7 convolutional code + 64-QAM) on the same PHY with the same 32,768 symbols per image: 28.2 dB, lost within 3 dB (SNR 20 -&gt; 17 dB).</a:t>
            </a:r>
          </a:p>
          <a:p>
            <a:pPr marL="279400" indent="-279400">
              <a:spcAft>
                <a:spcPts val="11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400">
                <a:solidFill>
                  <a:srgbClr val="1F2933"/>
                </a:solidFill>
                <a:latin typeface="Calibri" panose="020F0502020204030204" pitchFamily="34" charset="0"/>
              </a:rPr>
              <a:t>With the same channel-symbol budget, DeepJSCC-Q is 3.8 dB better even at high SNR.</a:t>
            </a:r>
          </a:p>
          <a:p>
            <a:pPr marL="279400" indent="-279400">
              <a:spcAft>
                <a:spcPts val="11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400">
                <a:solidFill>
                  <a:srgbClr val="1F2933"/>
                </a:solidFill>
                <a:latin typeface="Calibri" panose="020F0502020204030204" pitchFamily="34" charset="0"/>
              </a:rPr>
              <a:t>SNR is data-aided: received constellation against the known reference of a still image (DIV2K 0802), attenuator swept from 32 dB down.</a:t>
            </a:r>
          </a:p>
          <a:p>
            <a:pPr marL="279400" indent="-279400">
              <a:spcAft>
                <a:spcPts val="1100"/>
              </a:spcAft>
              <a:buClr>
                <a:srgbClr val="0B4F8A"/>
              </a:buClr>
              <a:buFont typeface="+mj-lt"/>
              <a:buChar char="•"/>
            </a:pPr>
            <a:r>
              <a:rPr lang="en-US" altLang="zh-CN" sz="2400">
                <a:solidFill>
                  <a:srgbClr val="1F2933"/>
                </a:solidFill>
                <a:latin typeface="Calibri" panose="020F0502020204030204" pitchFamily="34" charset="0"/>
              </a:rPr>
              <a:t>Below: decoded images from the same sweep - rows original, DeepJSCC-Q, SSCC; PSNR / SSIM under each image; an undecodable SSCC frame is scored as mid-gray.</a:t>
            </a:r>
            <a:endParaRPr lang="zh-CN" altLang="en-US" sz="24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pic>
        <p:nvPicPr>
          <p:cNvPr id="133" name="图片 132">
            <a:extLst>
              <a:ext uri="{FF2B5EF4-FFF2-40B4-BE49-F238E27FC236}">
                <a16:creationId xmlns:a16="http://schemas.microsoft.com/office/drawing/2014/main" id="{21A4D6D7-FACF-8F92-5915-18AEC5A06A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0" y="29265631"/>
            <a:ext cx="17729200" cy="9972674"/>
          </a:xfrm>
          <a:prstGeom prst="rect">
            <a:avLst/>
          </a:prstGeom>
        </p:spPr>
      </p:pic>
      <p:sp>
        <p:nvSpPr>
          <p:cNvPr id="134" name="文本框 133">
            <a:extLst>
              <a:ext uri="{FF2B5EF4-FFF2-40B4-BE49-F238E27FC236}">
                <a16:creationId xmlns:a16="http://schemas.microsoft.com/office/drawing/2014/main" id="{EF3CBDF2-B146-6DD3-6F97-5A7C5718DA58}"/>
              </a:ext>
            </a:extLst>
          </p:cNvPr>
          <p:cNvSpPr txBox="1"/>
          <p:nvPr/>
        </p:nvSpPr>
        <p:spPr>
          <a:xfrm>
            <a:off x="914400" y="40309800"/>
            <a:ext cx="28448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1F2933"/>
                </a:solidFill>
                <a:latin typeface="Calibri" panose="020F0502020204030204" pitchFamily="34" charset="0"/>
              </a:rPr>
              <a:t>Developed with AI coding agents: Claude Code (PHY, RF, PYNQ software, measurements) and Codex (training, quantization, RTL generator); the human set the goals and constraints, made the key technical calls and did all hardware handling; the two models cross-reviewed the report. Hardware: 2× PYNQ-ZU (xczu5eg) + 2× AD-FMCOMMS3, Vivado 2025.2. Open source (MIT).</a:t>
            </a:r>
            <a:endParaRPr lang="zh-CN" altLang="en-US" sz="20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D6405FC-D5AD-EF0F-FA67-D68C69621A25}"/>
              </a:ext>
            </a:extLst>
          </p:cNvPr>
          <p:cNvSpPr txBox="1"/>
          <p:nvPr/>
        </p:nvSpPr>
        <p:spPr>
          <a:xfrm>
            <a:off x="914400" y="41529000"/>
            <a:ext cx="28448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52606D"/>
                </a:solidFill>
                <a:latin typeface="Calibri" panose="020F0502020204030204" pitchFamily="34" charset="0"/>
              </a:rPr>
              <a:t>[1] E. Bourtsoulatze, D. B. Kurka, D. Gunduz, IEEE TCCN, 2019.   [2] T.-Y. Tung, D. B. Kurka, M. Jankowski, D. Gunduz, "DeepJSCC-Q," IEEE JSAIT, 2022.   [3] T. Isobe et al., "FPGA-based deep joint source-channel coding for real-time 5G image transmission," IEEE GLOBECOM, 2025.</a:t>
            </a:r>
            <a:endParaRPr lang="zh-CN" altLang="en-US">
              <a:solidFill>
                <a:srgbClr val="52606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8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Office PowerPoint</Application>
  <PresentationFormat>自定义</PresentationFormat>
  <Paragraphs>151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2026-10-12T13:35:49Z</dcterms:created>
  <dcterms:modified xsi:type="dcterms:W3CDTF">2026-10-12T13:35:49Z</dcterms:modified>
</cp:coreProperties>
</file>