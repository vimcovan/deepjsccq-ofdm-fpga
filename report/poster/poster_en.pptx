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30276800" cy="42799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E1D925-21DE-2EAD-BAE8-CC5F32B8A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84600" y="7004376"/>
            <a:ext cx="22707600" cy="14900393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5701ECF-56E1-C938-2BCE-9B2F78F402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84600" y="22479385"/>
            <a:ext cx="22707600" cy="10333181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639C92-5940-B9AF-65BC-DDEBAF653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4808E-1183-4387-8AB9-77C9D907A16E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A02BC3-5921-14E1-2305-8E5FBC21D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4114F6-865C-CF0D-6B77-84D19EA29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80841-F22E-4DB3-84CB-AB615471C8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0995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01A0BD-D103-EC23-24B3-0ABC35E4D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AE9539D-0462-094C-CB58-5F3817D816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D65C108-6811-E799-8F69-41FEA2B50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4808E-1183-4387-8AB9-77C9D907A16E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846EAE5-D002-4468-DAEC-ABC3EFC9FA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CE8EE9-21AC-9A9D-5346-CE980DD4F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80841-F22E-4DB3-84CB-AB615471C8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01526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534EF78-3D87-A063-8658-D6A5CB001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5761" y="10670041"/>
            <a:ext cx="26113740" cy="17803192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FE5DF41-942C-0FF8-FFFD-52BA5DE74C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65761" y="28641658"/>
            <a:ext cx="26113740" cy="936227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EA9398C-7098-AB44-BA00-E281EEEA0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4808E-1183-4387-8AB9-77C9D907A16E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6B601AE-DF3E-FD23-74AA-864DADB53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2813A6-3C7B-87E6-C58F-052EF3B4D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80841-F22E-4DB3-84CB-AB615471C8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3329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9A43CB-366B-F65E-1A05-06E63528D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BD995DB-EFCE-778B-A525-441534B8B9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081530" y="11393252"/>
            <a:ext cx="12867640" cy="2715557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1E2EE4A-AB77-0979-D69A-7952A7D43C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27630" y="11393252"/>
            <a:ext cx="12867640" cy="2715557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50B2191-B496-D3BD-5596-93D268276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4808E-1183-4387-8AB9-77C9D907A16E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7C55BAC-40B5-D44B-18A0-50EC15D41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324885A-085D-00BC-5550-0A955E954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80841-F22E-4DB3-84CB-AB615471C8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4681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8B6C96-28E4-88DC-D86D-A57352592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474" y="2278660"/>
            <a:ext cx="26113740" cy="827249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C4BBD9E-DD17-F441-5EB9-4AA77A73FE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85475" y="10491703"/>
            <a:ext cx="12808504" cy="514182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41E655F-55C0-5EB5-D2B5-0E016532B1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085475" y="15633524"/>
            <a:ext cx="12808504" cy="2299455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1BC2BC4-5F86-0919-DA63-F33B1C2624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5327630" y="10491703"/>
            <a:ext cx="12871584" cy="514182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3BE9B83-D337-7406-4950-4A00F67800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5327630" y="15633524"/>
            <a:ext cx="12871584" cy="2299455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B1E5A32-5671-77EF-F3BA-5FE18F308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4808E-1183-4387-8AB9-77C9D907A16E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D7D180C-C8BF-CE1E-E7EE-876C3BB1C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AFE49A5-DE84-8751-EE5A-5C0EB14CA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80841-F22E-4DB3-84CB-AB615471C8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5661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25EA8F-1DF1-CD62-A8C0-3FD6B385C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D6414AE-6864-B3AC-6D5F-2E19B3AA7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4808E-1183-4387-8AB9-77C9D907A16E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A2CD719-CCD6-B442-F2EA-BDB67407A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B9E995C-2647-4A05-81D8-252441F60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80841-F22E-4DB3-84CB-AB615471C8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00508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DA924AF-895D-57E6-9594-2687ED7B0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4808E-1183-4387-8AB9-77C9D907A16E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BA969A9-743C-B556-5079-F2E1366A0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032BCC2-93FA-60B4-9774-773B14F26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80841-F22E-4DB3-84CB-AB615471C8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9725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B461C73-DC7D-DA38-A36F-67BCABED8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476" y="2853267"/>
            <a:ext cx="9765055" cy="998643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92B31B-0708-C308-9E01-59FEF43592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71584" y="6162273"/>
            <a:ext cx="15327630" cy="3041503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7624F39-0F8C-B2DC-8EB3-C394E4FD84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85476" y="12839700"/>
            <a:ext cx="9765055" cy="2378713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4C6FB12-0DE5-7DCD-57BA-32CE60BEA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4808E-1183-4387-8AB9-77C9D907A16E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B8D3148-733E-E5A6-CD5B-F3D13DA3A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DB99664-3571-A5D1-9B21-345DBBAC6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80841-F22E-4DB3-84CB-AB615471C8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427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373F4E-B62D-DDFD-D0FF-0C2404628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476" y="2853267"/>
            <a:ext cx="9765055" cy="998643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FE119C2-2168-3B5C-BCF1-C4CFBBB643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2871584" y="6162273"/>
            <a:ext cx="15327630" cy="3041503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4975028-73D3-D02F-0688-812375491C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85476" y="12839700"/>
            <a:ext cx="9765055" cy="2378713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538094D-2263-0F1D-2E29-3C5381055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4808E-1183-4387-8AB9-77C9D907A16E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2D42143-2670-E0D8-4721-BD16EADAF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1F73CBD-B99E-1D4E-F03B-5840168AA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80841-F22E-4DB3-84CB-AB615471C8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82212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EA3C9D-7769-F368-7EC8-5E4668838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D544C82-F4B5-0822-2889-20B7D00EE8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9A90BA1-9AA2-FCE3-0CAE-B682B4C07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4808E-1183-4387-8AB9-77C9D907A16E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24A5574-6A31-14E6-992C-C7A9AB39A6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FF74426-15BC-7386-D8FA-82A170661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80841-F22E-4DB3-84CB-AB615471C8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5909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4FD2A6C-431D-A126-497B-3DC9FC72BD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21666836" y="2278651"/>
            <a:ext cx="6528435" cy="36270174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B078B50-A39F-E366-F8CC-7E440F05F0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2081531" y="2278651"/>
            <a:ext cx="19206845" cy="36270174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FEC1D0-7702-E4EC-9545-8714D2446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4808E-1183-4387-8AB9-77C9D907A16E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9036DBE-AD12-3516-35D9-958059D51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829A27F-8D08-06E5-3BB1-66A068B54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80841-F22E-4DB3-84CB-AB615471C8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55987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FCFE042-764B-309D-E957-F15E7B72A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1530" y="2278660"/>
            <a:ext cx="26113740" cy="8272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0D1D285-9F69-E9A9-7CFD-4FA2B4E107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81530" y="11393252"/>
            <a:ext cx="26113740" cy="271555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42B65DD-1FD7-4B74-75E5-D638EEE6FF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081530" y="39668342"/>
            <a:ext cx="6812280" cy="2278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84808E-1183-4387-8AB9-77C9D907A16E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4E8F664-60B4-97C9-4D4A-1C17AF7689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029190" y="39668342"/>
            <a:ext cx="10218420" cy="2278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9204D1-3E8D-8756-9817-6AE1B86D0B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382990" y="39668342"/>
            <a:ext cx="6812280" cy="2278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780841-F22E-4DB3-84CB-AB615471C8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1602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oster title">
            <a:extLst>
              <a:ext uri="{FF2B5EF4-FFF2-40B4-BE49-F238E27FC236}">
                <a16:creationId xmlns:a16="http://schemas.microsoft.com/office/drawing/2014/main" id="{1DA1095D-9BA7-D19B-604F-4435992D2104}"/>
              </a:ext>
            </a:extLst>
          </p:cNvPr>
          <p:cNvSpPr txBox="1"/>
          <p:nvPr/>
        </p:nvSpPr>
        <p:spPr>
          <a:xfrm>
            <a:off x="914400" y="812800"/>
            <a:ext cx="28448000" cy="1397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000" b="1">
                <a:solidFill>
                  <a:srgbClr val="0B4F8A"/>
                </a:solidFill>
                <a:latin typeface="Calibri" panose="020F0502020204030204" pitchFamily="34" charset="0"/>
              </a:rPr>
              <a:t>Real-Time Over-the-Air Image Transmission with DeepJSCC-Q on FPGA</a:t>
            </a:r>
            <a:endParaRPr lang="zh-CN" altLang="en-US" sz="70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31597CAB-2745-9E6A-7516-A0F469DBD353}"/>
              </a:ext>
            </a:extLst>
          </p:cNvPr>
          <p:cNvSpPr txBox="1"/>
          <p:nvPr/>
        </p:nvSpPr>
        <p:spPr>
          <a:xfrm>
            <a:off x="914400" y="2108200"/>
            <a:ext cx="2844800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3000">
                <a:solidFill>
                  <a:srgbClr val="52606D"/>
                </a:solidFill>
                <a:latin typeface="Calibri" panose="020F0502020204030204" pitchFamily="34" charset="0"/>
              </a:rPr>
              <a:t>Separate source and channel coding (JPEG + FEC) fails abruptly once the SNR drops below its code threshold; DeepJSCC-Q maps pixels straight to 64-QAM symbols and degrades gracefully. The CNN codec, an 802.11a-like OFDM PHY and the RF front-end control all run on two Zynq UltraScale+ boards.</a:t>
            </a:r>
            <a:endParaRPr lang="zh-CN" altLang="en-US" sz="30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4" name="stat 0">
            <a:extLst>
              <a:ext uri="{FF2B5EF4-FFF2-40B4-BE49-F238E27FC236}">
                <a16:creationId xmlns:a16="http://schemas.microsoft.com/office/drawing/2014/main" id="{A305B644-9374-805E-0446-1D4B4C63A825}"/>
              </a:ext>
            </a:extLst>
          </p:cNvPr>
          <p:cNvSpPr/>
          <p:nvPr/>
        </p:nvSpPr>
        <p:spPr>
          <a:xfrm>
            <a:off x="914400" y="3683000"/>
            <a:ext cx="5323840" cy="2921000"/>
          </a:xfrm>
          <a:prstGeom prst="roundRect">
            <a:avLst>
              <a:gd name="adj" fmla="val 6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stat value 0">
            <a:extLst>
              <a:ext uri="{FF2B5EF4-FFF2-40B4-BE49-F238E27FC236}">
                <a16:creationId xmlns:a16="http://schemas.microsoft.com/office/drawing/2014/main" id="{9AB52EE5-1277-196A-4923-37BCD6DE265C}"/>
              </a:ext>
            </a:extLst>
          </p:cNvPr>
          <p:cNvSpPr txBox="1"/>
          <p:nvPr/>
        </p:nvSpPr>
        <p:spPr>
          <a:xfrm>
            <a:off x="1295400" y="38862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400" b="1">
                <a:solidFill>
                  <a:srgbClr val="FFFFFF"/>
                </a:solidFill>
                <a:latin typeface="Calibri" panose="020F0502020204030204" pitchFamily="34" charset="0"/>
              </a:rPr>
              <a:t>30 fps</a:t>
            </a:r>
            <a:endParaRPr lang="zh-CN" altLang="en-US" sz="74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6" name="stat label 0">
            <a:extLst>
              <a:ext uri="{FF2B5EF4-FFF2-40B4-BE49-F238E27FC236}">
                <a16:creationId xmlns:a16="http://schemas.microsoft.com/office/drawing/2014/main" id="{39BAE9A8-7AEA-481C-A3EA-6449CF5AEC3D}"/>
              </a:ext>
            </a:extLst>
          </p:cNvPr>
          <p:cNvSpPr txBox="1"/>
          <p:nvPr/>
        </p:nvSpPr>
        <p:spPr>
          <a:xfrm>
            <a:off x="1295400" y="52578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500">
                <a:solidFill>
                  <a:srgbClr val="D6E4F2"/>
                </a:solidFill>
                <a:latin typeface="Calibri" panose="020F0502020204030204" pitchFamily="34" charset="0"/>
              </a:rPr>
              <a:t>256×256 RGB images over a 915 MHz air link</a:t>
            </a:r>
            <a:endParaRPr lang="zh-CN" altLang="en-US" sz="2500">
              <a:solidFill>
                <a:srgbClr val="D6E4F2"/>
              </a:solidFill>
              <a:latin typeface="Calibri" panose="020F0502020204030204" pitchFamily="34" charset="0"/>
            </a:endParaRPr>
          </a:p>
        </p:txBody>
      </p:sp>
      <p:sp>
        <p:nvSpPr>
          <p:cNvPr id="7" name="stat 1">
            <a:extLst>
              <a:ext uri="{FF2B5EF4-FFF2-40B4-BE49-F238E27FC236}">
                <a16:creationId xmlns:a16="http://schemas.microsoft.com/office/drawing/2014/main" id="{B41032B8-3F64-1D4E-13FB-1CCF519AB202}"/>
              </a:ext>
            </a:extLst>
          </p:cNvPr>
          <p:cNvSpPr/>
          <p:nvPr/>
        </p:nvSpPr>
        <p:spPr>
          <a:xfrm>
            <a:off x="6695440" y="3683000"/>
            <a:ext cx="5323840" cy="2921000"/>
          </a:xfrm>
          <a:prstGeom prst="roundRect">
            <a:avLst>
              <a:gd name="adj" fmla="val 6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stat value 1">
            <a:extLst>
              <a:ext uri="{FF2B5EF4-FFF2-40B4-BE49-F238E27FC236}">
                <a16:creationId xmlns:a16="http://schemas.microsoft.com/office/drawing/2014/main" id="{DD7D42B2-1557-5558-DFDA-DB53B3B28715}"/>
              </a:ext>
            </a:extLst>
          </p:cNvPr>
          <p:cNvSpPr txBox="1"/>
          <p:nvPr/>
        </p:nvSpPr>
        <p:spPr>
          <a:xfrm>
            <a:off x="7076440" y="38862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400" b="1">
                <a:solidFill>
                  <a:srgbClr val="FFFFFF"/>
                </a:solidFill>
                <a:latin typeface="Calibri" panose="020F0502020204030204" pitchFamily="34" charset="0"/>
              </a:rPr>
              <a:t>71.5 ms</a:t>
            </a:r>
            <a:endParaRPr lang="zh-CN" altLang="en-US" sz="74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9" name="stat label 1">
            <a:extLst>
              <a:ext uri="{FF2B5EF4-FFF2-40B4-BE49-F238E27FC236}">
                <a16:creationId xmlns:a16="http://schemas.microsoft.com/office/drawing/2014/main" id="{18AC9AD1-092C-3A4B-133A-C18C2296B920}"/>
              </a:ext>
            </a:extLst>
          </p:cNvPr>
          <p:cNvSpPr txBox="1"/>
          <p:nvPr/>
        </p:nvSpPr>
        <p:spPr>
          <a:xfrm>
            <a:off x="7076440" y="52578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500">
                <a:solidFill>
                  <a:srgbClr val="D6E4F2"/>
                </a:solidFill>
                <a:latin typeface="Calibri" panose="020F0502020204030204" pitchFamily="34" charset="0"/>
              </a:rPr>
              <a:t>PL latency: encode 38.2 + air 2.9 + decode 30.4 ms</a:t>
            </a:r>
            <a:endParaRPr lang="zh-CN" altLang="en-US" sz="2500">
              <a:solidFill>
                <a:srgbClr val="D6E4F2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stat 2">
            <a:extLst>
              <a:ext uri="{FF2B5EF4-FFF2-40B4-BE49-F238E27FC236}">
                <a16:creationId xmlns:a16="http://schemas.microsoft.com/office/drawing/2014/main" id="{B12DDD14-E22B-5AF5-5031-B581AC13553A}"/>
              </a:ext>
            </a:extLst>
          </p:cNvPr>
          <p:cNvSpPr/>
          <p:nvPr/>
        </p:nvSpPr>
        <p:spPr>
          <a:xfrm>
            <a:off x="12476480" y="3683000"/>
            <a:ext cx="5323841" cy="2921000"/>
          </a:xfrm>
          <a:prstGeom prst="roundRect">
            <a:avLst>
              <a:gd name="adj" fmla="val 6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stat value 2">
            <a:extLst>
              <a:ext uri="{FF2B5EF4-FFF2-40B4-BE49-F238E27FC236}">
                <a16:creationId xmlns:a16="http://schemas.microsoft.com/office/drawing/2014/main" id="{0FB8FD14-40EF-4E45-86DE-026EF6BF720A}"/>
              </a:ext>
            </a:extLst>
          </p:cNvPr>
          <p:cNvSpPr txBox="1"/>
          <p:nvPr/>
        </p:nvSpPr>
        <p:spPr>
          <a:xfrm>
            <a:off x="12857480" y="38862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400" b="1">
                <a:solidFill>
                  <a:srgbClr val="FFFFFF"/>
                </a:solidFill>
                <a:latin typeface="Calibri" panose="020F0502020204030204" pitchFamily="34" charset="0"/>
              </a:rPr>
              <a:t>+3.8 dB</a:t>
            </a:r>
            <a:endParaRPr lang="zh-CN" altLang="en-US" sz="74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stat label 2">
            <a:extLst>
              <a:ext uri="{FF2B5EF4-FFF2-40B4-BE49-F238E27FC236}">
                <a16:creationId xmlns:a16="http://schemas.microsoft.com/office/drawing/2014/main" id="{2C46601C-EB2A-0C04-722A-96BB39990DB5}"/>
              </a:ext>
            </a:extLst>
          </p:cNvPr>
          <p:cNvSpPr txBox="1"/>
          <p:nvPr/>
        </p:nvSpPr>
        <p:spPr>
          <a:xfrm>
            <a:off x="12857480" y="52578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500">
                <a:solidFill>
                  <a:srgbClr val="D6E4F2"/>
                </a:solidFill>
                <a:latin typeface="Calibri" panose="020F0502020204030204" pitchFamily="34" charset="0"/>
              </a:rPr>
              <a:t>PSNR over JPEG + convolutional code, with no cliff</a:t>
            </a:r>
            <a:endParaRPr lang="zh-CN" altLang="en-US" sz="2500">
              <a:solidFill>
                <a:srgbClr val="D6E4F2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stat 3">
            <a:extLst>
              <a:ext uri="{FF2B5EF4-FFF2-40B4-BE49-F238E27FC236}">
                <a16:creationId xmlns:a16="http://schemas.microsoft.com/office/drawing/2014/main" id="{36F209F2-BCDF-DEF3-B518-421366E42E09}"/>
              </a:ext>
            </a:extLst>
          </p:cNvPr>
          <p:cNvSpPr/>
          <p:nvPr/>
        </p:nvSpPr>
        <p:spPr>
          <a:xfrm>
            <a:off x="18257520" y="3683000"/>
            <a:ext cx="5323841" cy="2921000"/>
          </a:xfrm>
          <a:prstGeom prst="roundRect">
            <a:avLst>
              <a:gd name="adj" fmla="val 6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stat value 3">
            <a:extLst>
              <a:ext uri="{FF2B5EF4-FFF2-40B4-BE49-F238E27FC236}">
                <a16:creationId xmlns:a16="http://schemas.microsoft.com/office/drawing/2014/main" id="{F0781612-3F22-1794-152F-E77FBD660322}"/>
              </a:ext>
            </a:extLst>
          </p:cNvPr>
          <p:cNvSpPr txBox="1"/>
          <p:nvPr/>
        </p:nvSpPr>
        <p:spPr>
          <a:xfrm>
            <a:off x="18638520" y="38862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400" b="1">
                <a:solidFill>
                  <a:srgbClr val="FFFFFF"/>
                </a:solidFill>
                <a:latin typeface="Calibri" panose="020F0502020204030204" pitchFamily="34" charset="0"/>
              </a:rPr>
              <a:t>2.33 GMAC</a:t>
            </a:r>
            <a:endParaRPr lang="zh-CN" altLang="en-US" sz="74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stat label 3">
            <a:extLst>
              <a:ext uri="{FF2B5EF4-FFF2-40B4-BE49-F238E27FC236}">
                <a16:creationId xmlns:a16="http://schemas.microsoft.com/office/drawing/2014/main" id="{CFA65554-0D53-96DB-3AE1-03E1A0B577E0}"/>
              </a:ext>
            </a:extLst>
          </p:cNvPr>
          <p:cNvSpPr txBox="1"/>
          <p:nvPr/>
        </p:nvSpPr>
        <p:spPr>
          <a:xfrm>
            <a:off x="18638520" y="52578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500">
                <a:solidFill>
                  <a:srgbClr val="D6E4F2"/>
                </a:solidFill>
                <a:latin typeface="Calibri" panose="020F0502020204030204" pitchFamily="34" charset="0"/>
              </a:rPr>
              <a:t>per frame, 114 convolutions, W8A12 fixed point</a:t>
            </a:r>
            <a:endParaRPr lang="zh-CN" altLang="en-US" sz="2500">
              <a:solidFill>
                <a:srgbClr val="D6E4F2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stat 4">
            <a:extLst>
              <a:ext uri="{FF2B5EF4-FFF2-40B4-BE49-F238E27FC236}">
                <a16:creationId xmlns:a16="http://schemas.microsoft.com/office/drawing/2014/main" id="{C34EE10F-94A9-7EC4-4052-80049CD036A4}"/>
              </a:ext>
            </a:extLst>
          </p:cNvPr>
          <p:cNvSpPr/>
          <p:nvPr/>
        </p:nvSpPr>
        <p:spPr>
          <a:xfrm>
            <a:off x="24038561" y="3683000"/>
            <a:ext cx="5323839" cy="2921000"/>
          </a:xfrm>
          <a:prstGeom prst="roundRect">
            <a:avLst>
              <a:gd name="adj" fmla="val 6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stat value 4">
            <a:extLst>
              <a:ext uri="{FF2B5EF4-FFF2-40B4-BE49-F238E27FC236}">
                <a16:creationId xmlns:a16="http://schemas.microsoft.com/office/drawing/2014/main" id="{6DD44F3F-B197-E36A-9017-3468DC2307B3}"/>
              </a:ext>
            </a:extLst>
          </p:cNvPr>
          <p:cNvSpPr txBox="1"/>
          <p:nvPr/>
        </p:nvSpPr>
        <p:spPr>
          <a:xfrm>
            <a:off x="24419561" y="38862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400" b="1">
                <a:solidFill>
                  <a:srgbClr val="FFFFFF"/>
                </a:solidFill>
                <a:latin typeface="Calibri" panose="020F0502020204030204" pitchFamily="34" charset="0"/>
              </a:rPr>
              <a:t>3.1 / 3.7 W</a:t>
            </a:r>
            <a:endParaRPr lang="zh-CN" altLang="en-US" sz="74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stat label 4">
            <a:extLst>
              <a:ext uri="{FF2B5EF4-FFF2-40B4-BE49-F238E27FC236}">
                <a16:creationId xmlns:a16="http://schemas.microsoft.com/office/drawing/2014/main" id="{5AF48842-118F-399C-0AF4-BA65D8BDF9CD}"/>
              </a:ext>
            </a:extLst>
          </p:cNvPr>
          <p:cNvSpPr txBox="1"/>
          <p:nvPr/>
        </p:nvSpPr>
        <p:spPr>
          <a:xfrm>
            <a:off x="24419561" y="52578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500">
                <a:solidFill>
                  <a:srgbClr val="D6E4F2"/>
                </a:solidFill>
                <a:latin typeface="Calibri" panose="020F0502020204030204" pitchFamily="34" charset="0"/>
              </a:rPr>
              <a:t>TX / RX measured power (PL + PS + DDR rails)</a:t>
            </a:r>
            <a:endParaRPr lang="zh-CN" altLang="en-US" sz="2500">
              <a:solidFill>
                <a:srgbClr val="D6E4F2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card 1">
            <a:extLst>
              <a:ext uri="{FF2B5EF4-FFF2-40B4-BE49-F238E27FC236}">
                <a16:creationId xmlns:a16="http://schemas.microsoft.com/office/drawing/2014/main" id="{D63E54A9-10AC-760F-2E28-4D5D89BC8C40}"/>
              </a:ext>
            </a:extLst>
          </p:cNvPr>
          <p:cNvSpPr/>
          <p:nvPr/>
        </p:nvSpPr>
        <p:spPr>
          <a:xfrm>
            <a:off x="914400" y="7239000"/>
            <a:ext cx="9067800" cy="7112000"/>
          </a:xfrm>
          <a:prstGeom prst="roundRect">
            <a:avLst>
              <a:gd name="adj" fmla="val 3214"/>
            </a:avLst>
          </a:prstGeom>
          <a:solidFill>
            <a:srgbClr val="EEF3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badge 1">
            <a:extLst>
              <a:ext uri="{FF2B5EF4-FFF2-40B4-BE49-F238E27FC236}">
                <a16:creationId xmlns:a16="http://schemas.microsoft.com/office/drawing/2014/main" id="{C11BA5DE-2CCF-6FD8-CD10-F93CA0D79C4B}"/>
              </a:ext>
            </a:extLst>
          </p:cNvPr>
          <p:cNvSpPr/>
          <p:nvPr/>
        </p:nvSpPr>
        <p:spPr>
          <a:xfrm>
            <a:off x="1270000" y="7569200"/>
            <a:ext cx="711200" cy="711200"/>
          </a:xfrm>
          <a:prstGeom prst="ellipse">
            <a:avLst/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2800" b="1">
                <a:solidFill>
                  <a:srgbClr val="FFFFFF"/>
                </a:solidFill>
                <a:latin typeface="Calibri" panose="020F0502020204030204" pitchFamily="34" charset="0"/>
              </a:rPr>
              <a:t>1</a:t>
            </a:r>
            <a:endParaRPr lang="zh-CN" altLang="en-US" sz="28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660CF24E-1AD4-0B7E-6BBC-EFDD7B76BC2A}"/>
              </a:ext>
            </a:extLst>
          </p:cNvPr>
          <p:cNvSpPr txBox="1"/>
          <p:nvPr/>
        </p:nvSpPr>
        <p:spPr>
          <a:xfrm>
            <a:off x="2235200" y="7569200"/>
            <a:ext cx="73914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4000" b="1">
                <a:solidFill>
                  <a:srgbClr val="0B4F8A"/>
                </a:solidFill>
                <a:latin typeface="Calibri" panose="020F0502020204030204" pitchFamily="34" charset="0"/>
              </a:rPr>
              <a:t>Hardware</a:t>
            </a:r>
            <a:endParaRPr lang="zh-CN" altLang="en-US" sz="40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A68D3F68-909E-5C5B-ED3F-1AD3B61559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8559800"/>
            <a:ext cx="8153400" cy="4806429"/>
          </a:xfrm>
          <a:prstGeom prst="rect">
            <a:avLst/>
          </a:prstGeom>
        </p:spPr>
      </p:pic>
      <p:sp>
        <p:nvSpPr>
          <p:cNvPr id="24" name="文本框 23">
            <a:extLst>
              <a:ext uri="{FF2B5EF4-FFF2-40B4-BE49-F238E27FC236}">
                <a16:creationId xmlns:a16="http://schemas.microsoft.com/office/drawing/2014/main" id="{6FCA0AD5-098B-E9FF-960F-662B5FE9FA82}"/>
              </a:ext>
            </a:extLst>
          </p:cNvPr>
          <p:cNvSpPr txBox="1"/>
          <p:nvPr/>
        </p:nvSpPr>
        <p:spPr>
          <a:xfrm>
            <a:off x="1371600" y="13518629"/>
            <a:ext cx="81534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100">
                <a:solidFill>
                  <a:srgbClr val="52606D"/>
                </a:solidFill>
                <a:latin typeface="Calibri" panose="020F0502020204030204" pitchFamily="34" charset="0"/>
              </a:rPr>
              <a:t>Left: RX (PYNQ-ZU + AD9361 + touch screen). Right: TX (PYNQ-ZU + AD9361 + USB camera). 915 MHz antennas in front.</a:t>
            </a:r>
            <a:endParaRPr lang="zh-CN" altLang="en-US" sz="21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card 2">
            <a:extLst>
              <a:ext uri="{FF2B5EF4-FFF2-40B4-BE49-F238E27FC236}">
                <a16:creationId xmlns:a16="http://schemas.microsoft.com/office/drawing/2014/main" id="{F1B63663-00A3-661A-5916-545C896EE6F3}"/>
              </a:ext>
            </a:extLst>
          </p:cNvPr>
          <p:cNvSpPr/>
          <p:nvPr/>
        </p:nvSpPr>
        <p:spPr>
          <a:xfrm>
            <a:off x="914400" y="14732000"/>
            <a:ext cx="9067800" cy="8509000"/>
          </a:xfrm>
          <a:prstGeom prst="roundRect">
            <a:avLst>
              <a:gd name="adj" fmla="val 2687"/>
            </a:avLst>
          </a:prstGeom>
          <a:solidFill>
            <a:srgbClr val="EEF3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badge 2">
            <a:extLst>
              <a:ext uri="{FF2B5EF4-FFF2-40B4-BE49-F238E27FC236}">
                <a16:creationId xmlns:a16="http://schemas.microsoft.com/office/drawing/2014/main" id="{E6F7AF2E-7276-A528-9B58-7140294D363F}"/>
              </a:ext>
            </a:extLst>
          </p:cNvPr>
          <p:cNvSpPr/>
          <p:nvPr/>
        </p:nvSpPr>
        <p:spPr>
          <a:xfrm>
            <a:off x="1270000" y="15062200"/>
            <a:ext cx="711200" cy="711200"/>
          </a:xfrm>
          <a:prstGeom prst="ellipse">
            <a:avLst/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2800" b="1">
                <a:solidFill>
                  <a:srgbClr val="FFFFFF"/>
                </a:solidFill>
                <a:latin typeface="Calibri" panose="020F0502020204030204" pitchFamily="34" charset="0"/>
              </a:rPr>
              <a:t>2</a:t>
            </a:r>
            <a:endParaRPr lang="zh-CN" altLang="en-US" sz="28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7" name="title 2">
            <a:extLst>
              <a:ext uri="{FF2B5EF4-FFF2-40B4-BE49-F238E27FC236}">
                <a16:creationId xmlns:a16="http://schemas.microsoft.com/office/drawing/2014/main" id="{409473A2-23C0-7855-F8BE-9F3836B1D0F4}"/>
              </a:ext>
            </a:extLst>
          </p:cNvPr>
          <p:cNvSpPr txBox="1"/>
          <p:nvPr/>
        </p:nvSpPr>
        <p:spPr>
          <a:xfrm>
            <a:off x="2235200" y="15062200"/>
            <a:ext cx="73914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4000" b="1">
                <a:solidFill>
                  <a:srgbClr val="0B4F8A"/>
                </a:solidFill>
                <a:latin typeface="Calibri" panose="020F0502020204030204" pitchFamily="34" charset="0"/>
              </a:rPr>
              <a:t>System</a:t>
            </a:r>
            <a:endParaRPr lang="zh-CN" altLang="en-US" sz="40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2E13D04B-4D35-6437-728C-1381194F9A0D}"/>
              </a:ext>
            </a:extLst>
          </p:cNvPr>
          <p:cNvSpPr txBox="1"/>
          <p:nvPr/>
        </p:nvSpPr>
        <p:spPr>
          <a:xfrm>
            <a:off x="1371600" y="15951200"/>
            <a:ext cx="3810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zh-CN" sz="2200" b="1">
                <a:solidFill>
                  <a:srgbClr val="52606D"/>
                </a:solidFill>
                <a:latin typeface="Calibri" panose="020F0502020204030204" pitchFamily="34" charset="0"/>
              </a:rPr>
              <a:t>TX board</a:t>
            </a:r>
            <a:endParaRPr lang="zh-CN" altLang="en-US" sz="2200" b="1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F9944C7-1304-0F83-FA7B-0927214B6025}"/>
              </a:ext>
            </a:extLst>
          </p:cNvPr>
          <p:cNvSpPr txBox="1"/>
          <p:nvPr/>
        </p:nvSpPr>
        <p:spPr>
          <a:xfrm>
            <a:off x="5715000" y="15951200"/>
            <a:ext cx="3810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zh-CN" sz="2200" b="1">
                <a:solidFill>
                  <a:srgbClr val="52606D"/>
                </a:solidFill>
                <a:latin typeface="Calibri" panose="020F0502020204030204" pitchFamily="34" charset="0"/>
              </a:rPr>
              <a:t>RX board</a:t>
            </a:r>
            <a:endParaRPr lang="zh-CN" altLang="en-US" sz="2200" b="1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54A466C-ED9B-5592-9F9E-57299C79B085}"/>
              </a:ext>
            </a:extLst>
          </p:cNvPr>
          <p:cNvSpPr/>
          <p:nvPr/>
        </p:nvSpPr>
        <p:spPr>
          <a:xfrm>
            <a:off x="1371600" y="16433800"/>
            <a:ext cx="381000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Camera / video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PS: crop to 256×256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763E1003-26E8-D6F3-7E81-AB8496875B6C}"/>
              </a:ext>
            </a:extLst>
          </p:cNvPr>
          <p:cNvSpPr/>
          <p:nvPr/>
        </p:nvSpPr>
        <p:spPr>
          <a:xfrm>
            <a:off x="5715000" y="16433800"/>
            <a:ext cx="381000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Touch-screen GUI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PS: display, control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951AB448-404B-EC6F-3661-0881EF4AC595}"/>
              </a:ext>
            </a:extLst>
          </p:cNvPr>
          <p:cNvCxnSpPr/>
          <p:nvPr/>
        </p:nvCxnSpPr>
        <p:spPr>
          <a:xfrm>
            <a:off x="3276600" y="17500600"/>
            <a:ext cx="0" cy="355600"/>
          </a:xfrm>
          <a:prstGeom prst="straightConnector1">
            <a:avLst/>
          </a:prstGeom>
          <a:ln w="50800">
            <a:solidFill>
              <a:srgbClr val="52606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B7DA1BC0-5546-E26E-9327-57AE23061B6B}"/>
              </a:ext>
            </a:extLst>
          </p:cNvPr>
          <p:cNvCxnSpPr/>
          <p:nvPr/>
        </p:nvCxnSpPr>
        <p:spPr>
          <a:xfrm flipV="1">
            <a:off x="7620000" y="17500600"/>
            <a:ext cx="0" cy="355600"/>
          </a:xfrm>
          <a:prstGeom prst="straightConnector1">
            <a:avLst/>
          </a:prstGeom>
          <a:ln w="50800">
            <a:solidFill>
              <a:srgbClr val="52606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C2D30F02-31BA-F729-9EE6-D2AFFEF23E0D}"/>
              </a:ext>
            </a:extLst>
          </p:cNvPr>
          <p:cNvSpPr/>
          <p:nvPr/>
        </p:nvSpPr>
        <p:spPr>
          <a:xfrm>
            <a:off x="1371600" y="17856200"/>
            <a:ext cx="3810000" cy="1066800"/>
          </a:xfrm>
          <a:prstGeom prst="roundRect">
            <a:avLst>
              <a:gd name="adj" fmla="val 12000"/>
            </a:avLst>
          </a:prstGeom>
          <a:solidFill>
            <a:srgbClr val="DCE8F4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DeepJSCC-Q encoder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PL, W8A12, 250 MHz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E9091CE-526A-39F3-208B-27BC197559C0}"/>
              </a:ext>
            </a:extLst>
          </p:cNvPr>
          <p:cNvSpPr/>
          <p:nvPr/>
        </p:nvSpPr>
        <p:spPr>
          <a:xfrm>
            <a:off x="5715000" y="17856200"/>
            <a:ext cx="3810000" cy="1066800"/>
          </a:xfrm>
          <a:prstGeom prst="roundRect">
            <a:avLst>
              <a:gd name="adj" fmla="val 12000"/>
            </a:avLst>
          </a:prstGeom>
          <a:solidFill>
            <a:srgbClr val="DCE8F4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DeepJSCC-Q decoder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soft I/Q in, no hard decision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282998E6-F77E-659C-3D89-A76BAD5D941E}"/>
              </a:ext>
            </a:extLst>
          </p:cNvPr>
          <p:cNvCxnSpPr/>
          <p:nvPr/>
        </p:nvCxnSpPr>
        <p:spPr>
          <a:xfrm>
            <a:off x="3276600" y="18923000"/>
            <a:ext cx="0" cy="355600"/>
          </a:xfrm>
          <a:prstGeom prst="straightConnector1">
            <a:avLst/>
          </a:prstGeom>
          <a:ln w="50800">
            <a:solidFill>
              <a:srgbClr val="52606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6D986505-BADE-0BCD-CE1C-0DF1763932A6}"/>
              </a:ext>
            </a:extLst>
          </p:cNvPr>
          <p:cNvCxnSpPr/>
          <p:nvPr/>
        </p:nvCxnSpPr>
        <p:spPr>
          <a:xfrm flipV="1">
            <a:off x="7620000" y="18923000"/>
            <a:ext cx="0" cy="355600"/>
          </a:xfrm>
          <a:prstGeom prst="straightConnector1">
            <a:avLst/>
          </a:prstGeom>
          <a:ln w="50800">
            <a:solidFill>
              <a:srgbClr val="52606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CD4E84BB-9014-6EF4-B314-4F69640F8FCD}"/>
              </a:ext>
            </a:extLst>
          </p:cNvPr>
          <p:cNvSpPr/>
          <p:nvPr/>
        </p:nvSpPr>
        <p:spPr>
          <a:xfrm>
            <a:off x="1371600" y="19278600"/>
            <a:ext cx="381000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nb-NO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OFDM transmitter</a:t>
            </a:r>
          </a:p>
          <a:p>
            <a:pPr algn="ctr"/>
            <a:r>
              <a:rPr lang="nb-NO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PN flip, IFFT, frame buffer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35E89B88-4998-9801-5CD4-5EB0796ACB7B}"/>
              </a:ext>
            </a:extLst>
          </p:cNvPr>
          <p:cNvSpPr/>
          <p:nvPr/>
        </p:nvSpPr>
        <p:spPr>
          <a:xfrm>
            <a:off x="5715000" y="19278600"/>
            <a:ext cx="381000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OFDM receiver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sync, 2×LTF CE, SFO / CPE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B0C5BB20-DFA7-F79B-5711-7CB6A941D6B5}"/>
              </a:ext>
            </a:extLst>
          </p:cNvPr>
          <p:cNvCxnSpPr/>
          <p:nvPr/>
        </p:nvCxnSpPr>
        <p:spPr>
          <a:xfrm>
            <a:off x="3276600" y="20345400"/>
            <a:ext cx="0" cy="355600"/>
          </a:xfrm>
          <a:prstGeom prst="straightConnector1">
            <a:avLst/>
          </a:prstGeom>
          <a:ln w="50800">
            <a:solidFill>
              <a:srgbClr val="52606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43687458-EC80-DBE9-7F06-8094E4359896}"/>
              </a:ext>
            </a:extLst>
          </p:cNvPr>
          <p:cNvCxnSpPr/>
          <p:nvPr/>
        </p:nvCxnSpPr>
        <p:spPr>
          <a:xfrm flipV="1">
            <a:off x="7620000" y="20345400"/>
            <a:ext cx="0" cy="355600"/>
          </a:xfrm>
          <a:prstGeom prst="straightConnector1">
            <a:avLst/>
          </a:prstGeom>
          <a:ln w="50800">
            <a:solidFill>
              <a:srgbClr val="52606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9657D2C3-290B-0D4F-381E-9A04E4AEA211}"/>
              </a:ext>
            </a:extLst>
          </p:cNvPr>
          <p:cNvSpPr/>
          <p:nvPr/>
        </p:nvSpPr>
        <p:spPr>
          <a:xfrm>
            <a:off x="1371600" y="20701000"/>
            <a:ext cx="381000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AD9361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915 MHz, 20 MSPS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C2B5D183-7723-2003-6A74-B7C52885295C}"/>
              </a:ext>
            </a:extLst>
          </p:cNvPr>
          <p:cNvSpPr/>
          <p:nvPr/>
        </p:nvSpPr>
        <p:spPr>
          <a:xfrm>
            <a:off x="5715000" y="20701000"/>
            <a:ext cx="381000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AD9361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fast AGC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58973C7D-9BD2-3B07-91DA-67E200B88E74}"/>
              </a:ext>
            </a:extLst>
          </p:cNvPr>
          <p:cNvCxnSpPr/>
          <p:nvPr/>
        </p:nvCxnSpPr>
        <p:spPr>
          <a:xfrm>
            <a:off x="5181600" y="21234400"/>
            <a:ext cx="533400" cy="0"/>
          </a:xfrm>
          <a:prstGeom prst="straightConnector1">
            <a:avLst/>
          </a:prstGeom>
          <a:ln w="50800">
            <a:solidFill>
              <a:srgbClr val="D953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ED97D530-B0FA-B097-691A-FE7A78D628FA}"/>
              </a:ext>
            </a:extLst>
          </p:cNvPr>
          <p:cNvSpPr txBox="1"/>
          <p:nvPr/>
        </p:nvSpPr>
        <p:spPr>
          <a:xfrm>
            <a:off x="5181600" y="20726400"/>
            <a:ext cx="533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zh-CN" sz="2200" b="1">
                <a:solidFill>
                  <a:srgbClr val="D9531E"/>
                </a:solidFill>
                <a:latin typeface="Calibri" panose="020F0502020204030204" pitchFamily="34" charset="0"/>
              </a:rPr>
              <a:t>air</a:t>
            </a:r>
            <a:endParaRPr lang="zh-CN" altLang="en-US" sz="2200" b="1">
              <a:solidFill>
                <a:srgbClr val="D9531E"/>
              </a:solidFill>
              <a:latin typeface="Calibri" panose="020F0502020204030204" pitchFamily="34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B9C864E0-D791-A1C6-20AE-65D875B03288}"/>
              </a:ext>
            </a:extLst>
          </p:cNvPr>
          <p:cNvSpPr txBox="1"/>
          <p:nvPr/>
        </p:nvSpPr>
        <p:spPr>
          <a:xfrm>
            <a:off x="1371600" y="22047200"/>
            <a:ext cx="81534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100">
                <a:solidFill>
                  <a:srgbClr val="52606D"/>
                </a:solidFill>
                <a:latin typeface="Calibri" panose="020F0502020204030204" pitchFamily="34" charset="0"/>
              </a:rPr>
              <a:t>One frame = one image = 32,768 64-QAM symbols = 683 OFDM symbols (2.75 ms on air). The coded image crosses the air link only; Ethernet carries control and the TX preview used for PSNR.</a:t>
            </a:r>
            <a:endParaRPr lang="zh-CN" altLang="en-US" sz="21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47" name="card 3">
            <a:extLst>
              <a:ext uri="{FF2B5EF4-FFF2-40B4-BE49-F238E27FC236}">
                <a16:creationId xmlns:a16="http://schemas.microsoft.com/office/drawing/2014/main" id="{65516AF7-55FA-E2A4-4F67-9C3560323652}"/>
              </a:ext>
            </a:extLst>
          </p:cNvPr>
          <p:cNvSpPr/>
          <p:nvPr/>
        </p:nvSpPr>
        <p:spPr>
          <a:xfrm>
            <a:off x="914400" y="23368000"/>
            <a:ext cx="9067800" cy="6921500"/>
          </a:xfrm>
          <a:prstGeom prst="roundRect">
            <a:avLst>
              <a:gd name="adj" fmla="val 3303"/>
            </a:avLst>
          </a:prstGeom>
          <a:solidFill>
            <a:srgbClr val="EEF3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badge 3">
            <a:extLst>
              <a:ext uri="{FF2B5EF4-FFF2-40B4-BE49-F238E27FC236}">
                <a16:creationId xmlns:a16="http://schemas.microsoft.com/office/drawing/2014/main" id="{415C865C-B3F5-E79C-537B-561751325404}"/>
              </a:ext>
            </a:extLst>
          </p:cNvPr>
          <p:cNvSpPr/>
          <p:nvPr/>
        </p:nvSpPr>
        <p:spPr>
          <a:xfrm>
            <a:off x="1270000" y="23698200"/>
            <a:ext cx="711200" cy="711200"/>
          </a:xfrm>
          <a:prstGeom prst="ellipse">
            <a:avLst/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2800" b="1">
                <a:solidFill>
                  <a:srgbClr val="FFFFFF"/>
                </a:solidFill>
                <a:latin typeface="Calibri" panose="020F0502020204030204" pitchFamily="34" charset="0"/>
              </a:rPr>
              <a:t>3</a:t>
            </a:r>
            <a:endParaRPr lang="zh-CN" altLang="en-US" sz="28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9" name="title 3">
            <a:extLst>
              <a:ext uri="{FF2B5EF4-FFF2-40B4-BE49-F238E27FC236}">
                <a16:creationId xmlns:a16="http://schemas.microsoft.com/office/drawing/2014/main" id="{B3C87F8A-604C-EFEE-E854-387C5300DCEE}"/>
              </a:ext>
            </a:extLst>
          </p:cNvPr>
          <p:cNvSpPr txBox="1"/>
          <p:nvPr/>
        </p:nvSpPr>
        <p:spPr>
          <a:xfrm>
            <a:off x="2235200" y="23698200"/>
            <a:ext cx="73914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4000" b="1">
                <a:solidFill>
                  <a:srgbClr val="0B4F8A"/>
                </a:solidFill>
                <a:latin typeface="Calibri" panose="020F0502020204030204" pitchFamily="34" charset="0"/>
              </a:rPr>
              <a:t>DeepJSCC-Q network</a:t>
            </a:r>
            <a:endParaRPr lang="zh-CN" altLang="en-US" sz="40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DF61BEF3-8FC7-8DF9-2FC4-E2C4BF988182}"/>
              </a:ext>
            </a:extLst>
          </p:cNvPr>
          <p:cNvSpPr txBox="1"/>
          <p:nvPr/>
        </p:nvSpPr>
        <p:spPr>
          <a:xfrm>
            <a:off x="1371600" y="24638000"/>
            <a:ext cx="8153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altLang="zh-CN" sz="2100" b="1">
                <a:solidFill>
                  <a:srgbClr val="52606D"/>
                </a:solidFill>
                <a:latin typeface="Calibri" panose="020F0502020204030204" pitchFamily="34" charset="0"/>
              </a:rPr>
              <a:t>Encoder: 256x256x3 image -&gt; 64x64x16 latent (55 conv)</a:t>
            </a:r>
            <a:endParaRPr lang="zh-CN" altLang="en-US" sz="2100" b="1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F3E0E8D7-00D1-35EF-223F-49017685F3C9}"/>
              </a:ext>
            </a:extLst>
          </p:cNvPr>
          <p:cNvSpPr/>
          <p:nvPr/>
        </p:nvSpPr>
        <p:spPr>
          <a:xfrm>
            <a:off x="1371600" y="25069800"/>
            <a:ext cx="702733" cy="660400"/>
          </a:xfrm>
          <a:prstGeom prst="roundRect">
            <a:avLst>
              <a:gd name="adj" fmla="val 18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RG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64A3F4A6-6C2F-D037-CF89-26AE8FCFB280}"/>
              </a:ext>
            </a:extLst>
          </p:cNvPr>
          <p:cNvSpPr/>
          <p:nvPr/>
        </p:nvSpPr>
        <p:spPr>
          <a:xfrm>
            <a:off x="2302933" y="25069800"/>
            <a:ext cx="702734" cy="660400"/>
          </a:xfrm>
          <a:prstGeom prst="roundRect">
            <a:avLst>
              <a:gd name="adj" fmla="val 18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RB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B106802A-8A47-76C6-5493-CC24B54F4001}"/>
              </a:ext>
            </a:extLst>
          </p:cNvPr>
          <p:cNvCxnSpPr>
            <a:cxnSpLocks/>
            <a:stCxn id="51" idx="3"/>
            <a:endCxn id="52" idx="1"/>
          </p:cNvCxnSpPr>
          <p:nvPr/>
        </p:nvCxnSpPr>
        <p:spPr>
          <a:xfrm>
            <a:off x="2074333" y="25400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821D639A-4D90-0390-E970-221C347E20EA}"/>
              </a:ext>
            </a:extLst>
          </p:cNvPr>
          <p:cNvSpPr/>
          <p:nvPr/>
        </p:nvSpPr>
        <p:spPr>
          <a:xfrm>
            <a:off x="3234267" y="25069800"/>
            <a:ext cx="702733" cy="660400"/>
          </a:xfrm>
          <a:prstGeom prst="roundRect">
            <a:avLst>
              <a:gd name="adj" fmla="val 18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RG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8AA02136-2C0C-4B34-2613-F6B9BA6B7EFD}"/>
              </a:ext>
            </a:extLst>
          </p:cNvPr>
          <p:cNvCxnSpPr>
            <a:cxnSpLocks/>
            <a:stCxn id="52" idx="3"/>
            <a:endCxn id="54" idx="1"/>
          </p:cNvCxnSpPr>
          <p:nvPr/>
        </p:nvCxnSpPr>
        <p:spPr>
          <a:xfrm>
            <a:off x="3005667" y="25400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4179B97B-06F9-41C7-4CAE-DF9405D0D45F}"/>
              </a:ext>
            </a:extLst>
          </p:cNvPr>
          <p:cNvSpPr/>
          <p:nvPr/>
        </p:nvSpPr>
        <p:spPr>
          <a:xfrm>
            <a:off x="4165600" y="25069800"/>
            <a:ext cx="702733" cy="660400"/>
          </a:xfrm>
          <a:prstGeom prst="roundRect">
            <a:avLst>
              <a:gd name="adj" fmla="val 18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ATT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623D507B-0ADE-CE73-765F-741B60FEA52B}"/>
              </a:ext>
            </a:extLst>
          </p:cNvPr>
          <p:cNvCxnSpPr>
            <a:cxnSpLocks/>
            <a:stCxn id="54" idx="3"/>
            <a:endCxn id="56" idx="1"/>
          </p:cNvCxnSpPr>
          <p:nvPr/>
        </p:nvCxnSpPr>
        <p:spPr>
          <a:xfrm>
            <a:off x="3937000" y="25400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E9A540CD-CF75-3E0E-08A4-9C8B89417D10}"/>
              </a:ext>
            </a:extLst>
          </p:cNvPr>
          <p:cNvSpPr/>
          <p:nvPr/>
        </p:nvSpPr>
        <p:spPr>
          <a:xfrm>
            <a:off x="5096933" y="25069800"/>
            <a:ext cx="702734" cy="660400"/>
          </a:xfrm>
          <a:prstGeom prst="roundRect">
            <a:avLst>
              <a:gd name="adj" fmla="val 18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RB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93D5DD8B-5920-E128-02E9-53A139F3F03C}"/>
              </a:ext>
            </a:extLst>
          </p:cNvPr>
          <p:cNvCxnSpPr>
            <a:cxnSpLocks/>
            <a:stCxn id="56" idx="3"/>
            <a:endCxn id="58" idx="1"/>
          </p:cNvCxnSpPr>
          <p:nvPr/>
        </p:nvCxnSpPr>
        <p:spPr>
          <a:xfrm>
            <a:off x="4868333" y="25400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52B40107-0981-3C98-5267-B94EB1D8083F}"/>
              </a:ext>
            </a:extLst>
          </p:cNvPr>
          <p:cNvSpPr/>
          <p:nvPr/>
        </p:nvSpPr>
        <p:spPr>
          <a:xfrm>
            <a:off x="6028267" y="25069800"/>
            <a:ext cx="702733" cy="660400"/>
          </a:xfrm>
          <a:prstGeom prst="roundRect">
            <a:avLst>
              <a:gd name="adj" fmla="val 18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RG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96DEC756-9709-C264-32AF-25D1F3E2D574}"/>
              </a:ext>
            </a:extLst>
          </p:cNvPr>
          <p:cNvCxnSpPr>
            <a:cxnSpLocks/>
            <a:stCxn id="58" idx="3"/>
            <a:endCxn id="60" idx="1"/>
          </p:cNvCxnSpPr>
          <p:nvPr/>
        </p:nvCxnSpPr>
        <p:spPr>
          <a:xfrm>
            <a:off x="5799667" y="25400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2DBE0BF4-FC7A-C97C-B39A-E280EAF4BF3B}"/>
              </a:ext>
            </a:extLst>
          </p:cNvPr>
          <p:cNvSpPr/>
          <p:nvPr/>
        </p:nvSpPr>
        <p:spPr>
          <a:xfrm>
            <a:off x="6959600" y="25069800"/>
            <a:ext cx="702733" cy="660400"/>
          </a:xfrm>
          <a:prstGeom prst="roundRect">
            <a:avLst>
              <a:gd name="adj" fmla="val 18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RB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37143D45-B60C-D1F5-199D-DDF84FD25506}"/>
              </a:ext>
            </a:extLst>
          </p:cNvPr>
          <p:cNvCxnSpPr>
            <a:cxnSpLocks/>
            <a:stCxn id="60" idx="3"/>
            <a:endCxn id="62" idx="1"/>
          </p:cNvCxnSpPr>
          <p:nvPr/>
        </p:nvCxnSpPr>
        <p:spPr>
          <a:xfrm>
            <a:off x="6731000" y="25400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DBCC217B-6EAD-CC95-8CE6-29EC27A0D277}"/>
              </a:ext>
            </a:extLst>
          </p:cNvPr>
          <p:cNvSpPr/>
          <p:nvPr/>
        </p:nvSpPr>
        <p:spPr>
          <a:xfrm>
            <a:off x="7890933" y="25069800"/>
            <a:ext cx="702733" cy="660400"/>
          </a:xfrm>
          <a:prstGeom prst="roundRect">
            <a:avLst>
              <a:gd name="adj" fmla="val 18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RG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C43A8E19-A556-5AB7-26E8-405A782E0802}"/>
              </a:ext>
            </a:extLst>
          </p:cNvPr>
          <p:cNvCxnSpPr>
            <a:cxnSpLocks/>
            <a:stCxn id="62" idx="3"/>
            <a:endCxn id="64" idx="1"/>
          </p:cNvCxnSpPr>
          <p:nvPr/>
        </p:nvCxnSpPr>
        <p:spPr>
          <a:xfrm>
            <a:off x="7662333" y="25400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B859B88A-A5C3-2DF6-4666-25B51EB0611E}"/>
              </a:ext>
            </a:extLst>
          </p:cNvPr>
          <p:cNvSpPr/>
          <p:nvPr/>
        </p:nvSpPr>
        <p:spPr>
          <a:xfrm>
            <a:off x="8822267" y="25069800"/>
            <a:ext cx="702733" cy="660400"/>
          </a:xfrm>
          <a:prstGeom prst="roundRect">
            <a:avLst>
              <a:gd name="adj" fmla="val 18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ATT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C6E4378D-B7BF-8844-8A8E-02539CCA0249}"/>
              </a:ext>
            </a:extLst>
          </p:cNvPr>
          <p:cNvCxnSpPr>
            <a:cxnSpLocks/>
            <a:stCxn id="64" idx="3"/>
            <a:endCxn id="66" idx="1"/>
          </p:cNvCxnSpPr>
          <p:nvPr/>
        </p:nvCxnSpPr>
        <p:spPr>
          <a:xfrm>
            <a:off x="8593666" y="25400000"/>
            <a:ext cx="228601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DCB52AD5-958D-930D-11CF-B2893B271C89}"/>
              </a:ext>
            </a:extLst>
          </p:cNvPr>
          <p:cNvSpPr/>
          <p:nvPr/>
        </p:nvSpPr>
        <p:spPr>
          <a:xfrm>
            <a:off x="13716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ATT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69" name="矩形: 圆角 68">
            <a:extLst>
              <a:ext uri="{FF2B5EF4-FFF2-40B4-BE49-F238E27FC236}">
                <a16:creationId xmlns:a16="http://schemas.microsoft.com/office/drawing/2014/main" id="{BA094D24-2C1E-D5D1-CC13-59097C496FE8}"/>
              </a:ext>
            </a:extLst>
          </p:cNvPr>
          <p:cNvSpPr/>
          <p:nvPr/>
        </p:nvSpPr>
        <p:spPr>
          <a:xfrm>
            <a:off x="22098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RB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1DE7A032-120A-4E07-970D-5F580AAADF49}"/>
              </a:ext>
            </a:extLst>
          </p:cNvPr>
          <p:cNvCxnSpPr>
            <a:cxnSpLocks/>
            <a:stCxn id="68" idx="3"/>
            <a:endCxn id="69" idx="1"/>
          </p:cNvCxnSpPr>
          <p:nvPr/>
        </p:nvCxnSpPr>
        <p:spPr>
          <a:xfrm>
            <a:off x="1981200" y="26924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E1624121-9E0C-B981-B20B-F24E0F1FCC84}"/>
              </a:ext>
            </a:extLst>
          </p:cNvPr>
          <p:cNvSpPr/>
          <p:nvPr/>
        </p:nvSpPr>
        <p:spPr>
          <a:xfrm>
            <a:off x="30480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RU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72" name="直接箭头连接符 71">
            <a:extLst>
              <a:ext uri="{FF2B5EF4-FFF2-40B4-BE49-F238E27FC236}">
                <a16:creationId xmlns:a16="http://schemas.microsoft.com/office/drawing/2014/main" id="{FDF18249-32D1-47DC-6EDB-92C25BDD2950}"/>
              </a:ext>
            </a:extLst>
          </p:cNvPr>
          <p:cNvCxnSpPr>
            <a:cxnSpLocks/>
            <a:stCxn id="69" idx="3"/>
            <a:endCxn id="71" idx="1"/>
          </p:cNvCxnSpPr>
          <p:nvPr/>
        </p:nvCxnSpPr>
        <p:spPr>
          <a:xfrm>
            <a:off x="2819400" y="26924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F49C11F6-26C2-ED99-3F80-7511170C8B96}"/>
              </a:ext>
            </a:extLst>
          </p:cNvPr>
          <p:cNvSpPr/>
          <p:nvPr/>
        </p:nvSpPr>
        <p:spPr>
          <a:xfrm>
            <a:off x="38862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RB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7DF718F3-B8BA-7273-AF9F-791E81EB2490}"/>
              </a:ext>
            </a:extLst>
          </p:cNvPr>
          <p:cNvCxnSpPr>
            <a:cxnSpLocks/>
            <a:stCxn id="71" idx="3"/>
            <a:endCxn id="73" idx="1"/>
          </p:cNvCxnSpPr>
          <p:nvPr/>
        </p:nvCxnSpPr>
        <p:spPr>
          <a:xfrm>
            <a:off x="3657600" y="26924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矩形: 圆角 74">
            <a:extLst>
              <a:ext uri="{FF2B5EF4-FFF2-40B4-BE49-F238E27FC236}">
                <a16:creationId xmlns:a16="http://schemas.microsoft.com/office/drawing/2014/main" id="{318A61F7-C792-486C-73AC-66B372FBE868}"/>
              </a:ext>
            </a:extLst>
          </p:cNvPr>
          <p:cNvSpPr/>
          <p:nvPr/>
        </p:nvSpPr>
        <p:spPr>
          <a:xfrm>
            <a:off x="47244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RU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95D29543-3190-A504-6C2C-E27155ACA04F}"/>
              </a:ext>
            </a:extLst>
          </p:cNvPr>
          <p:cNvCxnSpPr>
            <a:cxnSpLocks/>
            <a:stCxn id="73" idx="3"/>
            <a:endCxn id="75" idx="1"/>
          </p:cNvCxnSpPr>
          <p:nvPr/>
        </p:nvCxnSpPr>
        <p:spPr>
          <a:xfrm>
            <a:off x="4495800" y="26924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63CA1265-BEF2-9C1B-1DA7-11CE2DD22AC1}"/>
              </a:ext>
            </a:extLst>
          </p:cNvPr>
          <p:cNvSpPr/>
          <p:nvPr/>
        </p:nvSpPr>
        <p:spPr>
          <a:xfrm>
            <a:off x="55626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ATT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BCDDC3B2-6A20-9DB7-A982-34DA4D1009A9}"/>
              </a:ext>
            </a:extLst>
          </p:cNvPr>
          <p:cNvCxnSpPr>
            <a:cxnSpLocks/>
            <a:stCxn id="75" idx="3"/>
            <a:endCxn id="77" idx="1"/>
          </p:cNvCxnSpPr>
          <p:nvPr/>
        </p:nvCxnSpPr>
        <p:spPr>
          <a:xfrm>
            <a:off x="5334000" y="26924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64E31F3F-F522-42F2-EAF2-CE5F77C1E1C3}"/>
              </a:ext>
            </a:extLst>
          </p:cNvPr>
          <p:cNvSpPr/>
          <p:nvPr/>
        </p:nvSpPr>
        <p:spPr>
          <a:xfrm>
            <a:off x="64008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RB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2C1BB4CA-DAF8-77F0-1686-1B80B70D08EB}"/>
              </a:ext>
            </a:extLst>
          </p:cNvPr>
          <p:cNvCxnSpPr>
            <a:cxnSpLocks/>
            <a:stCxn id="77" idx="3"/>
            <a:endCxn id="79" idx="1"/>
          </p:cNvCxnSpPr>
          <p:nvPr/>
        </p:nvCxnSpPr>
        <p:spPr>
          <a:xfrm>
            <a:off x="6172200" y="26924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ABD14EA8-73C1-BF68-B7D5-809E78014405}"/>
              </a:ext>
            </a:extLst>
          </p:cNvPr>
          <p:cNvSpPr/>
          <p:nvPr/>
        </p:nvSpPr>
        <p:spPr>
          <a:xfrm>
            <a:off x="72390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RU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6457E6E2-09CC-D7AE-E361-BDF36688780A}"/>
              </a:ext>
            </a:extLst>
          </p:cNvPr>
          <p:cNvCxnSpPr>
            <a:cxnSpLocks/>
            <a:stCxn id="79" idx="3"/>
            <a:endCxn id="81" idx="1"/>
          </p:cNvCxnSpPr>
          <p:nvPr/>
        </p:nvCxnSpPr>
        <p:spPr>
          <a:xfrm>
            <a:off x="7010400" y="26924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DDD3287A-7FC1-6B23-0B96-15689395F54F}"/>
              </a:ext>
            </a:extLst>
          </p:cNvPr>
          <p:cNvSpPr/>
          <p:nvPr/>
        </p:nvSpPr>
        <p:spPr>
          <a:xfrm>
            <a:off x="80772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RB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382C71F9-ACD1-5073-E53E-490F54509EB8}"/>
              </a:ext>
            </a:extLst>
          </p:cNvPr>
          <p:cNvCxnSpPr>
            <a:cxnSpLocks/>
            <a:stCxn id="81" idx="3"/>
            <a:endCxn id="83" idx="1"/>
          </p:cNvCxnSpPr>
          <p:nvPr/>
        </p:nvCxnSpPr>
        <p:spPr>
          <a:xfrm>
            <a:off x="7848600" y="26924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4DB19A54-9F8F-98DE-463E-41CCC360218E}"/>
              </a:ext>
            </a:extLst>
          </p:cNvPr>
          <p:cNvSpPr/>
          <p:nvPr/>
        </p:nvSpPr>
        <p:spPr>
          <a:xfrm>
            <a:off x="89154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RU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89E75101-CDF0-97F4-8B46-3240F194A76B}"/>
              </a:ext>
            </a:extLst>
          </p:cNvPr>
          <p:cNvCxnSpPr>
            <a:cxnSpLocks/>
            <a:stCxn id="83" idx="3"/>
            <a:endCxn id="85" idx="1"/>
          </p:cNvCxnSpPr>
          <p:nvPr/>
        </p:nvCxnSpPr>
        <p:spPr>
          <a:xfrm>
            <a:off x="8686800" y="26924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连接符: 肘形 86">
            <a:extLst>
              <a:ext uri="{FF2B5EF4-FFF2-40B4-BE49-F238E27FC236}">
                <a16:creationId xmlns:a16="http://schemas.microsoft.com/office/drawing/2014/main" id="{0C6BF7A1-C119-C9BA-67A6-B5F872769E23}"/>
              </a:ext>
            </a:extLst>
          </p:cNvPr>
          <p:cNvCxnSpPr>
            <a:cxnSpLocks/>
            <a:stCxn id="66" idx="2"/>
            <a:endCxn id="68" idx="0"/>
          </p:cNvCxnSpPr>
          <p:nvPr/>
        </p:nvCxnSpPr>
        <p:spPr>
          <a:xfrm rot="5400000">
            <a:off x="4993217" y="22413383"/>
            <a:ext cx="863600" cy="7497234"/>
          </a:xfrm>
          <a:prstGeom prst="bentConnector3">
            <a:avLst>
              <a:gd name="adj1" fmla="val 50000"/>
            </a:avLst>
          </a:prstGeom>
          <a:ln w="38100">
            <a:solidFill>
              <a:srgbClr val="D9531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矩形: 圆角 87">
            <a:extLst>
              <a:ext uri="{FF2B5EF4-FFF2-40B4-BE49-F238E27FC236}">
                <a16:creationId xmlns:a16="http://schemas.microsoft.com/office/drawing/2014/main" id="{84A45E47-8870-14A2-C21F-398D10968482}"/>
              </a:ext>
            </a:extLst>
          </p:cNvPr>
          <p:cNvSpPr/>
          <p:nvPr/>
        </p:nvSpPr>
        <p:spPr>
          <a:xfrm>
            <a:off x="2463800" y="25933400"/>
            <a:ext cx="59690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D9531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de-DE" altLang="zh-CN" sz="2000" b="1">
                <a:solidFill>
                  <a:srgbClr val="D9531E"/>
                </a:solidFill>
                <a:latin typeface="Calibri" panose="020F0502020204030204" pitchFamily="34" charset="0"/>
              </a:rPr>
              <a:t>32,768 64-QAM symbols (0.5 symbol / pixel)</a:t>
            </a:r>
            <a:endParaRPr lang="zh-CN" altLang="en-US" sz="2000" b="1">
              <a:solidFill>
                <a:srgbClr val="D9531E"/>
              </a:solidFill>
              <a:latin typeface="Calibri" panose="020F0502020204030204" pitchFamily="34" charset="0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2679623-1C0C-9EB8-05E5-1809CE20775C}"/>
              </a:ext>
            </a:extLst>
          </p:cNvPr>
          <p:cNvSpPr txBox="1"/>
          <p:nvPr/>
        </p:nvSpPr>
        <p:spPr>
          <a:xfrm>
            <a:off x="1371600" y="27355800"/>
            <a:ext cx="8153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100" b="1">
                <a:solidFill>
                  <a:srgbClr val="52606D"/>
                </a:solidFill>
                <a:latin typeface="Calibri" panose="020F0502020204030204" pitchFamily="34" charset="0"/>
              </a:rPr>
              <a:t>Decoder: soft I/Q -&gt; image (59 conv)</a:t>
            </a:r>
            <a:endParaRPr lang="zh-CN" altLang="en-US" sz="2100" b="1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4A35DB51-1D99-BDB1-7BE6-7D10C64FB6DE}"/>
              </a:ext>
            </a:extLst>
          </p:cNvPr>
          <p:cNvSpPr txBox="1"/>
          <p:nvPr/>
        </p:nvSpPr>
        <p:spPr>
          <a:xfrm>
            <a:off x="1371600" y="27762200"/>
            <a:ext cx="8153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>
                <a:solidFill>
                  <a:srgbClr val="52606D"/>
                </a:solidFill>
                <a:latin typeface="Calibri" panose="020F0502020204030204" pitchFamily="34" charset="0"/>
              </a:rPr>
              <a:t>RG/RB residual (+GDN), ATT attention, RU PixelShuffle (+IGDN)</a:t>
            </a:r>
            <a:endParaRPr lang="zh-CN" altLang="en-US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E16B7429-13A0-1DD0-A6BB-89397990CEB0}"/>
              </a:ext>
            </a:extLst>
          </p:cNvPr>
          <p:cNvSpPr txBox="1"/>
          <p:nvPr/>
        </p:nvSpPr>
        <p:spPr>
          <a:xfrm>
            <a:off x="1371600" y="28270200"/>
            <a:ext cx="8153400" cy="279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66700" indent="-2667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300">
                <a:solidFill>
                  <a:srgbClr val="1F2933"/>
                </a:solidFill>
                <a:latin typeface="Calibri" panose="020F0502020204030204" pitchFamily="34" charset="0"/>
              </a:rPr>
              <a:t>C = 32, 16 latent channels, 4× down-sampling: same 32,768 symbols as [2] with 1/51 of its MACs; trained at 10 dB AWGN with a constellation-entropy (KL) penalty.</a:t>
            </a:r>
          </a:p>
          <a:p>
            <a:pPr marL="266700" indent="-2667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300">
                <a:solidFill>
                  <a:srgbClr val="1F2933"/>
                </a:solidFill>
                <a:latin typeface="Calibri" panose="020F0502020204030204" pitchFamily="34" charset="0"/>
              </a:rPr>
              <a:t>W8A12 post-training quantization: 0.05 dB below float (DIV2K); RTL bit-exact against the integer model.</a:t>
            </a:r>
            <a:endParaRPr lang="zh-CN" altLang="en-US" sz="2300">
              <a:solidFill>
                <a:srgbClr val="1F2933"/>
              </a:solidFill>
              <a:latin typeface="Calibri" panose="020F0502020204030204" pitchFamily="34" charset="0"/>
            </a:endParaRPr>
          </a:p>
        </p:txBody>
      </p:sp>
      <p:sp>
        <p:nvSpPr>
          <p:cNvPr id="92" name="card 4">
            <a:extLst>
              <a:ext uri="{FF2B5EF4-FFF2-40B4-BE49-F238E27FC236}">
                <a16:creationId xmlns:a16="http://schemas.microsoft.com/office/drawing/2014/main" id="{9333A0C7-C1D6-484B-61E4-D0D50484A657}"/>
              </a:ext>
            </a:extLst>
          </p:cNvPr>
          <p:cNvSpPr/>
          <p:nvPr/>
        </p:nvSpPr>
        <p:spPr>
          <a:xfrm>
            <a:off x="914400" y="30670500"/>
            <a:ext cx="9067800" cy="9207500"/>
          </a:xfrm>
          <a:prstGeom prst="roundRect">
            <a:avLst>
              <a:gd name="adj" fmla="val 2521"/>
            </a:avLst>
          </a:prstGeom>
          <a:solidFill>
            <a:srgbClr val="EEF3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badge 4">
            <a:extLst>
              <a:ext uri="{FF2B5EF4-FFF2-40B4-BE49-F238E27FC236}">
                <a16:creationId xmlns:a16="http://schemas.microsoft.com/office/drawing/2014/main" id="{8D1D6B08-96BA-170B-91B7-253A32768C03}"/>
              </a:ext>
            </a:extLst>
          </p:cNvPr>
          <p:cNvSpPr/>
          <p:nvPr/>
        </p:nvSpPr>
        <p:spPr>
          <a:xfrm>
            <a:off x="1270000" y="31000700"/>
            <a:ext cx="711200" cy="711200"/>
          </a:xfrm>
          <a:prstGeom prst="ellipse">
            <a:avLst/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2800" b="1">
                <a:solidFill>
                  <a:srgbClr val="FFFFFF"/>
                </a:solidFill>
                <a:latin typeface="Calibri" panose="020F0502020204030204" pitchFamily="34" charset="0"/>
              </a:rPr>
              <a:t>4</a:t>
            </a:r>
            <a:endParaRPr lang="zh-CN" altLang="en-US" sz="28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94" name="title 4">
            <a:extLst>
              <a:ext uri="{FF2B5EF4-FFF2-40B4-BE49-F238E27FC236}">
                <a16:creationId xmlns:a16="http://schemas.microsoft.com/office/drawing/2014/main" id="{5421263A-399F-6828-B168-C1087DD756A8}"/>
              </a:ext>
            </a:extLst>
          </p:cNvPr>
          <p:cNvSpPr txBox="1"/>
          <p:nvPr/>
        </p:nvSpPr>
        <p:spPr>
          <a:xfrm>
            <a:off x="2235200" y="31000700"/>
            <a:ext cx="73914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4000" b="1">
                <a:solidFill>
                  <a:srgbClr val="0B4F8A"/>
                </a:solidFill>
                <a:latin typeface="Calibri" panose="020F0502020204030204" pitchFamily="34" charset="0"/>
              </a:rPr>
              <a:t>OFDM PHY and RF front end</a:t>
            </a:r>
            <a:endParaRPr lang="zh-CN" altLang="en-US" sz="40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90D73281-81F2-7390-B48B-E483E4F27968}"/>
              </a:ext>
            </a:extLst>
          </p:cNvPr>
          <p:cNvSpPr txBox="1"/>
          <p:nvPr/>
        </p:nvSpPr>
        <p:spPr>
          <a:xfrm>
            <a:off x="1371600" y="31991300"/>
            <a:ext cx="8153400" cy="381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66700" indent="-2667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300">
                <a:solidFill>
                  <a:srgbClr val="1F2933"/>
                </a:solidFill>
                <a:latin typeface="Calibri" panose="020F0502020204030204" pitchFamily="34" charset="0"/>
              </a:rPr>
              <a:t>64-pt FFT, 48 data + 4 pilots; PN sign flip: 99 % PAPR 10.1-10.7 -&gt; 9.4-9.8 dB.</a:t>
            </a:r>
          </a:p>
          <a:p>
            <a:pPr marL="266700" indent="-2667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300">
                <a:solidFill>
                  <a:srgbClr val="1F2933"/>
                </a:solidFill>
                <a:latin typeface="Calibri" panose="020F0502020204030204" pitchFamily="34" charset="0"/>
              </a:rPr>
              <a:t>Second-order SFO / CPE loop, no steady-state error under a 40 ppm ramp: frame-end EVM within 1.7 dB of the start (683 symbols).</a:t>
            </a:r>
          </a:p>
          <a:p>
            <a:pPr marL="266700" indent="-2667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300">
                <a:solidFill>
                  <a:srgbClr val="1F2933"/>
                </a:solidFill>
                <a:latin typeface="Calibri" panose="020F0502020204030204" pitchFamily="34" charset="0"/>
              </a:rPr>
              <a:t>AD9361: SPI handshake fixed, TX quadrature-calibration phase search in PL, FIR redesigned: loopback EVM -22 -&gt; -32 dB.</a:t>
            </a:r>
          </a:p>
          <a:p>
            <a:pPr marL="266700" indent="-2667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300">
                <a:solidFill>
                  <a:srgbClr val="1F2933"/>
                </a:solidFill>
                <a:latin typeface="Calibri" panose="020F0502020204030204" pitchFamily="34" charset="0"/>
              </a:rPr>
              <a:t>Fast AGC locked at -14 dBFS with a PL-counter watchdog; PHY alone: 0 errors in 7.15×10^8 bits.</a:t>
            </a:r>
            <a:endParaRPr lang="zh-CN" altLang="en-US" sz="2300">
              <a:solidFill>
                <a:srgbClr val="1F2933"/>
              </a:solidFill>
              <a:latin typeface="Calibri" panose="020F0502020204030204" pitchFamily="34" charset="0"/>
            </a:endParaRPr>
          </a:p>
        </p:txBody>
      </p:sp>
      <p:pic>
        <p:nvPicPr>
          <p:cNvPr id="97" name="图片 96">
            <a:extLst>
              <a:ext uri="{FF2B5EF4-FFF2-40B4-BE49-F238E27FC236}">
                <a16:creationId xmlns:a16="http://schemas.microsoft.com/office/drawing/2014/main" id="{C10AE307-BAE6-3C6C-9D1C-32A7143F20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6800" y="36156901"/>
            <a:ext cx="6223000" cy="3378895"/>
          </a:xfrm>
          <a:prstGeom prst="rect">
            <a:avLst/>
          </a:prstGeom>
          <a:ln w="19050">
            <a:solidFill>
              <a:srgbClr val="B8C7D6"/>
            </a:solidFill>
          </a:ln>
        </p:spPr>
      </p:pic>
      <p:sp>
        <p:nvSpPr>
          <p:cNvPr id="98" name="文本框 97">
            <a:extLst>
              <a:ext uri="{FF2B5EF4-FFF2-40B4-BE49-F238E27FC236}">
                <a16:creationId xmlns:a16="http://schemas.microsoft.com/office/drawing/2014/main" id="{B4051D10-BA84-9B65-877B-C4C3997A0576}"/>
              </a:ext>
            </a:extLst>
          </p:cNvPr>
          <p:cNvSpPr txBox="1"/>
          <p:nvPr/>
        </p:nvSpPr>
        <p:spPr>
          <a:xfrm>
            <a:off x="1371600" y="39611995"/>
            <a:ext cx="8153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zh-CN">
                <a:solidFill>
                  <a:srgbClr val="52606D"/>
                </a:solidFill>
                <a:latin typeface="Calibri" panose="020F0502020204030204" pitchFamily="34" charset="0"/>
              </a:rPr>
              <a:t>Live RX GUI: constellations, |H| vs time (Mali-400 GPU), per-subcarrier SNR, spectrum</a:t>
            </a:r>
            <a:endParaRPr lang="zh-CN" altLang="en-US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99" name="card 5">
            <a:extLst>
              <a:ext uri="{FF2B5EF4-FFF2-40B4-BE49-F238E27FC236}">
                <a16:creationId xmlns:a16="http://schemas.microsoft.com/office/drawing/2014/main" id="{9307E042-B8F8-C172-51CB-90FC2E7B8734}"/>
              </a:ext>
            </a:extLst>
          </p:cNvPr>
          <p:cNvSpPr/>
          <p:nvPr/>
        </p:nvSpPr>
        <p:spPr>
          <a:xfrm>
            <a:off x="10591800" y="7239000"/>
            <a:ext cx="9067800" cy="13462000"/>
          </a:xfrm>
          <a:prstGeom prst="roundRect">
            <a:avLst>
              <a:gd name="adj" fmla="val 2521"/>
            </a:avLst>
          </a:prstGeom>
          <a:solidFill>
            <a:srgbClr val="EEF3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badge 5">
            <a:extLst>
              <a:ext uri="{FF2B5EF4-FFF2-40B4-BE49-F238E27FC236}">
                <a16:creationId xmlns:a16="http://schemas.microsoft.com/office/drawing/2014/main" id="{04260809-8B4C-A35A-DE8B-4A96B7D7DA64}"/>
              </a:ext>
            </a:extLst>
          </p:cNvPr>
          <p:cNvSpPr/>
          <p:nvPr/>
        </p:nvSpPr>
        <p:spPr>
          <a:xfrm>
            <a:off x="10947400" y="7569200"/>
            <a:ext cx="711200" cy="711200"/>
          </a:xfrm>
          <a:prstGeom prst="ellipse">
            <a:avLst/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2800" b="1">
                <a:solidFill>
                  <a:srgbClr val="FFFFFF"/>
                </a:solidFill>
                <a:latin typeface="Calibri" panose="020F0502020204030204" pitchFamily="34" charset="0"/>
              </a:rPr>
              <a:t>5</a:t>
            </a:r>
            <a:endParaRPr lang="zh-CN" altLang="en-US" sz="28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01" name="title 5">
            <a:extLst>
              <a:ext uri="{FF2B5EF4-FFF2-40B4-BE49-F238E27FC236}">
                <a16:creationId xmlns:a16="http://schemas.microsoft.com/office/drawing/2014/main" id="{3890C9BB-12C5-5382-2426-9513EEFA213E}"/>
              </a:ext>
            </a:extLst>
          </p:cNvPr>
          <p:cNvSpPr txBox="1"/>
          <p:nvPr/>
        </p:nvSpPr>
        <p:spPr>
          <a:xfrm>
            <a:off x="11912600" y="7569200"/>
            <a:ext cx="73914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4000" b="1">
                <a:solidFill>
                  <a:srgbClr val="0B4F8A"/>
                </a:solidFill>
                <a:latin typeface="Calibri" panose="020F0502020204030204" pitchFamily="34" charset="0"/>
              </a:rPr>
              <a:t>Layer-streaming CNN engine</a:t>
            </a:r>
            <a:endParaRPr lang="zh-CN" altLang="en-US" sz="40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87EAF432-7662-29BF-5357-37926BDDE24E}"/>
              </a:ext>
            </a:extLst>
          </p:cNvPr>
          <p:cNvSpPr txBox="1"/>
          <p:nvPr/>
        </p:nvSpPr>
        <p:spPr>
          <a:xfrm>
            <a:off x="11049000" y="8636000"/>
            <a:ext cx="8153400" cy="457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66700" indent="-2667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300">
                <a:solidFill>
                  <a:srgbClr val="1F2933"/>
                </a:solidFill>
                <a:latin typeface="Calibri" panose="020F0502020204030204" pitchFamily="34" charset="0"/>
              </a:rPr>
              <a:t>One engine per layer, chained by AXI-Stream with back-pressure: only line buffers, no frame storage.</a:t>
            </a:r>
          </a:p>
          <a:p>
            <a:pPr marL="266700" indent="-2667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300">
                <a:solidFill>
                  <a:srgbClr val="1F2933"/>
                </a:solidFill>
                <a:latin typeface="Calibri" panose="020F0502020204030204" pitchFamily="34" charset="0"/>
              </a:rPr>
              <a:t>Output-channel parallelism P chosen per layer: the smallest P that meets 30 fps at 250 MHz.</a:t>
            </a:r>
          </a:p>
          <a:p>
            <a:pPr marL="266700" indent="-2667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300">
                <a:solidFill>
                  <a:srgbClr val="1F2933"/>
                </a:solidFill>
                <a:latin typeface="Calibri" panose="020F0502020204030204" pitchFamily="34" charset="0"/>
              </a:rPr>
              <a:t>Branches that read the same input share one window reader; weights in LUT, BRAM or packed BRAM + gearbox; large activation buffers in URAM.</a:t>
            </a:r>
            <a:endParaRPr lang="zh-CN" altLang="en-US" sz="2300">
              <a:solidFill>
                <a:srgbClr val="1F2933"/>
              </a:solidFill>
              <a:latin typeface="Calibri" panose="020F0502020204030204" pitchFamily="34" charset="0"/>
            </a:endParaRPr>
          </a:p>
        </p:txBody>
      </p:sp>
      <p:sp>
        <p:nvSpPr>
          <p:cNvPr id="103" name="矩形: 圆角 102">
            <a:extLst>
              <a:ext uri="{FF2B5EF4-FFF2-40B4-BE49-F238E27FC236}">
                <a16:creationId xmlns:a16="http://schemas.microsoft.com/office/drawing/2014/main" id="{FD47A110-B8C9-31A6-2761-320A0204A01C}"/>
              </a:ext>
            </a:extLst>
          </p:cNvPr>
          <p:cNvSpPr/>
          <p:nvPr/>
        </p:nvSpPr>
        <p:spPr>
          <a:xfrm>
            <a:off x="11049000" y="12319000"/>
            <a:ext cx="1778000" cy="1219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Line buffer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K or K+1 rows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12B8D160-30BD-A37B-148A-A207B02CD612}"/>
              </a:ext>
            </a:extLst>
          </p:cNvPr>
          <p:cNvCxnSpPr/>
          <p:nvPr/>
        </p:nvCxnSpPr>
        <p:spPr>
          <a:xfrm>
            <a:off x="12827000" y="12928600"/>
            <a:ext cx="347134" cy="0"/>
          </a:xfrm>
          <a:prstGeom prst="straightConnector1">
            <a:avLst/>
          </a:prstGeom>
          <a:ln w="50800">
            <a:solidFill>
              <a:srgbClr val="52606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ADA17E4C-8067-0ABF-CBDF-464298B6CC21}"/>
              </a:ext>
            </a:extLst>
          </p:cNvPr>
          <p:cNvSpPr/>
          <p:nvPr/>
        </p:nvSpPr>
        <p:spPr>
          <a:xfrm>
            <a:off x="13174134" y="12319000"/>
            <a:ext cx="1778000" cy="1219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Window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K×K×Cin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0CE92A35-0E76-9FB3-DEAD-C95DF97B2114}"/>
              </a:ext>
            </a:extLst>
          </p:cNvPr>
          <p:cNvCxnSpPr/>
          <p:nvPr/>
        </p:nvCxnSpPr>
        <p:spPr>
          <a:xfrm>
            <a:off x="14952134" y="12928600"/>
            <a:ext cx="347132" cy="0"/>
          </a:xfrm>
          <a:prstGeom prst="straightConnector1">
            <a:avLst/>
          </a:prstGeom>
          <a:ln w="50800">
            <a:solidFill>
              <a:srgbClr val="52606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B95DEA6C-B7A5-1010-40E8-ACAB42C8F052}"/>
              </a:ext>
            </a:extLst>
          </p:cNvPr>
          <p:cNvSpPr/>
          <p:nvPr/>
        </p:nvSpPr>
        <p:spPr>
          <a:xfrm>
            <a:off x="15299266" y="12319000"/>
            <a:ext cx="1778000" cy="1219200"/>
          </a:xfrm>
          <a:prstGeom prst="roundRect">
            <a:avLst>
              <a:gd name="adj" fmla="val 12000"/>
            </a:avLst>
          </a:prstGeom>
          <a:solidFill>
            <a:srgbClr val="DCE8F4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P MAC lanes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weights x P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F6F3074F-273A-67D0-135F-3E809A09F798}"/>
              </a:ext>
            </a:extLst>
          </p:cNvPr>
          <p:cNvCxnSpPr/>
          <p:nvPr/>
        </p:nvCxnSpPr>
        <p:spPr>
          <a:xfrm>
            <a:off x="17077266" y="12928600"/>
            <a:ext cx="347134" cy="0"/>
          </a:xfrm>
          <a:prstGeom prst="straightConnector1">
            <a:avLst/>
          </a:prstGeom>
          <a:ln w="50800">
            <a:solidFill>
              <a:srgbClr val="52606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矩形: 圆角 108">
            <a:extLst>
              <a:ext uri="{FF2B5EF4-FFF2-40B4-BE49-F238E27FC236}">
                <a16:creationId xmlns:a16="http://schemas.microsoft.com/office/drawing/2014/main" id="{4AB3D436-763D-33C8-5041-239686C96FB2}"/>
              </a:ext>
            </a:extLst>
          </p:cNvPr>
          <p:cNvSpPr/>
          <p:nvPr/>
        </p:nvSpPr>
        <p:spPr>
          <a:xfrm>
            <a:off x="17424400" y="12319000"/>
            <a:ext cx="1778000" cy="1219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Requantize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bias, act., shift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03B2C484-ADD4-CCBC-25E1-94CD9C5045DE}"/>
              </a:ext>
            </a:extLst>
          </p:cNvPr>
          <p:cNvSpPr txBox="1"/>
          <p:nvPr/>
        </p:nvSpPr>
        <p:spPr>
          <a:xfrm>
            <a:off x="11049000" y="13639800"/>
            <a:ext cx="8153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per layer; groups of P output channels re-read the window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4386988B-419F-52A3-A4BA-D624B806F94B}"/>
              </a:ext>
            </a:extLst>
          </p:cNvPr>
          <p:cNvSpPr txBox="1"/>
          <p:nvPr/>
        </p:nvSpPr>
        <p:spPr>
          <a:xfrm>
            <a:off x="11049000" y="14478000"/>
            <a:ext cx="81534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400" b="1">
                <a:solidFill>
                  <a:srgbClr val="0B4F8A"/>
                </a:solidFill>
                <a:latin typeface="Calibri" panose="020F0502020204030204" pitchFamily="34" charset="0"/>
              </a:rPr>
              <a:t>Network sized for on-chip storage (256x256 input)</a:t>
            </a:r>
            <a:endParaRPr lang="zh-CN" altLang="en-US" sz="24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112" name="表格 111">
            <a:extLst>
              <a:ext uri="{FF2B5EF4-FFF2-40B4-BE49-F238E27FC236}">
                <a16:creationId xmlns:a16="http://schemas.microsoft.com/office/drawing/2014/main" id="{43D55F8A-1DA5-A37E-0162-301053AE88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2232227"/>
              </p:ext>
            </p:extLst>
          </p:nvPr>
        </p:nvGraphicFramePr>
        <p:xfrm>
          <a:off x="11049000" y="14986000"/>
          <a:ext cx="8153400" cy="27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4100">
                  <a:extLst>
                    <a:ext uri="{9D8B030D-6E8A-4147-A177-3AD203B41FA5}">
                      <a16:colId xmlns:a16="http://schemas.microsoft.com/office/drawing/2014/main" val="618035185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348347992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4259471027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l"/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DeepJSCC-Q [2]</a:t>
                      </a:r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This work</a:t>
                      </a:r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380433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Channels / down-sampling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256 / 16x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32 / 4x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761091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Conv. MAC enc. / dec.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47.7 / 70.5 G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0.91 / 1.42 G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082102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Parameters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34.4 M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387 k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374382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Kodak PSNR, 10 dB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34.9 dB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33.3 dB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8657628"/>
                  </a:ext>
                </a:extLst>
              </a:tr>
            </a:tbl>
          </a:graphicData>
        </a:graphic>
      </p:graphicFrame>
      <p:sp>
        <p:nvSpPr>
          <p:cNvPr id="113" name="文本框 112">
            <a:extLst>
              <a:ext uri="{FF2B5EF4-FFF2-40B4-BE49-F238E27FC236}">
                <a16:creationId xmlns:a16="http://schemas.microsoft.com/office/drawing/2014/main" id="{DF61767F-6DC0-07CA-9E3A-50ACCA8F6DF7}"/>
              </a:ext>
            </a:extLst>
          </p:cNvPr>
          <p:cNvSpPr txBox="1"/>
          <p:nvPr/>
        </p:nvSpPr>
        <p:spPr>
          <a:xfrm>
            <a:off x="11049000" y="17932400"/>
            <a:ext cx="81534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400" b="1">
                <a:solidFill>
                  <a:srgbClr val="0B4F8A"/>
                </a:solidFill>
                <a:latin typeface="Calibri" panose="020F0502020204030204" pitchFamily="34" charset="0"/>
              </a:rPr>
              <a:t>Full TX / RX designs (xczu5eg, routed)</a:t>
            </a:r>
            <a:endParaRPr lang="zh-CN" altLang="en-US" sz="24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114" name="表格 113">
            <a:extLst>
              <a:ext uri="{FF2B5EF4-FFF2-40B4-BE49-F238E27FC236}">
                <a16:creationId xmlns:a16="http://schemas.microsoft.com/office/drawing/2014/main" id="{34ACBBFA-843C-E5C9-7A32-A72D41377C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6336545"/>
              </p:ext>
            </p:extLst>
          </p:nvPr>
        </p:nvGraphicFramePr>
        <p:xfrm>
          <a:off x="11049000" y="18440400"/>
          <a:ext cx="81534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4100">
                  <a:extLst>
                    <a:ext uri="{9D8B030D-6E8A-4147-A177-3AD203B41FA5}">
                      <a16:colId xmlns:a16="http://schemas.microsoft.com/office/drawing/2014/main" val="459354956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666206889"/>
                    </a:ext>
                  </a:extLst>
                </a:gridCol>
                <a:gridCol w="1587500">
                  <a:extLst>
                    <a:ext uri="{9D8B030D-6E8A-4147-A177-3AD203B41FA5}">
                      <a16:colId xmlns:a16="http://schemas.microsoft.com/office/drawing/2014/main" val="1210456811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640509947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18671221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1760828717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pPr algn="l"/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LUT</a:t>
                      </a:r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BRAM36</a:t>
                      </a:r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URAM</a:t>
                      </a:r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DSP</a:t>
                      </a:r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WNS</a:t>
                      </a:r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470441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TX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52.7k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104.5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10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243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+0.26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0896858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RX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70.8k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123.5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25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394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+0.23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8366418"/>
                  </a:ext>
                </a:extLst>
              </a:tr>
            </a:tbl>
          </a:graphicData>
        </a:graphic>
      </p:graphicFrame>
      <p:sp>
        <p:nvSpPr>
          <p:cNvPr id="115" name="card 6">
            <a:extLst>
              <a:ext uri="{FF2B5EF4-FFF2-40B4-BE49-F238E27FC236}">
                <a16:creationId xmlns:a16="http://schemas.microsoft.com/office/drawing/2014/main" id="{03FCE49F-EF47-2FCC-8DBE-E0291DDCD7A9}"/>
              </a:ext>
            </a:extLst>
          </p:cNvPr>
          <p:cNvSpPr/>
          <p:nvPr/>
        </p:nvSpPr>
        <p:spPr>
          <a:xfrm>
            <a:off x="20269200" y="7239000"/>
            <a:ext cx="9067800" cy="6096000"/>
          </a:xfrm>
          <a:prstGeom prst="roundRect">
            <a:avLst>
              <a:gd name="adj" fmla="val 3750"/>
            </a:avLst>
          </a:prstGeom>
          <a:solidFill>
            <a:srgbClr val="EEF3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badge 6">
            <a:extLst>
              <a:ext uri="{FF2B5EF4-FFF2-40B4-BE49-F238E27FC236}">
                <a16:creationId xmlns:a16="http://schemas.microsoft.com/office/drawing/2014/main" id="{BD82B4B8-F184-4A44-3151-844C854E85B4}"/>
              </a:ext>
            </a:extLst>
          </p:cNvPr>
          <p:cNvSpPr/>
          <p:nvPr/>
        </p:nvSpPr>
        <p:spPr>
          <a:xfrm>
            <a:off x="20624800" y="7569200"/>
            <a:ext cx="711200" cy="711200"/>
          </a:xfrm>
          <a:prstGeom prst="ellipse">
            <a:avLst/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2800" b="1">
                <a:solidFill>
                  <a:srgbClr val="FFFFFF"/>
                </a:solidFill>
                <a:latin typeface="Calibri" panose="020F0502020204030204" pitchFamily="34" charset="0"/>
              </a:rPr>
              <a:t>6</a:t>
            </a:r>
            <a:endParaRPr lang="zh-CN" altLang="en-US" sz="28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17" name="title 6">
            <a:extLst>
              <a:ext uri="{FF2B5EF4-FFF2-40B4-BE49-F238E27FC236}">
                <a16:creationId xmlns:a16="http://schemas.microsoft.com/office/drawing/2014/main" id="{C3023596-B31D-4EA7-1717-4A595090A4B2}"/>
              </a:ext>
            </a:extLst>
          </p:cNvPr>
          <p:cNvSpPr txBox="1"/>
          <p:nvPr/>
        </p:nvSpPr>
        <p:spPr>
          <a:xfrm>
            <a:off x="21590000" y="7569200"/>
            <a:ext cx="73914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4000" b="1">
                <a:solidFill>
                  <a:srgbClr val="0B4F8A"/>
                </a:solidFill>
                <a:latin typeface="Calibri" panose="020F0502020204030204" pitchFamily="34" charset="0"/>
              </a:rPr>
              <a:t>Latency and throughput</a:t>
            </a:r>
            <a:endParaRPr lang="zh-CN" altLang="en-US" sz="40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pic>
        <p:nvPicPr>
          <p:cNvPr id="119" name="图片 118">
            <a:extLst>
              <a:ext uri="{FF2B5EF4-FFF2-40B4-BE49-F238E27FC236}">
                <a16:creationId xmlns:a16="http://schemas.microsoft.com/office/drawing/2014/main" id="{3993F341-F568-B8A0-895F-A4E8831464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77200" y="8559800"/>
            <a:ext cx="8051800" cy="2569724"/>
          </a:xfrm>
          <a:prstGeom prst="rect">
            <a:avLst/>
          </a:prstGeom>
        </p:spPr>
      </p:pic>
      <p:sp>
        <p:nvSpPr>
          <p:cNvPr id="120" name="文本框 119">
            <a:extLst>
              <a:ext uri="{FF2B5EF4-FFF2-40B4-BE49-F238E27FC236}">
                <a16:creationId xmlns:a16="http://schemas.microsoft.com/office/drawing/2014/main" id="{E99ECC11-0529-CABE-4CDA-6AE674994CA5}"/>
              </a:ext>
            </a:extLst>
          </p:cNvPr>
          <p:cNvSpPr txBox="1"/>
          <p:nvPr/>
        </p:nvSpPr>
        <p:spPr>
          <a:xfrm>
            <a:off x="20726400" y="11383524"/>
            <a:ext cx="8153400" cy="190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54000" indent="-2540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200">
                <a:solidFill>
                  <a:srgbClr val="1F2933"/>
                </a:solidFill>
                <a:latin typeface="Calibri" panose="020F0502020204030204" pitchFamily="34" charset="0"/>
              </a:rPr>
              <a:t>Medians from PL frame counters on both boards (1701 frames).</a:t>
            </a:r>
          </a:p>
          <a:p>
            <a:pPr marL="254000" indent="-2540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200">
                <a:solidFill>
                  <a:srgbClr val="1F2933"/>
                </a:solidFill>
                <a:latin typeface="Calibri" panose="020F0502020204030204" pitchFamily="34" charset="0"/>
              </a:rPr>
              <a:t>30.0 fps sustained: 18,000 frames received in 600 s.</a:t>
            </a:r>
            <a:endParaRPr lang="zh-CN" altLang="en-US" sz="2200">
              <a:solidFill>
                <a:srgbClr val="1F2933"/>
              </a:solidFill>
              <a:latin typeface="Calibri" panose="020F0502020204030204" pitchFamily="34" charset="0"/>
            </a:endParaRPr>
          </a:p>
        </p:txBody>
      </p:sp>
      <p:sp>
        <p:nvSpPr>
          <p:cNvPr id="121" name="card 7">
            <a:extLst>
              <a:ext uri="{FF2B5EF4-FFF2-40B4-BE49-F238E27FC236}">
                <a16:creationId xmlns:a16="http://schemas.microsoft.com/office/drawing/2014/main" id="{40789039-DB1C-F24F-EAF5-30DA1F4D4DD7}"/>
              </a:ext>
            </a:extLst>
          </p:cNvPr>
          <p:cNvSpPr/>
          <p:nvPr/>
        </p:nvSpPr>
        <p:spPr>
          <a:xfrm>
            <a:off x="20269200" y="13716000"/>
            <a:ext cx="9067800" cy="6985000"/>
          </a:xfrm>
          <a:prstGeom prst="roundRect">
            <a:avLst>
              <a:gd name="adj" fmla="val 3273"/>
            </a:avLst>
          </a:prstGeom>
          <a:solidFill>
            <a:srgbClr val="EEF3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badge 7">
            <a:extLst>
              <a:ext uri="{FF2B5EF4-FFF2-40B4-BE49-F238E27FC236}">
                <a16:creationId xmlns:a16="http://schemas.microsoft.com/office/drawing/2014/main" id="{37665064-F464-EDD1-5061-9509C91A18CD}"/>
              </a:ext>
            </a:extLst>
          </p:cNvPr>
          <p:cNvSpPr/>
          <p:nvPr/>
        </p:nvSpPr>
        <p:spPr>
          <a:xfrm>
            <a:off x="20624800" y="14046200"/>
            <a:ext cx="711200" cy="711200"/>
          </a:xfrm>
          <a:prstGeom prst="ellipse">
            <a:avLst/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2800" b="1">
                <a:solidFill>
                  <a:srgbClr val="FFFFFF"/>
                </a:solidFill>
                <a:latin typeface="Calibri" panose="020F0502020204030204" pitchFamily="34" charset="0"/>
              </a:rPr>
              <a:t>7</a:t>
            </a:r>
            <a:endParaRPr lang="zh-CN" altLang="en-US" sz="28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23" name="title 7">
            <a:extLst>
              <a:ext uri="{FF2B5EF4-FFF2-40B4-BE49-F238E27FC236}">
                <a16:creationId xmlns:a16="http://schemas.microsoft.com/office/drawing/2014/main" id="{CA6EFBFA-E268-1015-4AF1-670715E90C52}"/>
              </a:ext>
            </a:extLst>
          </p:cNvPr>
          <p:cNvSpPr txBox="1"/>
          <p:nvPr/>
        </p:nvSpPr>
        <p:spPr>
          <a:xfrm>
            <a:off x="21590000" y="14046200"/>
            <a:ext cx="73914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4000" b="1">
                <a:solidFill>
                  <a:srgbClr val="0B4F8A"/>
                </a:solidFill>
                <a:latin typeface="Calibri" panose="020F0502020204030204" pitchFamily="34" charset="0"/>
              </a:rPr>
              <a:t>vs. FPGA DeepJSCC [3]</a:t>
            </a:r>
            <a:endParaRPr lang="zh-CN" altLang="en-US" sz="40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124" name="表格 123">
            <a:extLst>
              <a:ext uri="{FF2B5EF4-FFF2-40B4-BE49-F238E27FC236}">
                <a16:creationId xmlns:a16="http://schemas.microsoft.com/office/drawing/2014/main" id="{08801DEA-079B-A88F-3884-C2EE647174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8503075"/>
              </p:ext>
            </p:extLst>
          </p:nvPr>
        </p:nvGraphicFramePr>
        <p:xfrm>
          <a:off x="20726400" y="15087600"/>
          <a:ext cx="8153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0500">
                  <a:extLst>
                    <a:ext uri="{9D8B030D-6E8A-4147-A177-3AD203B41FA5}">
                      <a16:colId xmlns:a16="http://schemas.microsoft.com/office/drawing/2014/main" val="3397485856"/>
                    </a:ext>
                  </a:extLst>
                </a:gridCol>
                <a:gridCol w="2705100">
                  <a:extLst>
                    <a:ext uri="{9D8B030D-6E8A-4147-A177-3AD203B41FA5}">
                      <a16:colId xmlns:a16="http://schemas.microsoft.com/office/drawing/2014/main" val="4199961569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3451948444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pPr algn="l"/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[3] GLOBECOM 25</a:t>
                      </a:r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This work</a:t>
                      </a:r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2700084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Conv. work / frame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0.22 GMAC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2.33 GMAC (10.5x)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6632125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DSP enc. / dec.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1597 / 874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233 / 312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363389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BRAM enc. / dec.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1039 / 1012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100 / 100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943700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Latency enc. / dec.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39.6 / 52.9 ms *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38.2 / 30.4 ms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1203547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PHY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external 5G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own OFDM in PL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6648062"/>
                  </a:ext>
                </a:extLst>
              </a:tr>
            </a:tbl>
          </a:graphicData>
        </a:graphic>
      </p:graphicFrame>
      <p:sp>
        <p:nvSpPr>
          <p:cNvPr id="125" name="文本框 124">
            <a:extLst>
              <a:ext uri="{FF2B5EF4-FFF2-40B4-BE49-F238E27FC236}">
                <a16:creationId xmlns:a16="http://schemas.microsoft.com/office/drawing/2014/main" id="{4B7DD994-5BA5-52EE-A237-243BAF10C651}"/>
              </a:ext>
            </a:extLst>
          </p:cNvPr>
          <p:cNvSpPr txBox="1"/>
          <p:nvPr/>
        </p:nvSpPr>
        <p:spPr>
          <a:xfrm>
            <a:off x="20726400" y="19050000"/>
            <a:ext cx="8153400" cy="1143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>
                <a:solidFill>
                  <a:srgbClr val="52606D"/>
                </a:solidFill>
                <a:latin typeface="Calibri" panose="020F0502020204030204" pitchFamily="34" charset="0"/>
              </a:rPr>
              <a:t>Network cores; different devices and precision (INT8 vs W8A12): absolute counts, not a controlled comparison. * median including PS processing; ours: PL only.</a:t>
            </a:r>
            <a:endParaRPr lang="zh-CN" altLang="en-US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126" name="card 8">
            <a:extLst>
              <a:ext uri="{FF2B5EF4-FFF2-40B4-BE49-F238E27FC236}">
                <a16:creationId xmlns:a16="http://schemas.microsoft.com/office/drawing/2014/main" id="{58B5CD9D-C8C8-7849-8BFB-B5FBF53F9E55}"/>
              </a:ext>
            </a:extLst>
          </p:cNvPr>
          <p:cNvSpPr/>
          <p:nvPr/>
        </p:nvSpPr>
        <p:spPr>
          <a:xfrm>
            <a:off x="10591800" y="21082000"/>
            <a:ext cx="18745200" cy="18796000"/>
          </a:xfrm>
          <a:prstGeom prst="roundRect">
            <a:avLst>
              <a:gd name="adj" fmla="val 1220"/>
            </a:avLst>
          </a:prstGeom>
          <a:solidFill>
            <a:srgbClr val="EEF3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badge 8">
            <a:extLst>
              <a:ext uri="{FF2B5EF4-FFF2-40B4-BE49-F238E27FC236}">
                <a16:creationId xmlns:a16="http://schemas.microsoft.com/office/drawing/2014/main" id="{EF622579-0D60-22A4-AF75-43978757961E}"/>
              </a:ext>
            </a:extLst>
          </p:cNvPr>
          <p:cNvSpPr/>
          <p:nvPr/>
        </p:nvSpPr>
        <p:spPr>
          <a:xfrm>
            <a:off x="10947400" y="21412200"/>
            <a:ext cx="711200" cy="711200"/>
          </a:xfrm>
          <a:prstGeom prst="ellipse">
            <a:avLst/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2800" b="1">
                <a:solidFill>
                  <a:srgbClr val="FFFFFF"/>
                </a:solidFill>
                <a:latin typeface="Calibri" panose="020F0502020204030204" pitchFamily="34" charset="0"/>
              </a:rPr>
              <a:t>8</a:t>
            </a:r>
            <a:endParaRPr lang="zh-CN" altLang="en-US" sz="28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28" name="title 8">
            <a:extLst>
              <a:ext uri="{FF2B5EF4-FFF2-40B4-BE49-F238E27FC236}">
                <a16:creationId xmlns:a16="http://schemas.microsoft.com/office/drawing/2014/main" id="{7EBEE69E-CC28-BDED-F639-345FAFD66EE0}"/>
              </a:ext>
            </a:extLst>
          </p:cNvPr>
          <p:cNvSpPr txBox="1"/>
          <p:nvPr/>
        </p:nvSpPr>
        <p:spPr>
          <a:xfrm>
            <a:off x="11912600" y="21412200"/>
            <a:ext cx="170688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4000" b="1">
                <a:solidFill>
                  <a:srgbClr val="0B4F8A"/>
                </a:solidFill>
                <a:latin typeface="Calibri" panose="020F0502020204030204" pitchFamily="34" charset="0"/>
              </a:rPr>
              <a:t>Graceful degradation, no cliff (measured over the air)</a:t>
            </a:r>
            <a:endParaRPr lang="zh-CN" altLang="en-US" sz="40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pic>
        <p:nvPicPr>
          <p:cNvPr id="130" name="图片 129">
            <a:extLst>
              <a:ext uri="{FF2B5EF4-FFF2-40B4-BE49-F238E27FC236}">
                <a16:creationId xmlns:a16="http://schemas.microsoft.com/office/drawing/2014/main" id="{67F96977-C02A-CDF6-145B-5CBD137BE7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9799" y="22402800"/>
            <a:ext cx="7620000" cy="6558032"/>
          </a:xfrm>
          <a:prstGeom prst="rect">
            <a:avLst/>
          </a:prstGeom>
        </p:spPr>
      </p:pic>
      <p:sp>
        <p:nvSpPr>
          <p:cNvPr id="131" name="文本框 130">
            <a:extLst>
              <a:ext uri="{FF2B5EF4-FFF2-40B4-BE49-F238E27FC236}">
                <a16:creationId xmlns:a16="http://schemas.microsoft.com/office/drawing/2014/main" id="{59A4CA40-53B4-F637-48FC-40BF78D70FC4}"/>
              </a:ext>
            </a:extLst>
          </p:cNvPr>
          <p:cNvSpPr txBox="1"/>
          <p:nvPr/>
        </p:nvSpPr>
        <p:spPr>
          <a:xfrm>
            <a:off x="19227800" y="22606000"/>
            <a:ext cx="9601200" cy="63040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79400" indent="-279400">
              <a:spcAft>
                <a:spcPts val="11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400">
                <a:solidFill>
                  <a:srgbClr val="1F2933"/>
                </a:solidFill>
                <a:latin typeface="Calibri" panose="020F0502020204030204" pitchFamily="34" charset="0"/>
              </a:rPr>
              <a:t>DeepJSCC-Q: 32.0 dB at 32 dB SNR and still 26.5 dB at 5.5 dB - the image quality follows the channel.</a:t>
            </a:r>
          </a:p>
          <a:p>
            <a:pPr marL="279400" indent="-279400">
              <a:spcAft>
                <a:spcPts val="11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400">
                <a:solidFill>
                  <a:srgbClr val="1F2933"/>
                </a:solidFill>
                <a:latin typeface="Calibri" panose="020F0502020204030204" pitchFamily="34" charset="0"/>
              </a:rPr>
              <a:t>SSCC (JPEG + K=7 convolutional code + 64-QAM) on the same PHY with the same 32,768 symbols per image: 28.2 dB, lost within 3 dB (SNR 20 -&gt; 17 dB).</a:t>
            </a:r>
          </a:p>
          <a:p>
            <a:pPr marL="279400" indent="-279400">
              <a:spcAft>
                <a:spcPts val="11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400">
                <a:solidFill>
                  <a:srgbClr val="1F2933"/>
                </a:solidFill>
                <a:latin typeface="Calibri" panose="020F0502020204030204" pitchFamily="34" charset="0"/>
              </a:rPr>
              <a:t>With the same channel-symbol budget, DeepJSCC-Q is 3.8 dB better even at high SNR.</a:t>
            </a:r>
          </a:p>
          <a:p>
            <a:pPr marL="279400" indent="-279400">
              <a:spcAft>
                <a:spcPts val="11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400">
                <a:solidFill>
                  <a:srgbClr val="1F2933"/>
                </a:solidFill>
                <a:latin typeface="Calibri" panose="020F0502020204030204" pitchFamily="34" charset="0"/>
              </a:rPr>
              <a:t>SNR is data-aided: received constellation against the known reference of a still image (DIV2K 0802), attenuator swept from 32 dB down.</a:t>
            </a:r>
          </a:p>
          <a:p>
            <a:pPr marL="279400" indent="-279400">
              <a:spcAft>
                <a:spcPts val="11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400">
                <a:solidFill>
                  <a:srgbClr val="1F2933"/>
                </a:solidFill>
                <a:latin typeface="Calibri" panose="020F0502020204030204" pitchFamily="34" charset="0"/>
              </a:rPr>
              <a:t>Below: decoded images from the same sweep - rows original, DeepJSCC-Q, SSCC; PSNR / SSIM under each image; an undecodable SSCC frame is scored as mid-gray.</a:t>
            </a:r>
            <a:endParaRPr lang="zh-CN" altLang="en-US" sz="2400">
              <a:solidFill>
                <a:srgbClr val="1F2933"/>
              </a:solidFill>
              <a:latin typeface="Calibri" panose="020F0502020204030204" pitchFamily="34" charset="0"/>
            </a:endParaRPr>
          </a:p>
        </p:txBody>
      </p:sp>
      <p:pic>
        <p:nvPicPr>
          <p:cNvPr id="133" name="图片 132">
            <a:extLst>
              <a:ext uri="{FF2B5EF4-FFF2-40B4-BE49-F238E27FC236}">
                <a16:creationId xmlns:a16="http://schemas.microsoft.com/office/drawing/2014/main" id="{FCD85AC0-3B4E-8A27-1C3E-4C3B9963008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9800" y="29265631"/>
            <a:ext cx="17729200" cy="9972674"/>
          </a:xfrm>
          <a:prstGeom prst="rect">
            <a:avLst/>
          </a:prstGeom>
        </p:spPr>
      </p:pic>
      <p:sp>
        <p:nvSpPr>
          <p:cNvPr id="134" name="文本框 133">
            <a:extLst>
              <a:ext uri="{FF2B5EF4-FFF2-40B4-BE49-F238E27FC236}">
                <a16:creationId xmlns:a16="http://schemas.microsoft.com/office/drawing/2014/main" id="{64196445-B47F-9A2C-8763-770891648D98}"/>
              </a:ext>
            </a:extLst>
          </p:cNvPr>
          <p:cNvSpPr txBox="1"/>
          <p:nvPr/>
        </p:nvSpPr>
        <p:spPr>
          <a:xfrm>
            <a:off x="914400" y="40309800"/>
            <a:ext cx="284480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000">
                <a:solidFill>
                  <a:srgbClr val="1F2933"/>
                </a:solidFill>
                <a:latin typeface="Calibri" panose="020F0502020204030204" pitchFamily="34" charset="0"/>
              </a:rPr>
              <a:t>Developed with AI coding agents: Claude Code (PHY, RF, PYNQ software, measurements) and Codex (training, quantization, RTL generator); the human set the goals and constraints, made the key technical calls and did all hardware handling; the two models cross-reviewed the report. Hardware: 2× PYNQ-ZU (xczu5eg) + 2× AD-FMCOMMS3, Vivado 2025.2. Open source (MIT).</a:t>
            </a:r>
            <a:endParaRPr lang="zh-CN" altLang="en-US" sz="2000">
              <a:solidFill>
                <a:srgbClr val="1F2933"/>
              </a:solidFill>
              <a:latin typeface="Calibri" panose="020F0502020204030204" pitchFamily="34" charset="0"/>
            </a:endParaRPr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FCE74DAC-9CA3-377E-DE07-86943AA76C40}"/>
              </a:ext>
            </a:extLst>
          </p:cNvPr>
          <p:cNvSpPr txBox="1"/>
          <p:nvPr/>
        </p:nvSpPr>
        <p:spPr>
          <a:xfrm>
            <a:off x="914400" y="41529000"/>
            <a:ext cx="28448000" cy="1016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>
                <a:solidFill>
                  <a:srgbClr val="52606D"/>
                </a:solidFill>
                <a:latin typeface="Calibri" panose="020F0502020204030204" pitchFamily="34" charset="0"/>
              </a:rPr>
              <a:t>[1] E. Bourtsoulatze, D. B. Kurka, D. Gunduz, IEEE TCCN, 2019.   [2] T.-Y. Tung, D. B. Kurka, M. Jankowski, D. Gunduz, "DeepJSCC-Q," IEEE JSAIT, 2022.   [3] T. Isobe et al., "FPGA-based deep joint source-channel coding for real-time 5G image transmission," IEEE GLOBECOM, 2025.</a:t>
            </a:r>
            <a:endParaRPr lang="zh-CN" altLang="en-US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9027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1133</Words>
  <Application>Microsoft Office PowerPoint</Application>
  <PresentationFormat>自定义</PresentationFormat>
  <Paragraphs>151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Arial</vt:lpstr>
      <vt:lpstr>Calibri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PC</dc:creator>
  <cp:lastModifiedBy>PC</cp:lastModifiedBy>
  <cp:revision>1</cp:revision>
  <dcterms:created xsi:type="dcterms:W3CDTF">2026-10-14T11:15:28Z</dcterms:created>
  <dcterms:modified xsi:type="dcterms:W3CDTF">2026-10-14T11:15:28Z</dcterms:modified>
</cp:coreProperties>
</file>