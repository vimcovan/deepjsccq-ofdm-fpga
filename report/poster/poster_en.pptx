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ab24ba3c0c04ab5" /><Relationship Type="http://schemas.openxmlformats.org/officeDocument/2006/relationships/extended-properties" Target="/docProps/app.xml" Id="Re3cc9fe24b0f489d" /><Relationship Type="http://schemas.openxmlformats.org/officeDocument/2006/relationships/officeDocument" Target="/ppt/presentation.xml" Id="R77fffd3a49e543c5" /></Relationships>
</file>

<file path=ppt/presentation.xml><?xml version="1.0" encoding="utf-8"?>
<p:presentation xmlns:p="http://schemas.openxmlformats.org/presentationml/2006/main">
  <p:sldMasterIdLst>
    <p:sldMasterId xmlns:r="http://schemas.openxmlformats.org/officeDocument/2006/relationships" id="2147483648" r:id="Reb6283edd81b4eff"/>
  </p:sldMasterIdLst>
  <p:notesMasterIdLst>
    <p:notesMasterId xmlns:r="http://schemas.openxmlformats.org/officeDocument/2006/relationships" r:id="R9636d13b28e54683"/>
  </p:notesMasterIdLst>
  <p:sldIdLst>
    <p:sldId xmlns:r="http://schemas.openxmlformats.org/officeDocument/2006/relationships" id="256" r:id="R8bda10f2084043e9"/>
  </p:sldIdLst>
  <p:sldSz cx="30276800" cy="42799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087a2c7027e4b62" /><Relationship Type="http://schemas.openxmlformats.org/officeDocument/2006/relationships/slideMaster" Target="/ppt/slideMasters/slideMaster1.xml" Id="Reb6283edd81b4eff" /><Relationship Type="http://schemas.openxmlformats.org/officeDocument/2006/relationships/notesMaster" Target="/ppt/notesMasters/notesMaster1.xml" Id="R9636d13b28e54683" /><Relationship Type="http://schemas.openxmlformats.org/officeDocument/2006/relationships/presProps" Target="/ppt/presProps.xml" Id="R29fd18efd0a24f0c" /><Relationship Type="http://schemas.openxmlformats.org/officeDocument/2006/relationships/tableStyles" Target="/ppt/tableStyles.xml" Id="R935b6917e78b4a92" /><Relationship Type="http://schemas.openxmlformats.org/officeDocument/2006/relationships/slide" Target="/ppt/slides/slide1.xml" Id="R8bda10f2084043e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66bbf024c40419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0a0c120f9f74561" /><Relationship Type="http://schemas.openxmlformats.org/officeDocument/2006/relationships/notesMaster" Target="/ppt/notesMasters/notesMaster1.xml" Id="R2bf84b308e3d4c6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Redesign of report/poster/poster_en.pptx. A0 portrait canvas and English language retained. The original file is preserved.</a:t>
            </a:r>
          </a:p>
          <a:p xmlns:a="http://schemas.openxmlformats.org/drawingml/2006/main">
            <a:r>
              <a:t/>
            </a:r>
          </a:p>
          <a:p xmlns:a="http://schemas.openxmlformats.org/drawingml/2006/main">
            <a:r>
              <a:t>All photographs, reference images and reconstructions are repository assets. No image content has been synthesized or retouched.</a:t>
            </a:r>
          </a:p>
          <a:p xmlns:a="http://schemas.openxmlformats.org/drawingml/2006/main">
            <a:r>
              <a:t/>
            </a:r>
          </a:p>
          <a:p xmlns:a="http://schemas.openxmlformats.org/drawingml/2006/main">
            <a:r>
              <a:t>PSNR chart: data/measurements/psnr_snr/k0802_v3_da.json, results[].snr_da_db against results[].psnr_shown, separately for mode jscc and sscc. Each point is the archived measurement window mean.</a:t>
            </a:r>
          </a:p>
          <a:p xmlns:a="http://schemas.openxmlformats.org/drawingml/2006/main">
            <a:r>
              <a:t/>
            </a:r>
          </a:p>
          <a:p xmlns:a="http://schemas.openxmlformats.org/drawingml/2006/main">
            <a:r>
              <a:t>Image comparison: decoded_img/tx_reference.png and jscc/sscc_00.00db_p0.png, _20.00db_p0.png, _24.00db_p0.png, _32.00db_p0.png. These suffixes denote TX additional attenuation, not SNR. Labels 32.3,17.4,13.1,5.5 dB are mean SNR across the two schemes at matching attenuation. SSCC has no decoded image at 32 dB attenuation; the gray field is a failure placeholder, not a recovered image. PSNR/SSIM are representative single-frame values, not curve means.</a:t>
            </a:r>
          </a:p>
          <a:p xmlns:a="http://schemas.openxmlformats.org/drawingml/2006/main">
            <a:r>
              <a:t/>
            </a:r>
          </a:p>
          <a:p xmlns:a="http://schemas.openxmlformats.org/drawingml/2006/main">
            <a:r>
              <a:t>Main gain claim: 31.99-28.23=3.76 dB, rounded to 3.8 dB. This is high-SNR performance on the single DIV2K 0802 image under matched PHY and 32768 complex symbols/image. It is not a dataset-wide gain or a fixed gain at every SNR.</a:t>
            </a:r>
          </a:p>
          <a:p xmlns:a="http://schemas.openxmlformats.org/drawingml/2006/main">
            <a:r>
              <a:t/>
            </a:r>
          </a:p>
          <a:p xmlns:a="http://schemas.openxmlformats.org/drawingml/2006/main">
            <a:r>
              <a:t>Latency source: report/sections/30_results.md, table 3-6. Medians: encoding 38.20ms, transfer 2.87ms, decoding 30.39ms, separately measured PL total71.47ms. Transfer includes frame buffering, air transmission, synchronization and equalization. Pure airtime2.748ms. PL latency excludes application and display latency. Throughput30fps is possible because frames overlap in the layer pipeline.</a:t>
            </a:r>
          </a:p>
          <a:p xmlns:a="http://schemas.openxmlformats.org/drawingml/2006/main">
            <a:r>
              <a:t/>
            </a:r>
          </a:p>
          <a:p xmlns:a="http://schemas.openxmlformats.org/drawingml/2006/main">
            <a:r>
              <a:t>Resource source: report/sections/30_results.md table3-1 and build/reports/tx_utilization.rpt, rx_utilization.rpt routed totals. Power source: data/measurements/power/tx_rails.json and rx_rails.json. Values3.06/3.71W sum selected PL,PS,auxiliary andDDR rails. RF daughterboards and12V input conversion losses excluded.</a:t>
            </a:r>
          </a:p>
          <a:p xmlns:a="http://schemas.openxmlformats.org/drawingml/2006/main">
            <a:r>
              <a:t/>
            </a:r>
          </a:p>
          <a:p xmlns:a="http://schemas.openxmlformats.org/drawingml/2006/main">
            <a:r>
              <a:t>Model/architecture source: report/sections/22_hardware.md. Line buffering abstraction is per convolution engine, not a replacement for the system PHY frame buffers. Full intermediate feature maps are not stored between CNN layers.</a:t>
            </a:r>
          </a:p>
          <a:p xmlns:a="http://schemas.openxmlformats.org/drawingml/2006/main">
            <a:r>
              <a:t/>
            </a:r>
          </a:p>
          <a:p xmlns:a="http://schemas.openxmlformats.org/drawingml/2006/main">
            <a:r>
              <a:t>Research references: E. Bourtsoulatze, D.B. Kurka, D. Gunduz, Deep Joint Source-Channel Coding for Wireless Image Transmission, IEEE TCCN,2019. T.-Y. Tung,D.B. Kurka,M. Jankowski,D. Gunduz, DeepJSCC-Q, IEEE JSAIT,2022.</a:t>
            </a:r>
          </a:p>
          <a:p xmlns:a="http://schemas.openxmlformats.org/drawingml/2006/main">
            <a:r>
              <a:t/>
            </a:r>
          </a:p>
          <a:p xmlns:a="http://schemas.openxmlformats.org/drawingml/2006/main">
            <a:r>
              <a:t>Layout references consulted: https://mitcommlab.mit.edu/aeroastro/commkit/research-posters/ and https://mitcommlab.mit.edu/be/2023/09/27/toward-an-evenbetterposter-improving-the-betterposter-template/ . No external artwork copied.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c0b949feaa54f6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6a29b050c524da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a21fe636dda442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83c5d2e83a9428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ad9b3101d3c4a3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68b3830580a48d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5BD17C8-74BD-486D-989D-5F4EFF375472}"/>
              </a:ext>
            </a:extLst>
          </p:cNvPr>
          <p:cNvSpPr>
            <a:spLocks xmlns:a="http://schemas.openxmlformats.org/drawingml/2006/main" noGrp="1"/>
          </p:cNvSpPr>
          <p:nvPr>
            <p:ph type="title" idx="0"/>
          </p:nvPr>
        </p:nvSpPr>
        <p:spPr>
          <a:xfrm xmlns:a="http://schemas.openxmlformats.org/drawingml/2006/main">
            <a:off x="3027680" y="16168511"/>
            <a:ext cx="24221440" cy="6182078"/>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192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88D3105-F954-4ADB-A75C-E97D831C4399}"/>
              </a:ext>
            </a:extLst>
          </p:cNvPr>
          <p:cNvSpPr>
            <a:spLocks xmlns:a="http://schemas.openxmlformats.org/drawingml/2006/main" noGrp="1"/>
          </p:cNvSpPr>
          <p:nvPr>
            <p:ph type="subTitle" idx="1"/>
          </p:nvPr>
        </p:nvSpPr>
        <p:spPr>
          <a:xfrm xmlns:a="http://schemas.openxmlformats.org/drawingml/2006/main">
            <a:off x="4541520" y="23539450"/>
            <a:ext cx="21193760" cy="4755444"/>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15"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C4DDB56-4DDC-4275-B655-D09A0EEE28CF}"/>
              </a:ext>
            </a:extLst>
          </p:cNvPr>
          <p:cNvSpPr>
            <a:spLocks xmlns:a="http://schemas.openxmlformats.org/drawingml/2006/main" noGrp="1"/>
          </p:cNvSpPr>
          <p:nvPr>
            <p:ph type="title" idx="0"/>
          </p:nvPr>
        </p:nvSpPr>
        <p:spPr>
          <a:xfrm xmlns:a="http://schemas.openxmlformats.org/drawingml/2006/main">
            <a:off x="3027680" y="17832917"/>
            <a:ext cx="24221440" cy="71331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043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3D310F3-6032-4B1F-B42A-531ECB60C359}"/>
              </a:ext>
            </a:extLst>
          </p:cNvPr>
          <p:cNvSpPr>
            <a:spLocks xmlns:a="http://schemas.openxmlformats.org/drawingml/2006/main" noGrp="1"/>
          </p:cNvSpPr>
          <p:nvPr>
            <p:ph type="title" idx="0"/>
          </p:nvPr>
        </p:nvSpPr>
        <p:spPr>
          <a:xfrm xmlns:a="http://schemas.openxmlformats.org/drawingml/2006/main">
            <a:off x="1703070" y="3328811"/>
            <a:ext cx="26870660" cy="523098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819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CFB9108-23D7-4B2B-9905-1A91F07EE783}"/>
              </a:ext>
            </a:extLst>
          </p:cNvPr>
          <p:cNvSpPr>
            <a:spLocks xmlns:a="http://schemas.openxmlformats.org/drawingml/2006/main" noGrp="1"/>
          </p:cNvSpPr>
          <p:nvPr>
            <p:ph type="body" idx="1"/>
          </p:nvPr>
        </p:nvSpPr>
        <p:spPr>
          <a:xfrm xmlns:a="http://schemas.openxmlformats.org/drawingml/2006/main">
            <a:off x="1703070" y="11888611"/>
            <a:ext cx="26870660" cy="2663048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5588" b="0">
                <a:solidFill>
                  <a:schemeClr val="tx1"/>
                </a:solidFill>
                <a:latin typeface="+mn-lt"/>
                <a:ea typeface="+mn-lt"/>
                <a:cs typeface="+mn-lt"/>
              </a:defRPr>
            </a:defPPr>
            <a:lvl1pPr marL="567690" indent="-567690">
              <a:lnSpc>
                <a:spcPct val="110000"/>
              </a:lnSpc>
              <a:spcBef>
                <a:spcPts val="0"/>
              </a:spcBef>
              <a:spcAft>
                <a:spcPts val="2980"/>
              </a:spcAft>
              <a:buChar char="•"/>
            </a:lvl1pPr>
            <a:lvl2pPr marL="1324610" indent="-567690">
              <a:lnSpc>
                <a:spcPct val="110000"/>
              </a:lnSpc>
              <a:spcBef>
                <a:spcPts val="0"/>
              </a:spcBef>
              <a:spcAft>
                <a:spcPts val="2980"/>
              </a:spcAft>
              <a:buChar char="•"/>
            </a:lvl2pPr>
            <a:lvl3pPr marL="2081530" indent="-567690">
              <a:lnSpc>
                <a:spcPct val="110000"/>
              </a:lnSpc>
              <a:spcBef>
                <a:spcPts val="0"/>
              </a:spcBef>
              <a:spcAft>
                <a:spcPts val="2980"/>
              </a:spcAft>
              <a:buChar char="•"/>
            </a:lvl3pPr>
            <a:lvl4pPr marL="2838450" indent="-567690">
              <a:lnSpc>
                <a:spcPct val="110000"/>
              </a:lnSpc>
              <a:spcBef>
                <a:spcPts val="0"/>
              </a:spcBef>
              <a:spcAft>
                <a:spcPts val="2980"/>
              </a:spcAft>
              <a:buChar char="•"/>
            </a:lvl4pPr>
            <a:lvl5pPr marL="3595370" indent="-567690">
              <a:lnSpc>
                <a:spcPct val="110000"/>
              </a:lnSpc>
              <a:spcBef>
                <a:spcPts val="0"/>
              </a:spcBef>
              <a:spcAft>
                <a:spcPts val="2980"/>
              </a:spcAft>
              <a:buChar char="•"/>
            </a:lvl5pPr>
            <a:lvl6pPr marL="4352290" indent="-567690">
              <a:lnSpc>
                <a:spcPct val="110000"/>
              </a:lnSpc>
              <a:spcBef>
                <a:spcPts val="0"/>
              </a:spcBef>
              <a:spcAft>
                <a:spcPts val="2980"/>
              </a:spcAft>
              <a:buChar char="•"/>
            </a:lvl6pPr>
            <a:lvl7pPr marL="5109210" indent="-567690">
              <a:lnSpc>
                <a:spcPct val="110000"/>
              </a:lnSpc>
              <a:spcBef>
                <a:spcPts val="0"/>
              </a:spcBef>
              <a:spcAft>
                <a:spcPts val="2980"/>
              </a:spcAft>
              <a:buChar char="•"/>
            </a:lvl7pPr>
            <a:lvl8pPr marL="5866130" indent="-567690">
              <a:lnSpc>
                <a:spcPct val="110000"/>
              </a:lnSpc>
              <a:spcBef>
                <a:spcPts val="0"/>
              </a:spcBef>
              <a:spcAft>
                <a:spcPts val="2980"/>
              </a:spcAft>
              <a:buChar char="•"/>
            </a:lvl8pPr>
            <a:lvl9pPr marL="6623050" indent="-567690">
              <a:lnSpc>
                <a:spcPct val="110000"/>
              </a:lnSpc>
              <a:spcBef>
                <a:spcPts val="0"/>
              </a:spcBef>
              <a:spcAft>
                <a:spcPts val="298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3D3671C-60D6-4430-8CDD-82B10EE2BC4E}"/>
              </a:ext>
            </a:extLst>
          </p:cNvPr>
          <p:cNvSpPr>
            <a:spLocks xmlns:a="http://schemas.openxmlformats.org/drawingml/2006/main" noGrp="1"/>
          </p:cNvSpPr>
          <p:nvPr>
            <p:ph type="title" idx="0"/>
          </p:nvPr>
        </p:nvSpPr>
        <p:spPr>
          <a:xfrm xmlns:a="http://schemas.openxmlformats.org/drawingml/2006/main">
            <a:off x="1703070" y="3328811"/>
            <a:ext cx="26870660" cy="523098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819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E0773AB-3663-4310-B47A-5AC2BE4940D8}"/>
              </a:ext>
            </a:extLst>
          </p:cNvPr>
          <p:cNvSpPr>
            <a:spLocks xmlns:a="http://schemas.openxmlformats.org/drawingml/2006/main" noGrp="1"/>
          </p:cNvSpPr>
          <p:nvPr>
            <p:ph type="body" idx="1"/>
          </p:nvPr>
        </p:nvSpPr>
        <p:spPr>
          <a:xfrm xmlns:a="http://schemas.openxmlformats.org/drawingml/2006/main">
            <a:off x="1703070" y="11888611"/>
            <a:ext cx="12489180" cy="2663048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5215" b="0">
                <a:solidFill>
                  <a:schemeClr val="tx1"/>
                </a:solidFill>
                <a:latin typeface="+mn-lt"/>
                <a:ea typeface="+mn-lt"/>
                <a:cs typeface="+mn-lt"/>
              </a:defRPr>
            </a:defPPr>
            <a:lvl1pPr marL="567690" indent="-567690">
              <a:lnSpc>
                <a:spcPct val="110000"/>
              </a:lnSpc>
              <a:spcBef>
                <a:spcPts val="0"/>
              </a:spcBef>
              <a:spcAft>
                <a:spcPts val="2980"/>
              </a:spcAft>
              <a:buChar char="•"/>
            </a:lvl1pPr>
            <a:lvl2pPr marL="1324610" indent="-567690">
              <a:lnSpc>
                <a:spcPct val="110000"/>
              </a:lnSpc>
              <a:spcBef>
                <a:spcPts val="0"/>
              </a:spcBef>
              <a:spcAft>
                <a:spcPts val="2980"/>
              </a:spcAft>
              <a:buChar char="•"/>
            </a:lvl2pPr>
            <a:lvl3pPr marL="2081530" indent="-567690">
              <a:lnSpc>
                <a:spcPct val="110000"/>
              </a:lnSpc>
              <a:spcBef>
                <a:spcPts val="0"/>
              </a:spcBef>
              <a:spcAft>
                <a:spcPts val="2980"/>
              </a:spcAft>
              <a:buChar char="•"/>
            </a:lvl3pPr>
            <a:lvl4pPr marL="2838450" indent="-567690">
              <a:lnSpc>
                <a:spcPct val="110000"/>
              </a:lnSpc>
              <a:spcBef>
                <a:spcPts val="0"/>
              </a:spcBef>
              <a:spcAft>
                <a:spcPts val="2980"/>
              </a:spcAft>
              <a:buChar char="•"/>
            </a:lvl4pPr>
            <a:lvl5pPr marL="3595370" indent="-567690">
              <a:lnSpc>
                <a:spcPct val="110000"/>
              </a:lnSpc>
              <a:spcBef>
                <a:spcPts val="0"/>
              </a:spcBef>
              <a:spcAft>
                <a:spcPts val="2980"/>
              </a:spcAft>
              <a:buChar char="•"/>
            </a:lvl5pPr>
            <a:lvl6pPr marL="4352290" indent="-567690">
              <a:lnSpc>
                <a:spcPct val="110000"/>
              </a:lnSpc>
              <a:spcBef>
                <a:spcPts val="0"/>
              </a:spcBef>
              <a:spcAft>
                <a:spcPts val="2980"/>
              </a:spcAft>
              <a:buChar char="•"/>
            </a:lvl6pPr>
            <a:lvl7pPr marL="5109210" indent="-567690">
              <a:lnSpc>
                <a:spcPct val="110000"/>
              </a:lnSpc>
              <a:spcBef>
                <a:spcPts val="0"/>
              </a:spcBef>
              <a:spcAft>
                <a:spcPts val="2980"/>
              </a:spcAft>
              <a:buChar char="•"/>
            </a:lvl7pPr>
            <a:lvl8pPr marL="5866130" indent="-567690">
              <a:lnSpc>
                <a:spcPct val="110000"/>
              </a:lnSpc>
              <a:spcBef>
                <a:spcPts val="0"/>
              </a:spcBef>
              <a:spcAft>
                <a:spcPts val="2980"/>
              </a:spcAft>
              <a:buChar char="•"/>
            </a:lvl8pPr>
            <a:lvl9pPr marL="6623050" indent="-567690">
              <a:lnSpc>
                <a:spcPct val="110000"/>
              </a:lnSpc>
              <a:spcBef>
                <a:spcPts val="0"/>
              </a:spcBef>
              <a:spcAft>
                <a:spcPts val="298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9DBC006-A531-43C0-8472-4B2BCFDDA357}"/>
              </a:ext>
            </a:extLst>
          </p:cNvPr>
          <p:cNvSpPr>
            <a:spLocks xmlns:a="http://schemas.openxmlformats.org/drawingml/2006/main" noGrp="1"/>
          </p:cNvSpPr>
          <p:nvPr>
            <p:ph type="body" idx="2"/>
          </p:nvPr>
        </p:nvSpPr>
        <p:spPr>
          <a:xfrm xmlns:a="http://schemas.openxmlformats.org/drawingml/2006/main">
            <a:off x="16084550" y="11888611"/>
            <a:ext cx="12489180" cy="2663048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5215" b="0">
                <a:solidFill>
                  <a:schemeClr val="tx1"/>
                </a:solidFill>
                <a:latin typeface="+mn-lt"/>
                <a:ea typeface="+mn-lt"/>
                <a:cs typeface="+mn-lt"/>
              </a:defRPr>
            </a:defPPr>
            <a:lvl1pPr marL="567690" indent="-567690">
              <a:lnSpc>
                <a:spcPct val="110000"/>
              </a:lnSpc>
              <a:spcBef>
                <a:spcPts val="0"/>
              </a:spcBef>
              <a:spcAft>
                <a:spcPts val="2980"/>
              </a:spcAft>
              <a:buChar char="•"/>
            </a:lvl1pPr>
            <a:lvl2pPr marL="1324610" indent="-567690">
              <a:lnSpc>
                <a:spcPct val="110000"/>
              </a:lnSpc>
              <a:spcBef>
                <a:spcPts val="0"/>
              </a:spcBef>
              <a:spcAft>
                <a:spcPts val="2980"/>
              </a:spcAft>
              <a:buChar char="•"/>
            </a:lvl2pPr>
            <a:lvl3pPr marL="2081530" indent="-567690">
              <a:lnSpc>
                <a:spcPct val="110000"/>
              </a:lnSpc>
              <a:spcBef>
                <a:spcPts val="0"/>
              </a:spcBef>
              <a:spcAft>
                <a:spcPts val="2980"/>
              </a:spcAft>
              <a:buChar char="•"/>
            </a:lvl3pPr>
            <a:lvl4pPr marL="2838450" indent="-567690">
              <a:lnSpc>
                <a:spcPct val="110000"/>
              </a:lnSpc>
              <a:spcBef>
                <a:spcPts val="0"/>
              </a:spcBef>
              <a:spcAft>
                <a:spcPts val="2980"/>
              </a:spcAft>
              <a:buChar char="•"/>
            </a:lvl4pPr>
            <a:lvl5pPr marL="3595370" indent="-567690">
              <a:lnSpc>
                <a:spcPct val="110000"/>
              </a:lnSpc>
              <a:spcBef>
                <a:spcPts val="0"/>
              </a:spcBef>
              <a:spcAft>
                <a:spcPts val="2980"/>
              </a:spcAft>
              <a:buChar char="•"/>
            </a:lvl5pPr>
            <a:lvl6pPr marL="4352290" indent="-567690">
              <a:lnSpc>
                <a:spcPct val="110000"/>
              </a:lnSpc>
              <a:spcBef>
                <a:spcPts val="0"/>
              </a:spcBef>
              <a:spcAft>
                <a:spcPts val="2980"/>
              </a:spcAft>
              <a:buChar char="•"/>
            </a:lvl6pPr>
            <a:lvl7pPr marL="5109210" indent="-567690">
              <a:lnSpc>
                <a:spcPct val="110000"/>
              </a:lnSpc>
              <a:spcBef>
                <a:spcPts val="0"/>
              </a:spcBef>
              <a:spcAft>
                <a:spcPts val="2980"/>
              </a:spcAft>
              <a:buChar char="•"/>
            </a:lvl7pPr>
            <a:lvl8pPr marL="5866130" indent="-567690">
              <a:lnSpc>
                <a:spcPct val="110000"/>
              </a:lnSpc>
              <a:spcBef>
                <a:spcPts val="0"/>
              </a:spcBef>
              <a:spcAft>
                <a:spcPts val="2980"/>
              </a:spcAft>
              <a:buChar char="•"/>
            </a:lvl8pPr>
            <a:lvl9pPr marL="6623050" indent="-567690">
              <a:lnSpc>
                <a:spcPct val="110000"/>
              </a:lnSpc>
              <a:spcBef>
                <a:spcPts val="0"/>
              </a:spcBef>
              <a:spcAft>
                <a:spcPts val="298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844C6C2-106B-44CB-9B4E-D387B643A32D}"/>
              </a:ext>
            </a:extLst>
          </p:cNvPr>
          <p:cNvSpPr>
            <a:spLocks xmlns:a="http://schemas.openxmlformats.org/drawingml/2006/main" noGrp="1"/>
          </p:cNvSpPr>
          <p:nvPr>
            <p:ph type="title" idx="0"/>
          </p:nvPr>
        </p:nvSpPr>
        <p:spPr>
          <a:xfrm xmlns:a="http://schemas.openxmlformats.org/drawingml/2006/main">
            <a:off x="1703070" y="3328811"/>
            <a:ext cx="26870660" cy="523098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819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8B91724-2F73-45FE-886F-B0D2F138C750}"/>
              </a:ext>
            </a:extLst>
          </p:cNvPr>
          <p:cNvSpPr>
            <a:spLocks xmlns:a="http://schemas.openxmlformats.org/drawingml/2006/main" noGrp="1"/>
          </p:cNvSpPr>
          <p:nvPr>
            <p:ph type="body" idx="1"/>
          </p:nvPr>
        </p:nvSpPr>
        <p:spPr>
          <a:xfrm xmlns:a="http://schemas.openxmlformats.org/drawingml/2006/main">
            <a:off x="1703070" y="11888611"/>
            <a:ext cx="12489180" cy="2663048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5588" b="0">
                <a:solidFill>
                  <a:schemeClr val="tx1"/>
                </a:solidFill>
                <a:latin typeface="+mn-lt"/>
                <a:ea typeface="+mn-lt"/>
                <a:cs typeface="+mn-lt"/>
              </a:defRPr>
            </a:defPPr>
            <a:lvl1pPr marL="567690" indent="-567690">
              <a:lnSpc>
                <a:spcPct val="110000"/>
              </a:lnSpc>
              <a:spcBef>
                <a:spcPts val="0"/>
              </a:spcBef>
              <a:spcAft>
                <a:spcPts val="2980"/>
              </a:spcAft>
              <a:buChar char="•"/>
            </a:lvl1pPr>
            <a:lvl2pPr marL="1324610" indent="-567690">
              <a:lnSpc>
                <a:spcPct val="110000"/>
              </a:lnSpc>
              <a:spcBef>
                <a:spcPts val="0"/>
              </a:spcBef>
              <a:spcAft>
                <a:spcPts val="2980"/>
              </a:spcAft>
              <a:buChar char="•"/>
            </a:lvl2pPr>
            <a:lvl3pPr marL="2081530" indent="-567690">
              <a:lnSpc>
                <a:spcPct val="110000"/>
              </a:lnSpc>
              <a:spcBef>
                <a:spcPts val="0"/>
              </a:spcBef>
              <a:spcAft>
                <a:spcPts val="2980"/>
              </a:spcAft>
              <a:buChar char="•"/>
            </a:lvl3pPr>
            <a:lvl4pPr marL="2838450" indent="-567690">
              <a:lnSpc>
                <a:spcPct val="110000"/>
              </a:lnSpc>
              <a:spcBef>
                <a:spcPts val="0"/>
              </a:spcBef>
              <a:spcAft>
                <a:spcPts val="2980"/>
              </a:spcAft>
              <a:buChar char="•"/>
            </a:lvl4pPr>
            <a:lvl5pPr marL="3595370" indent="-567690">
              <a:lnSpc>
                <a:spcPct val="110000"/>
              </a:lnSpc>
              <a:spcBef>
                <a:spcPts val="0"/>
              </a:spcBef>
              <a:spcAft>
                <a:spcPts val="2980"/>
              </a:spcAft>
              <a:buChar char="•"/>
            </a:lvl5pPr>
            <a:lvl6pPr marL="4352290" indent="-567690">
              <a:lnSpc>
                <a:spcPct val="110000"/>
              </a:lnSpc>
              <a:spcBef>
                <a:spcPts val="0"/>
              </a:spcBef>
              <a:spcAft>
                <a:spcPts val="2980"/>
              </a:spcAft>
              <a:buChar char="•"/>
            </a:lvl6pPr>
            <a:lvl7pPr marL="5109210" indent="-567690">
              <a:lnSpc>
                <a:spcPct val="110000"/>
              </a:lnSpc>
              <a:spcBef>
                <a:spcPts val="0"/>
              </a:spcBef>
              <a:spcAft>
                <a:spcPts val="2980"/>
              </a:spcAft>
              <a:buChar char="•"/>
            </a:lvl7pPr>
            <a:lvl8pPr marL="5866130" indent="-567690">
              <a:lnSpc>
                <a:spcPct val="110000"/>
              </a:lnSpc>
              <a:spcBef>
                <a:spcPts val="0"/>
              </a:spcBef>
              <a:spcAft>
                <a:spcPts val="2980"/>
              </a:spcAft>
              <a:buChar char="•"/>
            </a:lvl8pPr>
            <a:lvl9pPr marL="6623050" indent="-567690">
              <a:lnSpc>
                <a:spcPct val="110000"/>
              </a:lnSpc>
              <a:spcBef>
                <a:spcPts val="0"/>
              </a:spcBef>
              <a:spcAft>
                <a:spcPts val="298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aa719583f5d49b1" /><Relationship Type="http://schemas.openxmlformats.org/officeDocument/2006/relationships/slideLayout" Target="/ppt/slideLayouts/slideLayout1.xml" Id="R5de5372923dd43e8" /><Relationship Type="http://schemas.openxmlformats.org/officeDocument/2006/relationships/slideLayout" Target="/ppt/slideLayouts/slideLayout2.xml" Id="R2aecacb9caca4b55" /><Relationship Type="http://schemas.openxmlformats.org/officeDocument/2006/relationships/slideLayout" Target="/ppt/slideLayouts/slideLayout3.xml" Id="R8e0be1e17543416b" /><Relationship Type="http://schemas.openxmlformats.org/officeDocument/2006/relationships/slideLayout" Target="/ppt/slideLayouts/slideLayout4.xml" Id="Rb9481a8f40bd46c8" /><Relationship Type="http://schemas.openxmlformats.org/officeDocument/2006/relationships/slideLayout" Target="/ppt/slideLayouts/slideLayout5.xml" Id="R4aaa17b800224b29" /><Relationship Type="http://schemas.openxmlformats.org/officeDocument/2006/relationships/slideLayout" Target="/ppt/slideLayouts/slideLayout6.xml" Id="Rd2291390130c486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de5372923dd43e8"/>
    <p:sldLayoutId xmlns:r="http://schemas.openxmlformats.org/officeDocument/2006/relationships" id="2147483650" r:id="R2aecacb9caca4b55"/>
    <p:sldLayoutId xmlns:r="http://schemas.openxmlformats.org/officeDocument/2006/relationships" id="2147483651" r:id="R8e0be1e17543416b"/>
    <p:sldLayoutId xmlns:r="http://schemas.openxmlformats.org/officeDocument/2006/relationships" id="2147483652" r:id="Rb9481a8f40bd46c8"/>
    <p:sldLayoutId xmlns:r="http://schemas.openxmlformats.org/officeDocument/2006/relationships" id="2147483653" r:id="R4aaa17b800224b29"/>
    <p:sldLayoutId xmlns:r="http://schemas.openxmlformats.org/officeDocument/2006/relationships" id="2147483654" r:id="Rd2291390130c486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84005620bf34d12" /><Relationship Type="http://schemas.openxmlformats.org/officeDocument/2006/relationships/image" Target="/ppt/media/image.jpeg" Id="Rc826cbfd60994b76" /><Relationship Type="http://schemas.openxmlformats.org/officeDocument/2006/relationships/chart" Target="/ppt/slides/charts/chart1.xml" Id="R0c01d6a15e434a55" /><Relationship Type="http://schemas.openxmlformats.org/officeDocument/2006/relationships/image" Target="/ppt/media/image.png" Id="R326442a2acbf4e8f" /><Relationship Type="http://schemas.openxmlformats.org/officeDocument/2006/relationships/image" Target="/ppt/media/image2.png" Id="R9e3ad2b62d424890" /><Relationship Type="http://schemas.openxmlformats.org/officeDocument/2006/relationships/image" Target="/ppt/media/image3.png" Id="Rb9179f3d29f744f2" /><Relationship Type="http://schemas.openxmlformats.org/officeDocument/2006/relationships/image" Target="/ppt/media/image4.png" Id="R0112f871bb7b4e78" /><Relationship Type="http://schemas.openxmlformats.org/officeDocument/2006/relationships/image" Target="/ppt/media/image5.png" Id="Raa8b474070734e37" /><Relationship Type="http://schemas.openxmlformats.org/officeDocument/2006/relationships/image" Target="/ppt/media/image6.png" Id="Rd222c85971b540de" /><Relationship Type="http://schemas.openxmlformats.org/officeDocument/2006/relationships/image" Target="/ppt/media/image7.png" Id="Rf4f00027b6064d27" /><Relationship Type="http://schemas.openxmlformats.org/officeDocument/2006/relationships/image" Target="/ppt/media/image8.png" Id="R90d3152e6ed84b61" /><Relationship Type="http://schemas.openxmlformats.org/officeDocument/2006/relationships/chart" Target="/ppt/slides/charts/chart2.xml" Id="Rf1e163543142468a" /><Relationship Type="http://schemas.openxmlformats.org/officeDocument/2006/relationships/image" Target="/ppt/media/image9.png" Id="R7d7330729b0c4b53" /><Relationship Type="http://schemas.openxmlformats.org/officeDocument/2006/relationships/notesSlide" Target="/ppt/notesSlides/notesSlide1.xml" Id="R66c628a544c4417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Marker"/>
        <c:varyColors val="0"/>
        <c:ser>
          <c:idx val="0"/>
          <c:order val="0"/>
          <c:tx>
            <c:v>DeepJSCC-Q</c:v>
          </c:tx>
          <c:spPr>
            <a:ln xmlns:a="http://schemas.openxmlformats.org/drawingml/2006/main" w="38100">
              <a:solidFill>
                <a:srgbClr val="237EAD"/>
              </a:solidFill>
            </a:ln>
          </c:spPr>
          <c:marker>
            <c:symbol val="circle"/>
            <c:size val="11"/>
            <c:spPr>
              <a:solidFill xmlns:a="http://schemas.openxmlformats.org/drawingml/2006/main">
                <a:srgbClr val="237EAD"/>
              </a:solidFill>
            </c:spPr>
          </c:marker>
          <c:xVal>
            <c:numRef>
              <c:f>'Chart Data'!$A$2:$A$30</c:f>
              <c:numCache>
                <c:formatCode>General</c:formatCode>
                <c:ptCount val="29"/>
                <c:pt idx="0">
                  <c:v>5.51</c:v>
                </c:pt>
                <c:pt idx="1">
                  <c:v>6.56</c:v>
                </c:pt>
                <c:pt idx="2">
                  <c:v>9.5</c:v>
                </c:pt>
                <c:pt idx="3">
                  <c:v>11.41</c:v>
                </c:pt>
                <c:pt idx="4">
                  <c:v>12.91</c:v>
                </c:pt>
                <c:pt idx="5">
                  <c:v>14.49</c:v>
                </c:pt>
                <c:pt idx="6">
                  <c:v>14.65</c:v>
                </c:pt>
                <c:pt idx="7">
                  <c:v>15.51</c:v>
                </c:pt>
                <c:pt idx="8">
                  <c:v>15.84</c:v>
                </c:pt>
                <c:pt idx="9">
                  <c:v>16.99</c:v>
                </c:pt>
                <c:pt idx="10">
                  <c:v>17.72</c:v>
                </c:pt>
                <c:pt idx="11">
                  <c:v>18.87</c:v>
                </c:pt>
                <c:pt idx="12">
                  <c:v>19.51</c:v>
                </c:pt>
                <c:pt idx="13">
                  <c:v>19.74</c:v>
                </c:pt>
                <c:pt idx="14">
                  <c:v>19.95</c:v>
                </c:pt>
                <c:pt idx="15">
                  <c:v>20.09</c:v>
                </c:pt>
                <c:pt idx="16">
                  <c:v>20.73</c:v>
                </c:pt>
                <c:pt idx="17">
                  <c:v>21.06</c:v>
                </c:pt>
                <c:pt idx="18">
                  <c:v>21.55</c:v>
                </c:pt>
                <c:pt idx="19">
                  <c:v>22.48</c:v>
                </c:pt>
                <c:pt idx="20">
                  <c:v>23.03</c:v>
                </c:pt>
                <c:pt idx="21">
                  <c:v>23.66</c:v>
                </c:pt>
                <c:pt idx="22">
                  <c:v>24.46</c:v>
                </c:pt>
                <c:pt idx="23">
                  <c:v>26.13</c:v>
                </c:pt>
                <c:pt idx="24">
                  <c:v>27.53</c:v>
                </c:pt>
                <c:pt idx="25">
                  <c:v>28.18</c:v>
                </c:pt>
                <c:pt idx="26">
                  <c:v>30.2</c:v>
                </c:pt>
                <c:pt idx="27">
                  <c:v>31.37</c:v>
                </c:pt>
                <c:pt idx="28">
                  <c:v>32.07</c:v>
                </c:pt>
              </c:numCache>
            </c:numRef>
          </c:xVal>
          <c:yVal>
            <c:numRef>
              <c:f>'Chart Data'!$B$2:$B$30</c:f>
              <c:numCache>
                <c:formatCode>0</c:formatCode>
                <c:ptCount val="29"/>
                <c:pt idx="0">
                  <c:v>26.54</c:v>
                </c:pt>
                <c:pt idx="1">
                  <c:v>27.95</c:v>
                </c:pt>
                <c:pt idx="2">
                  <c:v>29.75</c:v>
                </c:pt>
                <c:pt idx="3">
                  <c:v>30.87</c:v>
                </c:pt>
                <c:pt idx="4">
                  <c:v>31.19</c:v>
                </c:pt>
                <c:pt idx="5">
                  <c:v>31.48</c:v>
                </c:pt>
                <c:pt idx="6">
                  <c:v>31.41</c:v>
                </c:pt>
                <c:pt idx="7">
                  <c:v>31.53</c:v>
                </c:pt>
                <c:pt idx="8">
                  <c:v>31.57</c:v>
                </c:pt>
                <c:pt idx="9">
                  <c:v>31.66</c:v>
                </c:pt>
                <c:pt idx="10">
                  <c:v>31.71</c:v>
                </c:pt>
                <c:pt idx="11">
                  <c:v>31.78</c:v>
                </c:pt>
                <c:pt idx="12">
                  <c:v>31.82</c:v>
                </c:pt>
                <c:pt idx="13">
                  <c:v>31.82</c:v>
                </c:pt>
                <c:pt idx="14">
                  <c:v>31.82</c:v>
                </c:pt>
                <c:pt idx="15">
                  <c:v>31.84</c:v>
                </c:pt>
                <c:pt idx="16">
                  <c:v>31.86</c:v>
                </c:pt>
                <c:pt idx="17">
                  <c:v>31.87</c:v>
                </c:pt>
                <c:pt idx="18">
                  <c:v>31.89</c:v>
                </c:pt>
                <c:pt idx="19">
                  <c:v>31.93</c:v>
                </c:pt>
                <c:pt idx="20">
                  <c:v>31.92</c:v>
                </c:pt>
                <c:pt idx="21">
                  <c:v>31.92</c:v>
                </c:pt>
                <c:pt idx="22">
                  <c:v>31.95</c:v>
                </c:pt>
                <c:pt idx="23">
                  <c:v>31.96</c:v>
                </c:pt>
                <c:pt idx="24">
                  <c:v>31.96</c:v>
                </c:pt>
                <c:pt idx="25">
                  <c:v>31.98</c:v>
                </c:pt>
                <c:pt idx="26">
                  <c:v>31.99</c:v>
                </c:pt>
                <c:pt idx="27">
                  <c:v>31.99</c:v>
                </c:pt>
                <c:pt idx="28">
                  <c:v>31.99</c:v>
                </c:pt>
              </c:numCache>
            </c:numRef>
          </c:yVal>
          <c:smooth val="0"/>
        </c:ser>
        <c:ser>
          <c:idx val="1"/>
          <c:order val="1"/>
          <c:tx>
            <c:v>SSCC</c:v>
          </c:tx>
          <c:spPr>
            <a:ln xmlns:a="http://schemas.openxmlformats.org/drawingml/2006/main" w="38100">
              <a:solidFill>
                <a:srgbClr val="D9531E"/>
              </a:solidFill>
            </a:ln>
          </c:spPr>
          <c:marker>
            <c:symbol val="triangle"/>
            <c:size val="11"/>
            <c:spPr>
              <a:solidFill xmlns:a="http://schemas.openxmlformats.org/drawingml/2006/main">
                <a:srgbClr val="D9531E"/>
              </a:solidFill>
            </c:spPr>
          </c:marker>
          <c:xVal>
            <c:numRef>
              <c:f>'Chart Data'!$C$2:$C$30</c:f>
              <c:numCache>
                <c:formatCode>General</c:formatCode>
                <c:ptCount val="29"/>
                <c:pt idx="0">
                  <c:v>5.4</c:v>
                </c:pt>
                <c:pt idx="1">
                  <c:v>6.9</c:v>
                </c:pt>
                <c:pt idx="2">
                  <c:v>7.82</c:v>
                </c:pt>
                <c:pt idx="3">
                  <c:v>11.3</c:v>
                </c:pt>
                <c:pt idx="4">
                  <c:v>13.38</c:v>
                </c:pt>
                <c:pt idx="5">
                  <c:v>15.63</c:v>
                </c:pt>
                <c:pt idx="6">
                  <c:v>15.63</c:v>
                </c:pt>
                <c:pt idx="7">
                  <c:v>16.62</c:v>
                </c:pt>
                <c:pt idx="8">
                  <c:v>16.74</c:v>
                </c:pt>
                <c:pt idx="9">
                  <c:v>17.71</c:v>
                </c:pt>
                <c:pt idx="10">
                  <c:v>19.04</c:v>
                </c:pt>
                <c:pt idx="11">
                  <c:v>19.5</c:v>
                </c:pt>
                <c:pt idx="12">
                  <c:v>19.59</c:v>
                </c:pt>
                <c:pt idx="13">
                  <c:v>19.77</c:v>
                </c:pt>
                <c:pt idx="14">
                  <c:v>20.04</c:v>
                </c:pt>
                <c:pt idx="15">
                  <c:v>21.19</c:v>
                </c:pt>
                <c:pt idx="16">
                  <c:v>22.35</c:v>
                </c:pt>
                <c:pt idx="17">
                  <c:v>22.7</c:v>
                </c:pt>
                <c:pt idx="18">
                  <c:v>23.01</c:v>
                </c:pt>
                <c:pt idx="19">
                  <c:v>23.11</c:v>
                </c:pt>
                <c:pt idx="20">
                  <c:v>23.83</c:v>
                </c:pt>
                <c:pt idx="21">
                  <c:v>24.24</c:v>
                </c:pt>
                <c:pt idx="22">
                  <c:v>24.82</c:v>
                </c:pt>
                <c:pt idx="23">
                  <c:v>26.7</c:v>
                </c:pt>
                <c:pt idx="24">
                  <c:v>28.15</c:v>
                </c:pt>
                <c:pt idx="25">
                  <c:v>29.92</c:v>
                </c:pt>
                <c:pt idx="26">
                  <c:v>31.11</c:v>
                </c:pt>
                <c:pt idx="27">
                  <c:v>31.93</c:v>
                </c:pt>
                <c:pt idx="28">
                  <c:v>32.47</c:v>
                </c:pt>
              </c:numCache>
            </c:numRef>
          </c:xVal>
          <c:yVal>
            <c:numRef>
              <c:f>'Chart Data'!$D$2:$D$30</c:f>
              <c:numCache>
                <c:formatCode>0</c:formatCode>
                <c:ptCount val="29"/>
                <c:pt idx="0">
                  <c:v>9.65</c:v>
                </c:pt>
                <c:pt idx="1">
                  <c:v>9.65</c:v>
                </c:pt>
                <c:pt idx="2">
                  <c:v>9.64</c:v>
                </c:pt>
                <c:pt idx="3">
                  <c:v>8.87</c:v>
                </c:pt>
                <c:pt idx="4">
                  <c:v>8.55</c:v>
                </c:pt>
                <c:pt idx="5">
                  <c:v>8.52</c:v>
                </c:pt>
                <c:pt idx="6">
                  <c:v>8.79</c:v>
                </c:pt>
                <c:pt idx="7">
                  <c:v>8.79</c:v>
                </c:pt>
                <c:pt idx="8">
                  <c:v>13.88</c:v>
                </c:pt>
                <c:pt idx="9">
                  <c:v>21.83</c:v>
                </c:pt>
                <c:pt idx="10">
                  <c:v>25.12</c:v>
                </c:pt>
                <c:pt idx="11">
                  <c:v>26.78</c:v>
                </c:pt>
                <c:pt idx="12">
                  <c:v>27.62</c:v>
                </c:pt>
                <c:pt idx="13">
                  <c:v>27.11</c:v>
                </c:pt>
                <c:pt idx="14">
                  <c:v>27.78</c:v>
                </c:pt>
                <c:pt idx="15">
                  <c:v>28.17</c:v>
                </c:pt>
                <c:pt idx="16">
                  <c:v>28.23</c:v>
                </c:pt>
                <c:pt idx="17">
                  <c:v>28.23</c:v>
                </c:pt>
                <c:pt idx="18">
                  <c:v>28.23</c:v>
                </c:pt>
                <c:pt idx="19">
                  <c:v>28.23</c:v>
                </c:pt>
                <c:pt idx="20">
                  <c:v>28.16</c:v>
                </c:pt>
                <c:pt idx="21">
                  <c:v>28.23</c:v>
                </c:pt>
                <c:pt idx="22">
                  <c:v>28.23</c:v>
                </c:pt>
                <c:pt idx="23">
                  <c:v>28.23</c:v>
                </c:pt>
                <c:pt idx="24">
                  <c:v>28.23</c:v>
                </c:pt>
                <c:pt idx="25">
                  <c:v>28.23</c:v>
                </c:pt>
                <c:pt idx="26">
                  <c:v>28.23</c:v>
                </c:pt>
                <c:pt idx="27">
                  <c:v>28.23</c:v>
                </c:pt>
                <c:pt idx="28">
                  <c:v>28.23</c:v>
                </c:pt>
              </c:numCache>
            </c:numRef>
          </c:yVal>
          <c:smooth val="0"/>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35"/>
          <c:min val="5"/>
        </c:scaling>
        <c:delete val="0"/>
        <c:axPos val="l"/>
        <c:majorGridlines>
          <c:spPr>
            <a:ln xmlns:a="http://schemas.openxmlformats.org/drawingml/2006/main" w="9525">
              <a:solidFill>
                <a:srgbClr val="DCE5EB"/>
              </a:solidFill>
            </a:ln>
          </c:spPr>
        </c:majorGridlines>
        <c:title>
          <c:tx>
            <c:rich>
              <a:bodyPr xmlns:a="http://schemas.openxmlformats.org/drawingml/2006/main"/>
              <a:lstStyle xmlns:a="http://schemas.openxmlformats.org/drawingml/2006/main"/>
              <a:p xmlns:a="http://schemas.openxmlformats.org/drawingml/2006/main">
                <a:r>
                  <a:rPr sz="2850">
                    <a:solidFill>
                      <a:srgbClr val="20303D"/>
                    </a:solidFill>
                    <a:latin typeface="Calibri"/>
                    <a:ea typeface="Calibri"/>
                    <a:cs typeface="Calibri"/>
                  </a:rPr>
                  <a:t>PSNR (dB)</a:t>
                </a:r>
              </a:p>
            </c:rich>
          </c:tx>
          <c:overlay val="0"/>
          <c:txPr>
            <a:bodyPr xmlns:a="http://schemas.openxmlformats.org/drawingml/2006/main" anchorCtr="1"/>
            <a:lstStyle xmlns:a="http://schemas.openxmlformats.org/drawingml/2006/main"/>
            <a:p xmlns:a="http://schemas.openxmlformats.org/drawingml/2006/main">
              <a:pPr>
                <a:defRPr sz="2850">
                  <a:solidFill>
                    <a:srgbClr val="20303D"/>
                  </a:solidFill>
                  <a:latin typeface="Calibri"/>
                  <a:ea typeface="Calibri"/>
                  <a:cs typeface="Calibri"/>
                </a:defRPr>
              </a:pPr>
            </a:p>
          </c:txPr>
        </c:title>
        <c:numFmt formatCode="0"/>
        <c:majorTickMark val="none"/>
        <c:minorTickMark val="none"/>
        <c:spPr>
          <a:ln xmlns:a="http://schemas.openxmlformats.org/drawingml/2006/main" w="15240">
            <a:solidFill>
              <a:srgbClr val="20303D"/>
            </a:solidFill>
          </a:ln>
        </c:spPr>
        <c:txPr>
          <a:bodyPr xmlns:a="http://schemas.openxmlformats.org/drawingml/2006/main" anchorCtr="1"/>
          <a:lstStyle xmlns:a="http://schemas.openxmlformats.org/drawingml/2006/main"/>
          <a:p xmlns:a="http://schemas.openxmlformats.org/drawingml/2006/main">
            <a:pPr>
              <a:defRPr sz="2700">
                <a:solidFill>
                  <a:srgbClr val="20303D"/>
                </a:solidFill>
                <a:latin typeface="Calibri"/>
                <a:ea typeface="Calibri"/>
                <a:cs typeface="Calibri"/>
              </a:defRPr>
            </a:pPr>
          </a:p>
        </c:txPr>
        <c:crossAx val="48650112"/>
        <c:majorUnit val="5"/>
      </c:valAx>
      <c:valAx>
        <c:axId val="48650112"/>
        <c:scaling>
          <c:orientation val="minMax"/>
          <c:max val="35"/>
          <c:min val="5"/>
        </c:scaling>
        <c:delete val="0"/>
        <c:axPos val="b"/>
        <c:majorGridlines>
          <c:spPr>
            <a:ln xmlns:a="http://schemas.openxmlformats.org/drawingml/2006/main" w="9525">
              <a:solidFill>
                <a:srgbClr val="E3E9ED"/>
              </a:solidFill>
            </a:ln>
          </c:spPr>
        </c:majorGridlines>
        <c:title>
          <c:tx>
            <c:rich>
              <a:bodyPr xmlns:a="http://schemas.openxmlformats.org/drawingml/2006/main"/>
              <a:lstStyle xmlns:a="http://schemas.openxmlformats.org/drawingml/2006/main"/>
              <a:p xmlns:a="http://schemas.openxmlformats.org/drawingml/2006/main">
                <a:r>
                  <a:rPr sz="2850">
                    <a:solidFill>
                      <a:srgbClr val="20303D"/>
                    </a:solidFill>
                    <a:latin typeface="Calibri"/>
                    <a:ea typeface="Calibri"/>
                    <a:cs typeface="Calibri"/>
                  </a:rPr>
                  <a:t>Data-aided SNR (dB)</a:t>
                </a:r>
              </a:p>
            </c:rich>
          </c:tx>
          <c:overlay val="0"/>
          <c:txPr>
            <a:bodyPr xmlns:a="http://schemas.openxmlformats.org/drawingml/2006/main" anchorCtr="1"/>
            <a:lstStyle xmlns:a="http://schemas.openxmlformats.org/drawingml/2006/main"/>
            <a:p xmlns:a="http://schemas.openxmlformats.org/drawingml/2006/main">
              <a:pPr>
                <a:defRPr sz="2850">
                  <a:solidFill>
                    <a:srgbClr val="20303D"/>
                  </a:solidFill>
                  <a:latin typeface="Calibri"/>
                  <a:ea typeface="Calibri"/>
                  <a:cs typeface="Calibri"/>
                </a:defRPr>
              </a:pPr>
            </a:p>
          </c:txPr>
        </c:title>
        <c:numFmt formatCode="0"/>
        <c:majorTickMark val="none"/>
        <c:minorTickMark val="none"/>
        <c:spPr>
          <a:ln xmlns:a="http://schemas.openxmlformats.org/drawingml/2006/main" w="15240">
            <a:solidFill>
              <a:srgbClr val="20303D"/>
            </a:solidFill>
          </a:ln>
        </c:spPr>
        <c:txPr>
          <a:bodyPr xmlns:a="http://schemas.openxmlformats.org/drawingml/2006/main" anchorCtr="1"/>
          <a:lstStyle xmlns:a="http://schemas.openxmlformats.org/drawingml/2006/main"/>
          <a:p xmlns:a="http://schemas.openxmlformats.org/drawingml/2006/main">
            <a:pPr>
              <a:defRPr sz="2700">
                <a:solidFill>
                  <a:srgbClr val="20303D"/>
                </a:solidFill>
                <a:latin typeface="Calibri"/>
                <a:ea typeface="Calibri"/>
                <a:cs typeface="Calibri"/>
              </a:defRPr>
            </a:pPr>
          </a:p>
        </c:txPr>
        <c:crossAx val="48672768"/>
        <c:majorUnit val="5"/>
      </c:valAx>
      <c:spPr>
        <a:solidFill xmlns:a="http://schemas.openxmlformats.org/drawingml/2006/main">
          <a:srgbClr val="FFFFFF"/>
        </a:solidFill>
        <a:ln xmlns:a="http://schemas.openxmlformats.org/drawingml/2006/main" w="0">
          <a:noFill/>
        </a:ln>
      </c:spPr>
    </c:plotArea>
    <c:legend>
      <c:legendPos val="t"/>
      <c:overlay val="0"/>
      <c:txPr>
        <a:bodyPr xmlns:a="http://schemas.openxmlformats.org/drawingml/2006/main" anchorCtr="1"/>
        <a:lstStyle xmlns:a="http://schemas.openxmlformats.org/drawingml/2006/main"/>
        <a:p xmlns:a="http://schemas.openxmlformats.org/drawingml/2006/main">
          <a:pPr>
            <a:defRPr sz="2850">
              <a:solidFill>
                <a:srgbClr val="20303D"/>
              </a:solidFill>
              <a:latin typeface="Calibri"/>
              <a:ea typeface="Calibri"/>
              <a:cs typeface="Calibri"/>
            </a:defRPr>
          </a:pPr>
        </a:p>
      </c:txPr>
    </c:legend>
    <c:plotVisOnly val="1"/>
  </c:chart>
  <c:spPr>
    <a:solidFill xmlns:a="http://schemas.openxmlformats.org/drawingml/2006/main">
      <a:srgbClr val="EEF3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Encode 38.20 ms</c:v>
          </c:tx>
          <c:spPr>
            <a:solidFill xmlns:a="http://schemas.openxmlformats.org/drawingml/2006/main">
              <a:srgbClr val="0B4F8A"/>
            </a:solidFill>
            <a:ln xmlns:a="http://schemas.openxmlformats.org/drawingml/2006/main" w="0">
              <a:noFill/>
            </a:ln>
          </c:spPr>
          <c:invertIfNegative val="0"/>
          <c:dLbls>
            <c:showLegendKey val="0"/>
            <c:showVal val="0"/>
            <c:showCatName val="0"/>
            <c:showSerName val="0"/>
            <c:showPercent val="0"/>
            <c:showBubbleSize val="0"/>
            <c:showLeaderLines val="0"/>
          </c:dLbls>
          <c:cat>
            <c:strRef>
              <c:f>'Chart Data'!$A$2:$A$2</c:f>
              <c:strCache>
                <c:ptCount val="1"/>
                <c:pt idx="0">
                  <c:v>Frame</c:v>
                </c:pt>
              </c:strCache>
            </c:strRef>
          </c:cat>
          <c:val>
            <c:numRef>
              <c:f>'Chart Data'!$B$2:$B$2</c:f>
              <c:numCache>
                <c:formatCode>General</c:formatCode>
                <c:ptCount val="1"/>
                <c:pt idx="0">
                  <c:v>38.2</c:v>
                </c:pt>
              </c:numCache>
            </c:numRef>
          </c:val>
        </c:ser>
        <c:ser>
          <c:idx val="1"/>
          <c:order val="1"/>
          <c:tx>
            <c:v>Transfer 2.87 ms</c:v>
          </c:tx>
          <c:spPr>
            <a:solidFill xmlns:a="http://schemas.openxmlformats.org/drawingml/2006/main">
              <a:srgbClr val="D9531E"/>
            </a:solidFill>
            <a:ln xmlns:a="http://schemas.openxmlformats.org/drawingml/2006/main" w="0">
              <a:noFill/>
            </a:ln>
          </c:spPr>
          <c:invertIfNegative val="0"/>
          <c:dLbls>
            <c:showLegendKey val="0"/>
            <c:showVal val="0"/>
            <c:showCatName val="0"/>
            <c:showSerName val="0"/>
            <c:showPercent val="0"/>
            <c:showBubbleSize val="0"/>
            <c:showLeaderLines val="0"/>
          </c:dLbls>
          <c:cat>
            <c:strRef>
              <c:f>'Chart Data'!$C$2:$C$2</c:f>
              <c:strCache>
                <c:ptCount val="1"/>
                <c:pt idx="0">
                  <c:v>Frame</c:v>
                </c:pt>
              </c:strCache>
            </c:strRef>
          </c:cat>
          <c:val>
            <c:numRef>
              <c:f>'Chart Data'!$D$2:$D$2</c:f>
              <c:numCache>
                <c:formatCode>General</c:formatCode>
                <c:ptCount val="1"/>
                <c:pt idx="0">
                  <c:v>2.87</c:v>
                </c:pt>
              </c:numCache>
            </c:numRef>
          </c:val>
        </c:ser>
        <c:ser>
          <c:idx val="2"/>
          <c:order val="2"/>
          <c:tx>
            <c:v>Decode 30.39 ms</c:v>
          </c:tx>
          <c:spPr>
            <a:solidFill xmlns:a="http://schemas.openxmlformats.org/drawingml/2006/main">
              <a:srgbClr val="237EAD"/>
            </a:solidFill>
            <a:ln xmlns:a="http://schemas.openxmlformats.org/drawingml/2006/main" w="0">
              <a:noFill/>
            </a:ln>
          </c:spPr>
          <c:invertIfNegative val="0"/>
          <c:dLbls>
            <c:showLegendKey val="0"/>
            <c:showVal val="0"/>
            <c:showCatName val="0"/>
            <c:showSerName val="0"/>
            <c:showPercent val="0"/>
            <c:showBubbleSize val="0"/>
            <c:showLeaderLines val="0"/>
          </c:dLbls>
          <c:cat>
            <c:strRef>
              <c:f>'Chart Data'!$E$2:$E$2</c:f>
              <c:strCache>
                <c:ptCount val="1"/>
                <c:pt idx="0">
                  <c:v>Frame</c:v>
                </c:pt>
              </c:strCache>
            </c:strRef>
          </c:cat>
          <c:val>
            <c:numRef>
              <c:f>'Chart Data'!$F$2:$F$2</c:f>
              <c:numCache>
                <c:formatCode>General</c:formatCode>
                <c:ptCount val="1"/>
                <c:pt idx="0">
                  <c:v>30.39</c:v>
                </c:pt>
              </c:numCache>
            </c:numRef>
          </c: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gapWidth val="50"/>
        <c:overlap val="100"/>
        <c:axId val="48650112"/>
        <c:axId val="48672768"/>
      </c:barChart>
      <c:catAx>
        <c:axId val="48650112"/>
        <c:scaling>
          <c:orientation val="minMax"/>
        </c:scaling>
        <c:delete val="1"/>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Calibri"/>
                <a:ea typeface="Calibri"/>
                <a:cs typeface="Calibri"/>
              </a:defRPr>
            </a:pPr>
          </a:p>
        </c:txPr>
        <c:crossAx val="48672768"/>
      </c:catAx>
      <c:valAx>
        <c:axId val="48672768"/>
        <c:scaling>
          <c:orientation val="minMax"/>
          <c:max val="71.46"/>
          <c:min val="0"/>
        </c:scaling>
        <c:delete val="1"/>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Calibri"/>
                <a:ea typeface="Calibri"/>
                <a:cs typeface="Calibri"/>
              </a:defRPr>
            </a:pPr>
          </a:p>
        </c:txPr>
        <c:crossAx val="48650112"/>
        <c:crossBetween val="between"/>
      </c:valAx>
      <c:spPr>
        <a:solidFill xmlns:a="http://schemas.openxmlformats.org/drawingml/2006/main">
          <a:srgbClr val="EEF3F8"/>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2700">
              <a:solidFill>
                <a:srgbClr val="20303D"/>
              </a:solidFill>
              <a:latin typeface="Calibri"/>
              <a:ea typeface="Calibri"/>
              <a:cs typeface="Calibri"/>
            </a:defRPr>
          </a:pPr>
        </a:p>
      </c:txPr>
    </c:legend>
    <c:plotVisOnly val="1"/>
  </c:chart>
  <c:spPr>
    <a:solidFill xmlns:a="http://schemas.openxmlformats.org/drawingml/2006/main">
      <a:srgbClr val="EEF3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9" name="card background: Live PHY diagnostics section">
            <a:extLst xmlns:a="http://schemas.openxmlformats.org/drawingml/2006/main">
              <a:ext uri="{FF2B5EF4-FFF2-40B4-BE49-F238E27FC236}">
                <a16:creationId xmlns:a16="http://schemas.microsoft.com/office/drawing/2014/main" id="{37BD7CC4-604A-475A-8079-230B918ED516}"/>
              </a:ext>
            </a:extLst>
          </p:cNvPr>
          <p:cNvSpPr>
            <a:spLocks xmlns:a="http://schemas.openxmlformats.org/drawingml/2006/main" noGrp="1"/>
          </p:cNvSpPr>
          <p:nvPr/>
        </p:nvSpPr>
        <p:spPr>
          <a:xfrm xmlns:a="http://schemas.openxmlformats.org/drawingml/2006/main">
            <a:off x="15430500" y="33127950"/>
            <a:ext cx="14065250" cy="8496300"/>
          </a:xfrm>
          <a:prstGeom xmlns:a="http://schemas.openxmlformats.org/drawingml/2006/main" prst="roundRect">
            <a:avLst>
              <a:gd name="adj" fmla="val 2691"/>
            </a:avLst>
          </a:prstGeom>
          <a:solidFill xmlns:a="http://schemas.openxmlformats.org/drawingml/2006/main">
            <a:srgbClr val="EEF3F8"/>
          </a:solidFill>
          <a:ln xmlns:a="http://schemas.openxmlformats.org/drawingml/2006/main" w="0">
            <a:noFill/>
          </a:ln>
        </p:spPr>
      </p:sp>
      <p:sp>
        <p:nvSpPr>
          <p:cNvPr id="118" name="card background: PL latency section">
            <a:extLst xmlns:a="http://schemas.openxmlformats.org/drawingml/2006/main">
              <a:ext uri="{FF2B5EF4-FFF2-40B4-BE49-F238E27FC236}">
                <a16:creationId xmlns:a16="http://schemas.microsoft.com/office/drawing/2014/main" id="{DAFBC5CC-D2F2-4993-B95D-2CE43D18141C}"/>
              </a:ext>
            </a:extLst>
          </p:cNvPr>
          <p:cNvSpPr>
            <a:spLocks xmlns:a="http://schemas.openxmlformats.org/drawingml/2006/main" noGrp="1"/>
          </p:cNvSpPr>
          <p:nvPr/>
        </p:nvSpPr>
        <p:spPr>
          <a:xfrm xmlns:a="http://schemas.openxmlformats.org/drawingml/2006/main">
            <a:off x="15430500" y="29556075"/>
            <a:ext cx="14065250" cy="3209925"/>
          </a:xfrm>
          <a:prstGeom xmlns:a="http://schemas.openxmlformats.org/drawingml/2006/main" prst="roundRect">
            <a:avLst>
              <a:gd name="adj" fmla="val 7122"/>
            </a:avLst>
          </a:prstGeom>
          <a:solidFill xmlns:a="http://schemas.openxmlformats.org/drawingml/2006/main">
            <a:srgbClr val="EEF3F8"/>
          </a:solidFill>
          <a:ln xmlns:a="http://schemas.openxmlformats.org/drawingml/2006/main" w="0">
            <a:noFill/>
          </a:ln>
        </p:spPr>
      </p:sp>
      <p:sp>
        <p:nvSpPr>
          <p:cNvPr id="117" name="card background: FPGA implementation section">
            <a:extLst xmlns:a="http://schemas.openxmlformats.org/drawingml/2006/main">
              <a:ext uri="{FF2B5EF4-FFF2-40B4-BE49-F238E27FC236}">
                <a16:creationId xmlns:a16="http://schemas.microsoft.com/office/drawing/2014/main" id="{E9990921-E093-4A04-BF3B-29976FD2ED90}"/>
              </a:ext>
            </a:extLst>
          </p:cNvPr>
          <p:cNvSpPr>
            <a:spLocks xmlns:a="http://schemas.openxmlformats.org/drawingml/2006/main" noGrp="1"/>
          </p:cNvSpPr>
          <p:nvPr/>
        </p:nvSpPr>
        <p:spPr>
          <a:xfrm xmlns:a="http://schemas.openxmlformats.org/drawingml/2006/main">
            <a:off x="781050" y="29556075"/>
            <a:ext cx="14144625" cy="12068175"/>
          </a:xfrm>
          <a:prstGeom xmlns:a="http://schemas.openxmlformats.org/drawingml/2006/main" prst="roundRect">
            <a:avLst>
              <a:gd name="adj" fmla="val 1894"/>
            </a:avLst>
          </a:prstGeom>
          <a:solidFill xmlns:a="http://schemas.openxmlformats.org/drawingml/2006/main">
            <a:srgbClr val="EEF3F8"/>
          </a:solidFill>
          <a:ln xmlns:a="http://schemas.openxmlformats.org/drawingml/2006/main" w="0">
            <a:noFill/>
          </a:ln>
        </p:spPr>
      </p:sp>
      <p:sp>
        <p:nvSpPr>
          <p:cNvPr id="116" name="card background: Measured quality section">
            <a:extLst xmlns:a="http://schemas.openxmlformats.org/drawingml/2006/main">
              <a:ext uri="{FF2B5EF4-FFF2-40B4-BE49-F238E27FC236}">
                <a16:creationId xmlns:a16="http://schemas.microsoft.com/office/drawing/2014/main" id="{B4B4A4EC-929D-489D-B6B4-0047815AD8DA}"/>
              </a:ext>
            </a:extLst>
          </p:cNvPr>
          <p:cNvSpPr>
            <a:spLocks xmlns:a="http://schemas.openxmlformats.org/drawingml/2006/main" noGrp="1"/>
          </p:cNvSpPr>
          <p:nvPr/>
        </p:nvSpPr>
        <p:spPr>
          <a:xfrm xmlns:a="http://schemas.openxmlformats.org/drawingml/2006/main">
            <a:off x="10191750" y="7886700"/>
            <a:ext cx="19304000" cy="21069300"/>
          </a:xfrm>
          <a:prstGeom xmlns:a="http://schemas.openxmlformats.org/drawingml/2006/main" prst="roundRect">
            <a:avLst>
              <a:gd name="adj" fmla="val 1184"/>
            </a:avLst>
          </a:prstGeom>
          <a:solidFill xmlns:a="http://schemas.openxmlformats.org/drawingml/2006/main">
            <a:srgbClr val="EEF3F8"/>
          </a:solidFill>
          <a:ln xmlns:a="http://schemas.openxmlformats.org/drawingml/2006/main" w="0">
            <a:noFill/>
          </a:ln>
        </p:spPr>
      </p:sp>
      <p:sp>
        <p:nvSpPr>
          <p:cNvPr id="115" name="card background: Wireless system section">
            <a:extLst xmlns:a="http://schemas.openxmlformats.org/drawingml/2006/main">
              <a:ext uri="{FF2B5EF4-FFF2-40B4-BE49-F238E27FC236}">
                <a16:creationId xmlns:a16="http://schemas.microsoft.com/office/drawing/2014/main" id="{64686687-334E-4BDD-8F01-6A8793BDCAAB}"/>
              </a:ext>
            </a:extLst>
          </p:cNvPr>
          <p:cNvSpPr>
            <a:spLocks xmlns:a="http://schemas.openxmlformats.org/drawingml/2006/main" noGrp="1"/>
          </p:cNvSpPr>
          <p:nvPr/>
        </p:nvSpPr>
        <p:spPr>
          <a:xfrm xmlns:a="http://schemas.openxmlformats.org/drawingml/2006/main">
            <a:off x="781050" y="7886700"/>
            <a:ext cx="9144000" cy="21069300"/>
          </a:xfrm>
          <a:prstGeom xmlns:a="http://schemas.openxmlformats.org/drawingml/2006/main" prst="roundRect">
            <a:avLst>
              <a:gd name="adj" fmla="val 2500"/>
            </a:avLst>
          </a:prstGeom>
          <a:solidFill xmlns:a="http://schemas.openxmlformats.org/drawingml/2006/main">
            <a:srgbClr val="EEF3F8"/>
          </a:solidFill>
          <a:ln xmlns:a="http://schemas.openxmlformats.org/drawingml/2006/main" w="0">
            <a:noFill/>
          </a:ln>
        </p:spPr>
      </p:sp>
      <p:sp>
        <p:nvSpPr>
          <p:cNvPr id="114" name="card background: Quality metric">
            <a:extLst xmlns:a="http://schemas.openxmlformats.org/drawingml/2006/main">
              <a:ext uri="{FF2B5EF4-FFF2-40B4-BE49-F238E27FC236}">
                <a16:creationId xmlns:a16="http://schemas.microsoft.com/office/drawing/2014/main" id="{B8436E9F-844E-4428-8456-D9524B3EF13C}"/>
              </a:ext>
            </a:extLst>
          </p:cNvPr>
          <p:cNvSpPr>
            <a:spLocks xmlns:a="http://schemas.openxmlformats.org/drawingml/2006/main" noGrp="1"/>
          </p:cNvSpPr>
          <p:nvPr/>
        </p:nvSpPr>
        <p:spPr>
          <a:xfrm xmlns:a="http://schemas.openxmlformats.org/drawingml/2006/main">
            <a:off x="20097750" y="4686300"/>
            <a:ext cx="9105900" cy="2743200"/>
          </a:xfrm>
          <a:prstGeom xmlns:a="http://schemas.openxmlformats.org/drawingml/2006/main" prst="roundRect">
            <a:avLst>
              <a:gd name="adj" fmla="val 8333"/>
            </a:avLst>
          </a:prstGeom>
          <a:solidFill xmlns:a="http://schemas.openxmlformats.org/drawingml/2006/main">
            <a:srgbClr val="EEF3F8"/>
          </a:solidFill>
          <a:ln xmlns:a="http://schemas.openxmlformats.org/drawingml/2006/main" w="0">
            <a:noFill/>
          </a:ln>
        </p:spPr>
      </p:sp>
      <p:sp>
        <p:nvSpPr>
          <p:cNvPr id="113" name="card background: Latency metric">
            <a:extLst xmlns:a="http://schemas.openxmlformats.org/drawingml/2006/main">
              <a:ext uri="{FF2B5EF4-FFF2-40B4-BE49-F238E27FC236}">
                <a16:creationId xmlns:a16="http://schemas.microsoft.com/office/drawing/2014/main" id="{5A9D9373-7E2A-449F-87E6-4B27BD697C6F}"/>
              </a:ext>
            </a:extLst>
          </p:cNvPr>
          <p:cNvSpPr>
            <a:spLocks xmlns:a="http://schemas.openxmlformats.org/drawingml/2006/main" noGrp="1"/>
          </p:cNvSpPr>
          <p:nvPr/>
        </p:nvSpPr>
        <p:spPr>
          <a:xfrm xmlns:a="http://schemas.openxmlformats.org/drawingml/2006/main">
            <a:off x="10382250" y="4686300"/>
            <a:ext cx="9048750" cy="2743200"/>
          </a:xfrm>
          <a:prstGeom xmlns:a="http://schemas.openxmlformats.org/drawingml/2006/main" prst="roundRect">
            <a:avLst>
              <a:gd name="adj" fmla="val 8333"/>
            </a:avLst>
          </a:prstGeom>
          <a:solidFill xmlns:a="http://schemas.openxmlformats.org/drawingml/2006/main">
            <a:srgbClr val="EEF3F8"/>
          </a:solidFill>
          <a:ln xmlns:a="http://schemas.openxmlformats.org/drawingml/2006/main" w="0">
            <a:noFill/>
          </a:ln>
        </p:spPr>
      </p:sp>
      <p:sp>
        <p:nvSpPr>
          <p:cNvPr id="112" name="card background: Throughput metric">
            <a:extLst xmlns:a="http://schemas.openxmlformats.org/drawingml/2006/main">
              <a:ext uri="{FF2B5EF4-FFF2-40B4-BE49-F238E27FC236}">
                <a16:creationId xmlns:a16="http://schemas.microsoft.com/office/drawing/2014/main" id="{AE172B8E-B76E-412D-8764-9AD2912E0863}"/>
              </a:ext>
            </a:extLst>
          </p:cNvPr>
          <p:cNvSpPr>
            <a:spLocks xmlns:a="http://schemas.openxmlformats.org/drawingml/2006/main" noGrp="1"/>
          </p:cNvSpPr>
          <p:nvPr/>
        </p:nvSpPr>
        <p:spPr>
          <a:xfrm xmlns:a="http://schemas.openxmlformats.org/drawingml/2006/main">
            <a:off x="781050" y="4686300"/>
            <a:ext cx="9048750" cy="2743200"/>
          </a:xfrm>
          <a:prstGeom xmlns:a="http://schemas.openxmlformats.org/drawingml/2006/main" prst="roundRect">
            <a:avLst>
              <a:gd name="adj" fmla="val 8333"/>
            </a:avLst>
          </a:prstGeom>
          <a:solidFill xmlns:a="http://schemas.openxmlformats.org/drawingml/2006/main">
            <a:srgbClr val="EEF3F8"/>
          </a:solidFill>
          <a:ln xmlns:a="http://schemas.openxmlformats.org/drawingml/2006/main" w="0">
            <a:noFill/>
          </a:ln>
        </p:spPr>
      </p:sp>
      <p:cxnSp>
        <p:nvCxnSpPr>
          <p:cNvPr id="100" name="">
            <a:extLst xmlns:a="http://schemas.openxmlformats.org/drawingml/2006/main">
              <a:ext uri="{FF2B5EF4-FFF2-40B4-BE49-F238E27FC236}">
                <a16:creationId xmlns:a16="http://schemas.microsoft.com/office/drawing/2014/main" id="{3B6B7D89-370B-42FA-BCD5-DF2834D5DFD4}"/>
              </a:ext>
            </a:extLst>
          </p:cNvPr>
          <p:cNvCxnSpPr>
            <a:stCxn xmlns:a="http://schemas.openxmlformats.org/drawingml/2006/main" id="98" idx="2"/>
            <a:endCxn xmlns:a="http://schemas.openxmlformats.org/drawingml/2006/main" id="89" idx="0"/>
          </p:cNvCxnSpPr>
          <p:nvPr/>
        </p:nvCxnSpPr>
        <p:spPr>
          <a:xfrm xmlns:a="http://schemas.openxmlformats.org/drawingml/2006/main">
            <a:off x="9163050" y="32575500"/>
            <a:ext cx="0" cy="428625"/>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97" name="">
            <a:extLst xmlns:a="http://schemas.openxmlformats.org/drawingml/2006/main">
              <a:ext uri="{FF2B5EF4-FFF2-40B4-BE49-F238E27FC236}">
                <a16:creationId xmlns:a16="http://schemas.microsoft.com/office/drawing/2014/main" id="{14110569-7302-42A3-B810-59BE64E2926E}"/>
              </a:ext>
            </a:extLst>
          </p:cNvPr>
          <p:cNvCxnSpPr>
            <a:stCxn xmlns:a="http://schemas.openxmlformats.org/drawingml/2006/main" id="89" idx="3"/>
            <a:endCxn xmlns:a="http://schemas.openxmlformats.org/drawingml/2006/main" id="92" idx="1"/>
          </p:cNvCxnSpPr>
          <p:nvPr/>
        </p:nvCxnSpPr>
        <p:spPr>
          <a:xfrm xmlns:a="http://schemas.openxmlformats.org/drawingml/2006/main">
            <a:off x="10553700" y="33685163"/>
            <a:ext cx="571500" cy="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96" name="">
            <a:extLst xmlns:a="http://schemas.openxmlformats.org/drawingml/2006/main">
              <a:ext uri="{FF2B5EF4-FFF2-40B4-BE49-F238E27FC236}">
                <a16:creationId xmlns:a16="http://schemas.microsoft.com/office/drawing/2014/main" id="{7102AE0B-30C1-4434-9063-C78441906B7A}"/>
              </a:ext>
            </a:extLst>
          </p:cNvPr>
          <p:cNvCxnSpPr>
            <a:stCxn xmlns:a="http://schemas.openxmlformats.org/drawingml/2006/main" id="86" idx="3"/>
            <a:endCxn xmlns:a="http://schemas.openxmlformats.org/drawingml/2006/main" id="89" idx="1"/>
          </p:cNvCxnSpPr>
          <p:nvPr/>
        </p:nvCxnSpPr>
        <p:spPr>
          <a:xfrm xmlns:a="http://schemas.openxmlformats.org/drawingml/2006/main">
            <a:off x="7200900" y="33685163"/>
            <a:ext cx="571500" cy="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95" name="">
            <a:extLst xmlns:a="http://schemas.openxmlformats.org/drawingml/2006/main">
              <a:ext uri="{FF2B5EF4-FFF2-40B4-BE49-F238E27FC236}">
                <a16:creationId xmlns:a16="http://schemas.microsoft.com/office/drawing/2014/main" id="{AAA702EF-A85A-4493-A3BC-1D54DD507952}"/>
              </a:ext>
            </a:extLst>
          </p:cNvPr>
          <p:cNvCxnSpPr>
            <a:stCxn xmlns:a="http://schemas.openxmlformats.org/drawingml/2006/main" id="83" idx="3"/>
            <a:endCxn xmlns:a="http://schemas.openxmlformats.org/drawingml/2006/main" id="86" idx="1"/>
          </p:cNvCxnSpPr>
          <p:nvPr/>
        </p:nvCxnSpPr>
        <p:spPr>
          <a:xfrm xmlns:a="http://schemas.openxmlformats.org/drawingml/2006/main">
            <a:off x="3848100" y="33685163"/>
            <a:ext cx="571500" cy="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45" name="">
            <a:extLst xmlns:a="http://schemas.openxmlformats.org/drawingml/2006/main">
              <a:ext uri="{FF2B5EF4-FFF2-40B4-BE49-F238E27FC236}">
                <a16:creationId xmlns:a16="http://schemas.microsoft.com/office/drawing/2014/main" id="{55AFDDE7-EA0D-4B89-A9BB-E83ACAEE2D67}"/>
              </a:ext>
            </a:extLst>
          </p:cNvPr>
          <p:cNvCxnSpPr>
            <a:stCxn xmlns:a="http://schemas.openxmlformats.org/drawingml/2006/main" id="24" idx="3"/>
            <a:endCxn xmlns:a="http://schemas.openxmlformats.org/drawingml/2006/main" id="36" idx="1"/>
          </p:cNvCxnSpPr>
          <p:nvPr/>
        </p:nvCxnSpPr>
        <p:spPr>
          <a:xfrm xmlns:a="http://schemas.openxmlformats.org/drawingml/2006/main">
            <a:off x="4686300" y="22631400"/>
            <a:ext cx="1333500" cy="0"/>
          </a:xfrm>
          <a:prstGeom xmlns:a="http://schemas.openxmlformats.org/drawingml/2006/main" prst="straightConnector1">
            <a:avLst/>
          </a:prstGeom>
          <a:ln xmlns:a="http://schemas.openxmlformats.org/drawingml/2006/main" w="47625">
            <a:solidFill>
              <a:srgbClr val="D9531E"/>
            </a:solidFill>
            <a:tailEnd type="triangle" w="med" len="med"/>
          </a:ln>
        </p:spPr>
      </p:cxnSp>
      <p:cxnSp>
        <p:nvCxnSpPr>
          <p:cNvPr id="44" name="">
            <a:extLst xmlns:a="http://schemas.openxmlformats.org/drawingml/2006/main">
              <a:ext uri="{FF2B5EF4-FFF2-40B4-BE49-F238E27FC236}">
                <a16:creationId xmlns:a16="http://schemas.microsoft.com/office/drawing/2014/main" id="{C158412A-EADD-4849-8E30-4620A84A1A42}"/>
              </a:ext>
            </a:extLst>
          </p:cNvPr>
          <p:cNvCxnSpPr>
            <a:stCxn xmlns:a="http://schemas.openxmlformats.org/drawingml/2006/main" id="36" idx="0"/>
            <a:endCxn xmlns:a="http://schemas.openxmlformats.org/drawingml/2006/main" id="33" idx="2"/>
          </p:cNvCxnSpPr>
          <p:nvPr/>
        </p:nvCxnSpPr>
        <p:spPr>
          <a:xfrm xmlns:a="http://schemas.openxmlformats.org/drawingml/2006/main" flipV="1">
            <a:off x="7781925" y="21640800"/>
            <a:ext cx="0" cy="36195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43" name="">
            <a:extLst xmlns:a="http://schemas.openxmlformats.org/drawingml/2006/main">
              <a:ext uri="{FF2B5EF4-FFF2-40B4-BE49-F238E27FC236}">
                <a16:creationId xmlns:a16="http://schemas.microsoft.com/office/drawing/2014/main" id="{0C093ADF-B2AE-4A3A-9422-2E88F86F6209}"/>
              </a:ext>
            </a:extLst>
          </p:cNvPr>
          <p:cNvCxnSpPr>
            <a:stCxn xmlns:a="http://schemas.openxmlformats.org/drawingml/2006/main" id="21" idx="2"/>
            <a:endCxn xmlns:a="http://schemas.openxmlformats.org/drawingml/2006/main" id="24" idx="0"/>
          </p:cNvCxnSpPr>
          <p:nvPr/>
        </p:nvCxnSpPr>
        <p:spPr>
          <a:xfrm xmlns:a="http://schemas.openxmlformats.org/drawingml/2006/main">
            <a:off x="2924175" y="21640800"/>
            <a:ext cx="0" cy="36195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42" name="">
            <a:extLst xmlns:a="http://schemas.openxmlformats.org/drawingml/2006/main">
              <a:ext uri="{FF2B5EF4-FFF2-40B4-BE49-F238E27FC236}">
                <a16:creationId xmlns:a16="http://schemas.microsoft.com/office/drawing/2014/main" id="{AAC1B8CF-FD9E-4248-81DA-9C9289CE616B}"/>
              </a:ext>
            </a:extLst>
          </p:cNvPr>
          <p:cNvCxnSpPr>
            <a:stCxn xmlns:a="http://schemas.openxmlformats.org/drawingml/2006/main" id="33" idx="0"/>
            <a:endCxn xmlns:a="http://schemas.openxmlformats.org/drawingml/2006/main" id="30" idx="2"/>
          </p:cNvCxnSpPr>
          <p:nvPr/>
        </p:nvCxnSpPr>
        <p:spPr>
          <a:xfrm xmlns:a="http://schemas.openxmlformats.org/drawingml/2006/main" flipV="1">
            <a:off x="7781925" y="20021550"/>
            <a:ext cx="0" cy="36195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41" name="">
            <a:extLst xmlns:a="http://schemas.openxmlformats.org/drawingml/2006/main">
              <a:ext uri="{FF2B5EF4-FFF2-40B4-BE49-F238E27FC236}">
                <a16:creationId xmlns:a16="http://schemas.microsoft.com/office/drawing/2014/main" id="{98D6D081-83E8-4ABD-AD4A-D521082C1887}"/>
              </a:ext>
            </a:extLst>
          </p:cNvPr>
          <p:cNvCxnSpPr>
            <a:stCxn xmlns:a="http://schemas.openxmlformats.org/drawingml/2006/main" id="18" idx="2"/>
            <a:endCxn xmlns:a="http://schemas.openxmlformats.org/drawingml/2006/main" id="21" idx="0"/>
          </p:cNvCxnSpPr>
          <p:nvPr/>
        </p:nvCxnSpPr>
        <p:spPr>
          <a:xfrm xmlns:a="http://schemas.openxmlformats.org/drawingml/2006/main">
            <a:off x="2924175" y="20021550"/>
            <a:ext cx="0" cy="36195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40" name="">
            <a:extLst xmlns:a="http://schemas.openxmlformats.org/drawingml/2006/main">
              <a:ext uri="{FF2B5EF4-FFF2-40B4-BE49-F238E27FC236}">
                <a16:creationId xmlns:a16="http://schemas.microsoft.com/office/drawing/2014/main" id="{F4C18AAC-4DA9-469E-9C29-EBCF08F7BBF6}"/>
              </a:ext>
            </a:extLst>
          </p:cNvPr>
          <p:cNvCxnSpPr>
            <a:stCxn xmlns:a="http://schemas.openxmlformats.org/drawingml/2006/main" id="30" idx="0"/>
            <a:endCxn xmlns:a="http://schemas.openxmlformats.org/drawingml/2006/main" id="27" idx="2"/>
          </p:cNvCxnSpPr>
          <p:nvPr/>
        </p:nvCxnSpPr>
        <p:spPr>
          <a:xfrm xmlns:a="http://schemas.openxmlformats.org/drawingml/2006/main" flipV="1">
            <a:off x="7781925" y="18402300"/>
            <a:ext cx="0" cy="36195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39" name="">
            <a:extLst xmlns:a="http://schemas.openxmlformats.org/drawingml/2006/main">
              <a:ext uri="{FF2B5EF4-FFF2-40B4-BE49-F238E27FC236}">
                <a16:creationId xmlns:a16="http://schemas.microsoft.com/office/drawing/2014/main" id="{AEFA5A41-F323-4E5A-9B20-85D7D129C13D}"/>
              </a:ext>
            </a:extLst>
          </p:cNvPr>
          <p:cNvCxnSpPr>
            <a:stCxn xmlns:a="http://schemas.openxmlformats.org/drawingml/2006/main" id="15" idx="2"/>
            <a:endCxn xmlns:a="http://schemas.openxmlformats.org/drawingml/2006/main" id="18" idx="0"/>
          </p:cNvCxnSpPr>
          <p:nvPr/>
        </p:nvCxnSpPr>
        <p:spPr>
          <a:xfrm xmlns:a="http://schemas.openxmlformats.org/drawingml/2006/main">
            <a:off x="2924175" y="18402300"/>
            <a:ext cx="0" cy="361950"/>
          </a:xfrm>
          <a:prstGeom xmlns:a="http://schemas.openxmlformats.org/drawingml/2006/main" prst="straightConnector1">
            <a:avLst/>
          </a:prstGeom>
          <a:ln xmlns:a="http://schemas.openxmlformats.org/drawingml/2006/main" w="47625">
            <a:solidFill>
              <a:srgbClr val="0B4F8A"/>
            </a:solidFill>
            <a:tailEnd type="triangle" w="med" len="med"/>
          </a:ln>
        </p:spPr>
      </p:cxnSp>
      <p:sp>
        <p:nvSpPr>
          <p:cNvPr id="120" name="poster-title">
            <a:extLst xmlns:a="http://schemas.openxmlformats.org/drawingml/2006/main">
              <a:ext uri="{FF2B5EF4-FFF2-40B4-BE49-F238E27FC236}">
                <a16:creationId xmlns:a16="http://schemas.microsoft.com/office/drawing/2014/main" id="{65B5D218-3FA0-4754-9DE8-E227148651A2}"/>
              </a:ext>
            </a:extLst>
          </p:cNvPr>
          <p:cNvSpPr>
            <a:spLocks xmlns:a="http://schemas.openxmlformats.org/drawingml/2006/main" noGrp="1"/>
          </p:cNvSpPr>
          <p:nvPr/>
        </p:nvSpPr>
        <p:spPr>
          <a:xfrm xmlns:a="http://schemas.openxmlformats.org/drawingml/2006/main">
            <a:off x="1066800" y="819150"/>
            <a:ext cx="2809875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450" b="1">
                <a:solidFill>
                  <a:srgbClr val="0B4F8A"/>
                </a:solidFill>
                <a:latin typeface="Calibri"/>
                <a:ea typeface="Calibri"/>
                <a:cs typeface="Calibri"/>
              </a:defRPr>
            </a:defPPr>
          </a:lstStyle>
          <a:p xmlns:a="http://schemas.openxmlformats.org/drawingml/2006/main">
            <a:pPr algn="l">
              <a:defRPr sz="9450" b="1">
                <a:solidFill>
                  <a:srgbClr val="0B4F8A"/>
                </a:solidFill>
                <a:latin typeface="Calibri"/>
                <a:ea typeface="Calibri"/>
                <a:cs typeface="Calibri"/>
              </a:defRPr>
            </a:pPr>
            <a:r>
              <a:rPr sz="9450" b="1">
                <a:solidFill>
                  <a:srgbClr val="0B4F8A"/>
                </a:solidFill>
                <a:latin typeface="Calibri"/>
                <a:ea typeface="Calibri"/>
                <a:cs typeface="Calibri"/>
              </a:rPr>
              <a:t>Real-Time DeepJSCC-Q on FPGA</a:t>
            </a:r>
          </a:p>
        </p:txBody>
      </p:sp>
      <p:sp>
        <p:nvSpPr>
          <p:cNvPr id="2" name="poster-subtitle">
            <a:extLst xmlns:a="http://schemas.openxmlformats.org/drawingml/2006/main">
              <a:ext uri="{FF2B5EF4-FFF2-40B4-BE49-F238E27FC236}">
                <a16:creationId xmlns:a16="http://schemas.microsoft.com/office/drawing/2014/main" id="{9BD78AFB-46E5-4882-8AEF-2D78CC50AF20}"/>
              </a:ext>
            </a:extLst>
          </p:cNvPr>
          <p:cNvSpPr>
            <a:spLocks xmlns:a="http://schemas.openxmlformats.org/drawingml/2006/main" noGrp="1"/>
          </p:cNvSpPr>
          <p:nvPr/>
        </p:nvSpPr>
        <p:spPr>
          <a:xfrm xmlns:a="http://schemas.openxmlformats.org/drawingml/2006/main">
            <a:off x="1095375" y="2400300"/>
            <a:ext cx="28003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650" b="0">
                <a:solidFill>
                  <a:srgbClr val="20303D"/>
                </a:solidFill>
                <a:latin typeface="Calibri"/>
                <a:ea typeface="Calibri"/>
                <a:cs typeface="Calibri"/>
              </a:defRPr>
            </a:defPPr>
          </a:lstStyle>
          <a:p xmlns:a="http://schemas.openxmlformats.org/drawingml/2006/main">
            <a:pPr algn="l">
              <a:defRPr sz="4650" b="0">
                <a:solidFill>
                  <a:srgbClr val="20303D"/>
                </a:solidFill>
                <a:latin typeface="Calibri"/>
                <a:ea typeface="Calibri"/>
                <a:cs typeface="Calibri"/>
              </a:defRPr>
            </a:pPr>
            <a:r>
              <a:rPr sz="4650" b="0">
                <a:solidFill>
                  <a:srgbClr val="20303D"/>
                </a:solidFill>
                <a:latin typeface="Calibri"/>
                <a:ea typeface="Calibri"/>
                <a:cs typeface="Calibri"/>
              </a:rPr>
              <a:t>30-fps over-the-air image transmission</a:t>
            </a:r>
          </a:p>
        </p:txBody>
      </p:sp>
      <p:sp>
        <p:nvSpPr>
          <p:cNvPr id="3" name="text-1">
            <a:extLst xmlns:a="http://schemas.openxmlformats.org/drawingml/2006/main">
              <a:ext uri="{FF2B5EF4-FFF2-40B4-BE49-F238E27FC236}">
                <a16:creationId xmlns:a16="http://schemas.microsoft.com/office/drawing/2014/main" id="{B3DAE8C6-F501-402F-9F7F-F941FB79466D}"/>
              </a:ext>
            </a:extLst>
          </p:cNvPr>
          <p:cNvSpPr>
            <a:spLocks xmlns:a="http://schemas.openxmlformats.org/drawingml/2006/main" noGrp="1"/>
          </p:cNvSpPr>
          <p:nvPr/>
        </p:nvSpPr>
        <p:spPr>
          <a:xfrm xmlns:a="http://schemas.openxmlformats.org/drawingml/2006/main">
            <a:off x="1095375" y="3429000"/>
            <a:ext cx="27241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0">
                <a:solidFill>
                  <a:srgbClr val="526675"/>
                </a:solidFill>
                <a:latin typeface="Calibri"/>
                <a:ea typeface="Calibri"/>
                <a:cs typeface="Calibri"/>
              </a:defRPr>
            </a:defPPr>
          </a:lstStyle>
          <a:p xmlns:a="http://schemas.openxmlformats.org/drawingml/2006/main">
            <a:pPr algn="l">
              <a:defRPr sz="3450" b="0">
                <a:solidFill>
                  <a:srgbClr val="526675"/>
                </a:solidFill>
                <a:latin typeface="Calibri"/>
                <a:ea typeface="Calibri"/>
                <a:cs typeface="Calibri"/>
              </a:defRPr>
            </a:pPr>
            <a:r>
              <a:rPr sz="3450" b="0">
                <a:solidFill>
                  <a:srgbClr val="526675"/>
                </a:solidFill>
                <a:latin typeface="Calibri"/>
                <a:ea typeface="Calibri"/>
                <a:cs typeface="Calibri"/>
              </a:rPr>
              <a:t>A streaming CNN codec and OFDM PHY run on two Zynq boards.</a:t>
            </a:r>
          </a:p>
          <a:p xmlns:a="http://schemas.openxmlformats.org/drawingml/2006/main">
            <a:pPr algn="l">
              <a:defRPr sz="3450" b="0">
                <a:solidFill>
                  <a:srgbClr val="526675"/>
                </a:solidFill>
                <a:latin typeface="Calibri"/>
                <a:ea typeface="Calibri"/>
                <a:cs typeface="Calibri"/>
              </a:defRPr>
            </a:pPr>
            <a:r>
              <a:rPr sz="3450" b="0">
                <a:solidFill>
                  <a:srgbClr val="526675"/>
                </a:solidFill>
                <a:latin typeface="Calibri"/>
                <a:ea typeface="Calibri"/>
                <a:cs typeface="Calibri"/>
              </a:rPr>
              <a:t>Image quality degrades gradually as channel SNR falls.</a:t>
            </a:r>
          </a:p>
        </p:txBody>
      </p:sp>
      <p:sp>
        <p:nvSpPr>
          <p:cNvPr id="4" name="text-2">
            <a:extLst xmlns:a="http://schemas.openxmlformats.org/drawingml/2006/main">
              <a:ext uri="{FF2B5EF4-FFF2-40B4-BE49-F238E27FC236}">
                <a16:creationId xmlns:a16="http://schemas.microsoft.com/office/drawing/2014/main" id="{986437C1-DE38-4F72-B583-5BF58A8EDC01}"/>
              </a:ext>
            </a:extLst>
          </p:cNvPr>
          <p:cNvSpPr>
            <a:spLocks xmlns:a="http://schemas.openxmlformats.org/drawingml/2006/main" noGrp="1"/>
          </p:cNvSpPr>
          <p:nvPr/>
        </p:nvSpPr>
        <p:spPr>
          <a:xfrm xmlns:a="http://schemas.openxmlformats.org/drawingml/2006/main">
            <a:off x="1066800" y="4953000"/>
            <a:ext cx="84772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400" b="1">
                <a:solidFill>
                  <a:srgbClr val="0B4F8A"/>
                </a:solidFill>
                <a:latin typeface="Calibri"/>
                <a:ea typeface="Calibri"/>
                <a:cs typeface="Calibri"/>
              </a:defRPr>
            </a:defPPr>
          </a:lstStyle>
          <a:p xmlns:a="http://schemas.openxmlformats.org/drawingml/2006/main">
            <a:pPr algn="l">
              <a:defRPr sz="8400" b="1">
                <a:solidFill>
                  <a:srgbClr val="0B4F8A"/>
                </a:solidFill>
                <a:latin typeface="Calibri"/>
                <a:ea typeface="Calibri"/>
                <a:cs typeface="Calibri"/>
              </a:defRPr>
            </a:pPr>
            <a:r>
              <a:rPr sz="8400" b="1">
                <a:solidFill>
                  <a:srgbClr val="0B4F8A"/>
                </a:solidFill>
                <a:latin typeface="Calibri"/>
                <a:ea typeface="Calibri"/>
                <a:cs typeface="Calibri"/>
              </a:rPr>
              <a:t>30 fps</a:t>
            </a:r>
          </a:p>
        </p:txBody>
      </p:sp>
      <p:sp>
        <p:nvSpPr>
          <p:cNvPr id="5" name="text-3">
            <a:extLst xmlns:a="http://schemas.openxmlformats.org/drawingml/2006/main">
              <a:ext uri="{FF2B5EF4-FFF2-40B4-BE49-F238E27FC236}">
                <a16:creationId xmlns:a16="http://schemas.microsoft.com/office/drawing/2014/main" id="{8402CA82-1658-4711-B64B-E57D9FEFD3DF}"/>
              </a:ext>
            </a:extLst>
          </p:cNvPr>
          <p:cNvSpPr>
            <a:spLocks xmlns:a="http://schemas.openxmlformats.org/drawingml/2006/main" noGrp="1"/>
          </p:cNvSpPr>
          <p:nvPr/>
        </p:nvSpPr>
        <p:spPr>
          <a:xfrm xmlns:a="http://schemas.openxmlformats.org/drawingml/2006/main">
            <a:off x="1066800" y="6229350"/>
            <a:ext cx="8477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526675"/>
                </a:solidFill>
                <a:latin typeface="Calibri"/>
                <a:ea typeface="Calibri"/>
                <a:cs typeface="Calibri"/>
              </a:defRPr>
            </a:defPPr>
          </a:lstStyle>
          <a:p xmlns:a="http://schemas.openxmlformats.org/drawingml/2006/main">
            <a:pPr algn="l">
              <a:defRPr sz="3150" b="0">
                <a:solidFill>
                  <a:srgbClr val="526675"/>
                </a:solidFill>
                <a:latin typeface="Calibri"/>
                <a:ea typeface="Calibri"/>
                <a:cs typeface="Calibri"/>
              </a:defRPr>
            </a:pPr>
            <a:r>
              <a:rPr sz="3150" b="0">
                <a:solidFill>
                  <a:srgbClr val="526675"/>
                </a:solidFill>
                <a:latin typeface="Calibri"/>
                <a:ea typeface="Calibri"/>
                <a:cs typeface="Calibri"/>
              </a:rPr>
              <a:t>256 × 256 RGB</a:t>
            </a:r>
          </a:p>
          <a:p xmlns:a="http://schemas.openxmlformats.org/drawingml/2006/main">
            <a:pPr algn="l">
              <a:defRPr sz="3150" b="0">
                <a:solidFill>
                  <a:srgbClr val="526675"/>
                </a:solidFill>
                <a:latin typeface="Calibri"/>
                <a:ea typeface="Calibri"/>
                <a:cs typeface="Calibri"/>
              </a:defRPr>
            </a:pPr>
            <a:r>
              <a:rPr sz="3150" b="0">
                <a:solidFill>
                  <a:srgbClr val="526675"/>
                </a:solidFill>
                <a:latin typeface="Calibri"/>
                <a:ea typeface="Calibri"/>
                <a:cs typeface="Calibri"/>
              </a:rPr>
              <a:t>18,000 frames over 10 min</a:t>
            </a:r>
          </a:p>
        </p:txBody>
      </p:sp>
      <p:sp>
        <p:nvSpPr>
          <p:cNvPr id="6" name="text-4">
            <a:extLst xmlns:a="http://schemas.openxmlformats.org/drawingml/2006/main">
              <a:ext uri="{FF2B5EF4-FFF2-40B4-BE49-F238E27FC236}">
                <a16:creationId xmlns:a16="http://schemas.microsoft.com/office/drawing/2014/main" id="{5B68A86E-4C55-43DB-A324-289A3E4BBCFC}"/>
              </a:ext>
            </a:extLst>
          </p:cNvPr>
          <p:cNvSpPr>
            <a:spLocks xmlns:a="http://schemas.openxmlformats.org/drawingml/2006/main" noGrp="1"/>
          </p:cNvSpPr>
          <p:nvPr/>
        </p:nvSpPr>
        <p:spPr>
          <a:xfrm xmlns:a="http://schemas.openxmlformats.org/drawingml/2006/main">
            <a:off x="10668000" y="4953000"/>
            <a:ext cx="84772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400" b="1">
                <a:solidFill>
                  <a:srgbClr val="0B4F8A"/>
                </a:solidFill>
                <a:latin typeface="Calibri"/>
                <a:ea typeface="Calibri"/>
                <a:cs typeface="Calibri"/>
              </a:defRPr>
            </a:defPPr>
          </a:lstStyle>
          <a:p xmlns:a="http://schemas.openxmlformats.org/drawingml/2006/main">
            <a:pPr algn="l">
              <a:defRPr sz="8400" b="1">
                <a:solidFill>
                  <a:srgbClr val="0B4F8A"/>
                </a:solidFill>
                <a:latin typeface="Calibri"/>
                <a:ea typeface="Calibri"/>
                <a:cs typeface="Calibri"/>
              </a:defRPr>
            </a:pPr>
            <a:r>
              <a:rPr sz="8400" b="1">
                <a:solidFill>
                  <a:srgbClr val="0B4F8A"/>
                </a:solidFill>
                <a:latin typeface="Calibri"/>
                <a:ea typeface="Calibri"/>
                <a:cs typeface="Calibri"/>
              </a:rPr>
              <a:t>71.5 ms</a:t>
            </a:r>
          </a:p>
        </p:txBody>
      </p:sp>
      <p:sp>
        <p:nvSpPr>
          <p:cNvPr id="7" name="text-5">
            <a:extLst xmlns:a="http://schemas.openxmlformats.org/drawingml/2006/main">
              <a:ext uri="{FF2B5EF4-FFF2-40B4-BE49-F238E27FC236}">
                <a16:creationId xmlns:a16="http://schemas.microsoft.com/office/drawing/2014/main" id="{51091E28-E7FA-4BE3-A1C3-3D1509988BA6}"/>
              </a:ext>
            </a:extLst>
          </p:cNvPr>
          <p:cNvSpPr>
            <a:spLocks xmlns:a="http://schemas.openxmlformats.org/drawingml/2006/main" noGrp="1"/>
          </p:cNvSpPr>
          <p:nvPr/>
        </p:nvSpPr>
        <p:spPr>
          <a:xfrm xmlns:a="http://schemas.openxmlformats.org/drawingml/2006/main">
            <a:off x="10668000" y="6229350"/>
            <a:ext cx="8477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526675"/>
                </a:solidFill>
                <a:latin typeface="Calibri"/>
                <a:ea typeface="Calibri"/>
                <a:cs typeface="Calibri"/>
              </a:defRPr>
            </a:defPPr>
          </a:lstStyle>
          <a:p xmlns:a="http://schemas.openxmlformats.org/drawingml/2006/main">
            <a:pPr algn="l">
              <a:defRPr sz="3150" b="0">
                <a:solidFill>
                  <a:srgbClr val="526675"/>
                </a:solidFill>
                <a:latin typeface="Calibri"/>
                <a:ea typeface="Calibri"/>
                <a:cs typeface="Calibri"/>
              </a:defRPr>
            </a:pPr>
            <a:r>
              <a:rPr sz="3150" b="0">
                <a:solidFill>
                  <a:srgbClr val="526675"/>
                </a:solidFill>
                <a:latin typeface="Calibri"/>
                <a:ea typeface="Calibri"/>
                <a:cs typeface="Calibri"/>
              </a:rPr>
              <a:t>PL frame latency</a:t>
            </a:r>
          </a:p>
          <a:p xmlns:a="http://schemas.openxmlformats.org/drawingml/2006/main">
            <a:pPr algn="l">
              <a:defRPr sz="3150" b="0">
                <a:solidFill>
                  <a:srgbClr val="526675"/>
                </a:solidFill>
                <a:latin typeface="Calibri"/>
                <a:ea typeface="Calibri"/>
                <a:cs typeface="Calibri"/>
              </a:defRPr>
            </a:pPr>
            <a:r>
              <a:rPr sz="3150" b="0">
                <a:solidFill>
                  <a:srgbClr val="526675"/>
                </a:solidFill>
                <a:latin typeface="Calibri"/>
                <a:ea typeface="Calibri"/>
                <a:cs typeface="Calibri"/>
              </a:rPr>
              <a:t>Multiple frames overlap in flight</a:t>
            </a:r>
          </a:p>
        </p:txBody>
      </p:sp>
      <p:sp>
        <p:nvSpPr>
          <p:cNvPr id="8" name="text-6">
            <a:extLst xmlns:a="http://schemas.openxmlformats.org/drawingml/2006/main">
              <a:ext uri="{FF2B5EF4-FFF2-40B4-BE49-F238E27FC236}">
                <a16:creationId xmlns:a16="http://schemas.microsoft.com/office/drawing/2014/main" id="{A198F018-4550-43F1-BEC2-A56FEF5D2AFD}"/>
              </a:ext>
            </a:extLst>
          </p:cNvPr>
          <p:cNvSpPr>
            <a:spLocks xmlns:a="http://schemas.openxmlformats.org/drawingml/2006/main" noGrp="1"/>
          </p:cNvSpPr>
          <p:nvPr/>
        </p:nvSpPr>
        <p:spPr>
          <a:xfrm xmlns:a="http://schemas.openxmlformats.org/drawingml/2006/main">
            <a:off x="20383500" y="4953000"/>
            <a:ext cx="84772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400" b="1">
                <a:solidFill>
                  <a:srgbClr val="0B4F8A"/>
                </a:solidFill>
                <a:latin typeface="Calibri"/>
                <a:ea typeface="Calibri"/>
                <a:cs typeface="Calibri"/>
              </a:defRPr>
            </a:defPPr>
          </a:lstStyle>
          <a:p xmlns:a="http://schemas.openxmlformats.org/drawingml/2006/main">
            <a:pPr algn="l">
              <a:defRPr sz="8400" b="1">
                <a:solidFill>
                  <a:srgbClr val="0B4F8A"/>
                </a:solidFill>
                <a:latin typeface="Calibri"/>
                <a:ea typeface="Calibri"/>
                <a:cs typeface="Calibri"/>
              </a:defRPr>
            </a:pPr>
            <a:r>
              <a:rPr sz="8400" b="1">
                <a:solidFill>
                  <a:srgbClr val="0B4F8A"/>
                </a:solidFill>
                <a:latin typeface="Calibri"/>
                <a:ea typeface="Calibri"/>
                <a:cs typeface="Calibri"/>
              </a:rPr>
              <a:t>+3.8 dB</a:t>
            </a:r>
          </a:p>
        </p:txBody>
      </p:sp>
      <p:sp>
        <p:nvSpPr>
          <p:cNvPr id="9" name="text-7">
            <a:extLst xmlns:a="http://schemas.openxmlformats.org/drawingml/2006/main">
              <a:ext uri="{FF2B5EF4-FFF2-40B4-BE49-F238E27FC236}">
                <a16:creationId xmlns:a16="http://schemas.microsoft.com/office/drawing/2014/main" id="{D0EB9622-6728-4A62-89B5-9AA5F99CE66E}"/>
              </a:ext>
            </a:extLst>
          </p:cNvPr>
          <p:cNvSpPr>
            <a:spLocks xmlns:a="http://schemas.openxmlformats.org/drawingml/2006/main" noGrp="1"/>
          </p:cNvSpPr>
          <p:nvPr/>
        </p:nvSpPr>
        <p:spPr>
          <a:xfrm xmlns:a="http://schemas.openxmlformats.org/drawingml/2006/main">
            <a:off x="20383500" y="6229350"/>
            <a:ext cx="8477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526675"/>
                </a:solidFill>
                <a:latin typeface="Calibri"/>
                <a:ea typeface="Calibri"/>
                <a:cs typeface="Calibri"/>
              </a:defRPr>
            </a:defPPr>
          </a:lstStyle>
          <a:p xmlns:a="http://schemas.openxmlformats.org/drawingml/2006/main">
            <a:pPr algn="l">
              <a:defRPr sz="3150" b="0">
                <a:solidFill>
                  <a:srgbClr val="526675"/>
                </a:solidFill>
                <a:latin typeface="Calibri"/>
                <a:ea typeface="Calibri"/>
                <a:cs typeface="Calibri"/>
              </a:defRPr>
            </a:pPr>
            <a:r>
              <a:rPr sz="3150" b="0">
                <a:solidFill>
                  <a:srgbClr val="526675"/>
                </a:solidFill>
                <a:latin typeface="Calibri"/>
                <a:ea typeface="Calibri"/>
                <a:cs typeface="Calibri"/>
              </a:rPr>
              <a:t>PSNR at high SNR</a:t>
            </a:r>
          </a:p>
          <a:p xmlns:a="http://schemas.openxmlformats.org/drawingml/2006/main">
            <a:pPr algn="l">
              <a:defRPr sz="3150" b="0">
                <a:solidFill>
                  <a:srgbClr val="526675"/>
                </a:solidFill>
                <a:latin typeface="Calibri"/>
                <a:ea typeface="Calibri"/>
                <a:cs typeface="Calibri"/>
              </a:defRPr>
            </a:pPr>
            <a:r>
              <a:rPr sz="3150" b="0">
                <a:solidFill>
                  <a:srgbClr val="526675"/>
                </a:solidFill>
                <a:latin typeface="Calibri"/>
                <a:ea typeface="Calibri"/>
                <a:cs typeface="Calibri"/>
              </a:rPr>
              <a:t>DIV2K 0802, equal symbol budget</a:t>
            </a:r>
          </a:p>
        </p:txBody>
      </p:sp>
      <p:sp>
        <p:nvSpPr>
          <p:cNvPr id="10" name="text-8">
            <a:extLst xmlns:a="http://schemas.openxmlformats.org/drawingml/2006/main">
              <a:ext uri="{FF2B5EF4-FFF2-40B4-BE49-F238E27FC236}">
                <a16:creationId xmlns:a16="http://schemas.microsoft.com/office/drawing/2014/main" id="{402E61B9-99C2-494B-9B23-AB5ED54E559B}"/>
              </a:ext>
            </a:extLst>
          </p:cNvPr>
          <p:cNvSpPr>
            <a:spLocks xmlns:a="http://schemas.openxmlformats.org/drawingml/2006/main" noGrp="1"/>
          </p:cNvSpPr>
          <p:nvPr/>
        </p:nvSpPr>
        <p:spPr>
          <a:xfrm xmlns:a="http://schemas.openxmlformats.org/drawingml/2006/main">
            <a:off x="1066800" y="8143875"/>
            <a:ext cx="857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725" b="1">
                <a:solidFill>
                  <a:srgbClr val="0B4F8A"/>
                </a:solidFill>
                <a:latin typeface="Calibri"/>
                <a:ea typeface="Calibri"/>
                <a:cs typeface="Calibri"/>
              </a:defRPr>
            </a:defPPr>
          </a:lstStyle>
          <a:p xmlns:a="http://schemas.openxmlformats.org/drawingml/2006/main">
            <a:pPr algn="l">
              <a:defRPr sz="4725" b="1">
                <a:solidFill>
                  <a:srgbClr val="0B4F8A"/>
                </a:solidFill>
                <a:latin typeface="Calibri"/>
                <a:ea typeface="Calibri"/>
                <a:cs typeface="Calibri"/>
              </a:defRPr>
            </a:pPr>
            <a:r>
              <a:rPr sz="4725" b="1">
                <a:solidFill>
                  <a:srgbClr val="0B4F8A"/>
                </a:solidFill>
                <a:latin typeface="Calibri"/>
                <a:ea typeface="Calibri"/>
                <a:cs typeface="Calibri"/>
              </a:rPr>
              <a:t>Two boards, one wireless link</a:t>
            </a:r>
          </a:p>
        </p:txBody>
      </p:sp>
      <p:pic>
        <p:nvPicPr>
          <p:cNvPr id="11" name="">
            <a:extLst xmlns:a="http://schemas.openxmlformats.org/drawingml/2006/main">
              <a:ext uri="{FF2B5EF4-FFF2-40B4-BE49-F238E27FC236}">
                <a16:creationId xmlns:a16="http://schemas.microsoft.com/office/drawing/2014/main" id="{5196F403-EA36-448B-AB48-DE89AA5A7C4B}"/>
              </a:ext>
            </a:extLst>
          </p:cNvPr>
          <p:cNvPicPr>
            <a:picLocks xmlns:a="http://schemas.openxmlformats.org/drawingml/2006/main" noChangeAspect="1"/>
          </p:cNvPicPr>
          <p:nvPr/>
        </p:nvPicPr>
        <p:blipFill>
          <a:blip xmlns:r="http://schemas.openxmlformats.org/officeDocument/2006/relationships" xmlns:a="http://schemas.openxmlformats.org/drawingml/2006/main" r:embed="Rc826cbfd60994b76"/>
          <a:stretch xmlns:a="http://schemas.openxmlformats.org/drawingml/2006/main"/>
        </p:blipFill>
        <p:spPr>
          <a:xfrm xmlns:a="http://schemas.openxmlformats.org/drawingml/2006/main">
            <a:off x="1066800" y="9417606"/>
            <a:ext cx="8572500" cy="5053489"/>
          </a:xfrm>
          <a:prstGeom xmlns:a="http://schemas.openxmlformats.org/drawingml/2006/main" prst="rect">
            <a:avLst/>
          </a:prstGeom>
        </p:spPr>
      </p:pic>
      <p:sp>
        <p:nvSpPr>
          <p:cNvPr id="12" name="text-9">
            <a:extLst xmlns:a="http://schemas.openxmlformats.org/drawingml/2006/main">
              <a:ext uri="{FF2B5EF4-FFF2-40B4-BE49-F238E27FC236}">
                <a16:creationId xmlns:a16="http://schemas.microsoft.com/office/drawing/2014/main" id="{B9BE324D-D2CB-43F4-821B-1440A66A4799}"/>
              </a:ext>
            </a:extLst>
          </p:cNvPr>
          <p:cNvSpPr>
            <a:spLocks xmlns:a="http://schemas.openxmlformats.org/drawingml/2006/main" noGrp="1"/>
          </p:cNvSpPr>
          <p:nvPr/>
        </p:nvSpPr>
        <p:spPr>
          <a:xfrm xmlns:a="http://schemas.openxmlformats.org/drawingml/2006/main">
            <a:off x="1066800" y="14763750"/>
            <a:ext cx="85725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0">
                <a:solidFill>
                  <a:srgbClr val="526675"/>
                </a:solidFill>
                <a:latin typeface="Calibri"/>
                <a:ea typeface="Calibri"/>
                <a:cs typeface="Calibri"/>
              </a:defRPr>
            </a:defPPr>
          </a:lstStyle>
          <a:p xmlns:a="http://schemas.openxmlformats.org/drawingml/2006/main">
            <a:pPr algn="l">
              <a:defRPr sz="2925" b="0">
                <a:solidFill>
                  <a:srgbClr val="526675"/>
                </a:solidFill>
                <a:latin typeface="Calibri"/>
                <a:ea typeface="Calibri"/>
                <a:cs typeface="Calibri"/>
              </a:defRPr>
            </a:pPr>
            <a:r>
              <a:rPr sz="2925" b="0">
                <a:solidFill>
                  <a:srgbClr val="526675"/>
                </a:solidFill>
                <a:latin typeface="Calibri"/>
                <a:ea typeface="Calibri"/>
                <a:cs typeface="Calibri"/>
              </a:rPr>
              <a:t>RX with touch screen (left), TX with camera (right).</a:t>
            </a:r>
          </a:p>
          <a:p xmlns:a="http://schemas.openxmlformats.org/drawingml/2006/main">
            <a:pPr algn="l">
              <a:defRPr sz="2925" b="0">
                <a:solidFill>
                  <a:srgbClr val="526675"/>
                </a:solidFill>
                <a:latin typeface="Calibri"/>
                <a:ea typeface="Calibri"/>
                <a:cs typeface="Calibri"/>
              </a:defRPr>
            </a:pPr>
            <a:r>
              <a:rPr sz="2925" b="0">
                <a:solidFill>
                  <a:srgbClr val="526675"/>
                </a:solidFill>
                <a:latin typeface="Calibri"/>
                <a:ea typeface="Calibri"/>
                <a:cs typeface="Calibri"/>
              </a:rPr>
              <a:t>2 × PYNQ-ZU + 2 × AD-FMCOMMS3.</a:t>
            </a:r>
          </a:p>
        </p:txBody>
      </p:sp>
      <p:sp>
        <p:nvSpPr>
          <p:cNvPr id="13" name="text-10">
            <a:extLst xmlns:a="http://schemas.openxmlformats.org/drawingml/2006/main">
              <a:ext uri="{FF2B5EF4-FFF2-40B4-BE49-F238E27FC236}">
                <a16:creationId xmlns:a16="http://schemas.microsoft.com/office/drawing/2014/main" id="{10DBB9F3-B103-4BC9-A1DD-E8F6FAAF9FAE}"/>
              </a:ext>
            </a:extLst>
          </p:cNvPr>
          <p:cNvSpPr>
            <a:spLocks xmlns:a="http://schemas.openxmlformats.org/drawingml/2006/main" noGrp="1"/>
          </p:cNvSpPr>
          <p:nvPr/>
        </p:nvSpPr>
        <p:spPr>
          <a:xfrm xmlns:a="http://schemas.openxmlformats.org/drawingml/2006/main">
            <a:off x="1257300" y="16383000"/>
            <a:ext cx="3429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375" b="1">
                <a:solidFill>
                  <a:srgbClr val="0B4F8A"/>
                </a:solidFill>
                <a:latin typeface="Calibri"/>
                <a:ea typeface="Calibri"/>
                <a:cs typeface="Calibri"/>
              </a:defRPr>
            </a:defPPr>
          </a:lstStyle>
          <a:p xmlns:a="http://schemas.openxmlformats.org/drawingml/2006/main">
            <a:pPr algn="ctr">
              <a:defRPr sz="3375" b="1">
                <a:solidFill>
                  <a:srgbClr val="0B4F8A"/>
                </a:solidFill>
                <a:latin typeface="Calibri"/>
                <a:ea typeface="Calibri"/>
                <a:cs typeface="Calibri"/>
              </a:defRPr>
            </a:pPr>
            <a:r>
              <a:rPr sz="3375" b="1">
                <a:solidFill>
                  <a:srgbClr val="0B4F8A"/>
                </a:solidFill>
                <a:latin typeface="Calibri"/>
                <a:ea typeface="Calibri"/>
                <a:cs typeface="Calibri"/>
              </a:rPr>
              <a:t>TX board</a:t>
            </a:r>
          </a:p>
        </p:txBody>
      </p:sp>
      <p:sp>
        <p:nvSpPr>
          <p:cNvPr id="14" name="text-11">
            <a:extLst xmlns:a="http://schemas.openxmlformats.org/drawingml/2006/main">
              <a:ext uri="{FF2B5EF4-FFF2-40B4-BE49-F238E27FC236}">
                <a16:creationId xmlns:a16="http://schemas.microsoft.com/office/drawing/2014/main" id="{82797CFF-293C-4F16-81D5-C65865BCC0EB}"/>
              </a:ext>
            </a:extLst>
          </p:cNvPr>
          <p:cNvSpPr>
            <a:spLocks xmlns:a="http://schemas.openxmlformats.org/drawingml/2006/main" noGrp="1"/>
          </p:cNvSpPr>
          <p:nvPr/>
        </p:nvSpPr>
        <p:spPr>
          <a:xfrm xmlns:a="http://schemas.openxmlformats.org/drawingml/2006/main">
            <a:off x="6019800" y="16383000"/>
            <a:ext cx="3429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375" b="1">
                <a:solidFill>
                  <a:srgbClr val="0B4F8A"/>
                </a:solidFill>
                <a:latin typeface="Calibri"/>
                <a:ea typeface="Calibri"/>
                <a:cs typeface="Calibri"/>
              </a:defRPr>
            </a:defPPr>
          </a:lstStyle>
          <a:p xmlns:a="http://schemas.openxmlformats.org/drawingml/2006/main">
            <a:pPr algn="ctr">
              <a:defRPr sz="3375" b="1">
                <a:solidFill>
                  <a:srgbClr val="0B4F8A"/>
                </a:solidFill>
                <a:latin typeface="Calibri"/>
                <a:ea typeface="Calibri"/>
                <a:cs typeface="Calibri"/>
              </a:defRPr>
            </a:pPr>
            <a:r>
              <a:rPr sz="3375" b="1">
                <a:solidFill>
                  <a:srgbClr val="0B4F8A"/>
                </a:solidFill>
                <a:latin typeface="Calibri"/>
                <a:ea typeface="Calibri"/>
                <a:cs typeface="Calibri"/>
              </a:rPr>
              <a:t>RX board</a:t>
            </a:r>
          </a:p>
        </p:txBody>
      </p:sp>
      <p:sp>
        <p:nvSpPr>
          <p:cNvPr id="15" name="module-Camera / video">
            <a:extLst xmlns:a="http://schemas.openxmlformats.org/drawingml/2006/main">
              <a:ext uri="{FF2B5EF4-FFF2-40B4-BE49-F238E27FC236}">
                <a16:creationId xmlns:a16="http://schemas.microsoft.com/office/drawing/2014/main" id="{DB06A9C1-B08A-4FB4-BD6E-1B0ED059A9E6}"/>
              </a:ext>
            </a:extLst>
          </p:cNvPr>
          <p:cNvSpPr>
            <a:spLocks xmlns:a="http://schemas.openxmlformats.org/drawingml/2006/main" noGrp="1"/>
          </p:cNvSpPr>
          <p:nvPr/>
        </p:nvSpPr>
        <p:spPr>
          <a:xfrm xmlns:a="http://schemas.openxmlformats.org/drawingml/2006/main">
            <a:off x="1162050" y="17145000"/>
            <a:ext cx="3524250" cy="1257300"/>
          </a:xfrm>
          <a:prstGeom xmlns:a="http://schemas.openxmlformats.org/drawingml/2006/main" prst="rect">
            <a:avLst/>
          </a:prstGeom>
          <a:solidFill xmlns:a="http://schemas.openxmlformats.org/drawingml/2006/main">
            <a:srgbClr val="EAF1DE"/>
          </a:solidFill>
          <a:ln xmlns:a="http://schemas.openxmlformats.org/drawingml/2006/main" w="22860">
            <a:solidFill>
              <a:srgbClr val="0B4F8A"/>
            </a:solidFill>
          </a:ln>
        </p:spPr>
      </p:sp>
      <p:sp>
        <p:nvSpPr>
          <p:cNvPr id="16" name="text-12">
            <a:extLst xmlns:a="http://schemas.openxmlformats.org/drawingml/2006/main">
              <a:ext uri="{FF2B5EF4-FFF2-40B4-BE49-F238E27FC236}">
                <a16:creationId xmlns:a16="http://schemas.microsoft.com/office/drawing/2014/main" id="{629FE13A-7AC9-492B-A8E6-A51E3F5C18D9}"/>
              </a:ext>
            </a:extLst>
          </p:cNvPr>
          <p:cNvSpPr>
            <a:spLocks xmlns:a="http://schemas.openxmlformats.org/drawingml/2006/main" noGrp="1"/>
          </p:cNvSpPr>
          <p:nvPr/>
        </p:nvSpPr>
        <p:spPr>
          <a:xfrm xmlns:a="http://schemas.openxmlformats.org/drawingml/2006/main">
            <a:off x="1276350" y="1729740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Camera / video</a:t>
            </a:r>
          </a:p>
        </p:txBody>
      </p:sp>
      <p:sp>
        <p:nvSpPr>
          <p:cNvPr id="17" name="text-13">
            <a:extLst xmlns:a="http://schemas.openxmlformats.org/drawingml/2006/main">
              <a:ext uri="{FF2B5EF4-FFF2-40B4-BE49-F238E27FC236}">
                <a16:creationId xmlns:a16="http://schemas.microsoft.com/office/drawing/2014/main" id="{802BE905-7070-4B7C-971A-C16598CA94E3}"/>
              </a:ext>
            </a:extLst>
          </p:cNvPr>
          <p:cNvSpPr>
            <a:spLocks xmlns:a="http://schemas.openxmlformats.org/drawingml/2006/main" noGrp="1"/>
          </p:cNvSpPr>
          <p:nvPr/>
        </p:nvSpPr>
        <p:spPr>
          <a:xfrm xmlns:a="http://schemas.openxmlformats.org/drawingml/2006/main">
            <a:off x="1276350" y="1783080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256 × 256 RGB</a:t>
            </a:r>
          </a:p>
        </p:txBody>
      </p:sp>
      <p:sp>
        <p:nvSpPr>
          <p:cNvPr id="18" name="module-CNN encoder">
            <a:extLst xmlns:a="http://schemas.openxmlformats.org/drawingml/2006/main">
              <a:ext uri="{FF2B5EF4-FFF2-40B4-BE49-F238E27FC236}">
                <a16:creationId xmlns:a16="http://schemas.microsoft.com/office/drawing/2014/main" id="{5A38F12B-E136-465B-BC95-57EEBE4731A4}"/>
              </a:ext>
            </a:extLst>
          </p:cNvPr>
          <p:cNvSpPr>
            <a:spLocks xmlns:a="http://schemas.openxmlformats.org/drawingml/2006/main" noGrp="1"/>
          </p:cNvSpPr>
          <p:nvPr/>
        </p:nvSpPr>
        <p:spPr>
          <a:xfrm xmlns:a="http://schemas.openxmlformats.org/drawingml/2006/main">
            <a:off x="1162050" y="18764250"/>
            <a:ext cx="3524250" cy="1257300"/>
          </a:xfrm>
          <a:prstGeom xmlns:a="http://schemas.openxmlformats.org/drawingml/2006/main" prst="rect">
            <a:avLst/>
          </a:prstGeom>
          <a:solidFill xmlns:a="http://schemas.openxmlformats.org/drawingml/2006/main">
            <a:srgbClr val="FFF3CC"/>
          </a:solidFill>
          <a:ln xmlns:a="http://schemas.openxmlformats.org/drawingml/2006/main" w="22860">
            <a:solidFill>
              <a:srgbClr val="0B4F8A"/>
            </a:solidFill>
          </a:ln>
        </p:spPr>
      </p:sp>
      <p:sp>
        <p:nvSpPr>
          <p:cNvPr id="19" name="text-14">
            <a:extLst xmlns:a="http://schemas.openxmlformats.org/drawingml/2006/main">
              <a:ext uri="{FF2B5EF4-FFF2-40B4-BE49-F238E27FC236}">
                <a16:creationId xmlns:a16="http://schemas.microsoft.com/office/drawing/2014/main" id="{54FD60AD-108B-46E1-A43D-F46B6B8746D4}"/>
              </a:ext>
            </a:extLst>
          </p:cNvPr>
          <p:cNvSpPr>
            <a:spLocks xmlns:a="http://schemas.openxmlformats.org/drawingml/2006/main" noGrp="1"/>
          </p:cNvSpPr>
          <p:nvPr/>
        </p:nvSpPr>
        <p:spPr>
          <a:xfrm xmlns:a="http://schemas.openxmlformats.org/drawingml/2006/main">
            <a:off x="1276350" y="1891665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CNN encoder</a:t>
            </a:r>
          </a:p>
        </p:txBody>
      </p:sp>
      <p:sp>
        <p:nvSpPr>
          <p:cNvPr id="20" name="text-15">
            <a:extLst xmlns:a="http://schemas.openxmlformats.org/drawingml/2006/main">
              <a:ext uri="{FF2B5EF4-FFF2-40B4-BE49-F238E27FC236}">
                <a16:creationId xmlns:a16="http://schemas.microsoft.com/office/drawing/2014/main" id="{71FF6179-E0C1-4B9C-9761-4A021796542E}"/>
              </a:ext>
            </a:extLst>
          </p:cNvPr>
          <p:cNvSpPr>
            <a:spLocks xmlns:a="http://schemas.openxmlformats.org/drawingml/2006/main" noGrp="1"/>
          </p:cNvSpPr>
          <p:nvPr/>
        </p:nvSpPr>
        <p:spPr>
          <a:xfrm xmlns:a="http://schemas.openxmlformats.org/drawingml/2006/main">
            <a:off x="1276350" y="1945005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W8A12, 250 MHz</a:t>
            </a:r>
          </a:p>
        </p:txBody>
      </p:sp>
      <p:sp>
        <p:nvSpPr>
          <p:cNvPr id="21" name="module-OFDM TX">
            <a:extLst xmlns:a="http://schemas.openxmlformats.org/drawingml/2006/main">
              <a:ext uri="{FF2B5EF4-FFF2-40B4-BE49-F238E27FC236}">
                <a16:creationId xmlns:a16="http://schemas.microsoft.com/office/drawing/2014/main" id="{3B22B5B2-42B4-460D-8837-AA3DA6A4B890}"/>
              </a:ext>
            </a:extLst>
          </p:cNvPr>
          <p:cNvSpPr>
            <a:spLocks xmlns:a="http://schemas.openxmlformats.org/drawingml/2006/main" noGrp="1"/>
          </p:cNvSpPr>
          <p:nvPr/>
        </p:nvSpPr>
        <p:spPr>
          <a:xfrm xmlns:a="http://schemas.openxmlformats.org/drawingml/2006/main">
            <a:off x="1162050" y="20383500"/>
            <a:ext cx="3524250" cy="1257300"/>
          </a:xfrm>
          <a:prstGeom xmlns:a="http://schemas.openxmlformats.org/drawingml/2006/main" prst="rect">
            <a:avLst/>
          </a:prstGeom>
          <a:solidFill xmlns:a="http://schemas.openxmlformats.org/drawingml/2006/main">
            <a:srgbClr val="EEF4F8"/>
          </a:solidFill>
          <a:ln xmlns:a="http://schemas.openxmlformats.org/drawingml/2006/main" w="22860">
            <a:solidFill>
              <a:srgbClr val="0B4F8A"/>
            </a:solidFill>
          </a:ln>
        </p:spPr>
      </p:sp>
      <p:sp>
        <p:nvSpPr>
          <p:cNvPr id="22" name="text-16">
            <a:extLst xmlns:a="http://schemas.openxmlformats.org/drawingml/2006/main">
              <a:ext uri="{FF2B5EF4-FFF2-40B4-BE49-F238E27FC236}">
                <a16:creationId xmlns:a16="http://schemas.microsoft.com/office/drawing/2014/main" id="{401E7EB7-2AC9-433E-8701-FF5D9C5D9D3E}"/>
              </a:ext>
            </a:extLst>
          </p:cNvPr>
          <p:cNvSpPr>
            <a:spLocks xmlns:a="http://schemas.openxmlformats.org/drawingml/2006/main" noGrp="1"/>
          </p:cNvSpPr>
          <p:nvPr/>
        </p:nvSpPr>
        <p:spPr>
          <a:xfrm xmlns:a="http://schemas.openxmlformats.org/drawingml/2006/main">
            <a:off x="1276350" y="2053590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OFDM TX</a:t>
            </a:r>
          </a:p>
        </p:txBody>
      </p:sp>
      <p:sp>
        <p:nvSpPr>
          <p:cNvPr id="23" name="text-17">
            <a:extLst xmlns:a="http://schemas.openxmlformats.org/drawingml/2006/main">
              <a:ext uri="{FF2B5EF4-FFF2-40B4-BE49-F238E27FC236}">
                <a16:creationId xmlns:a16="http://schemas.microsoft.com/office/drawing/2014/main" id="{1E883D4B-8EEA-4BD7-A6F7-EE5EB3E6A70C}"/>
              </a:ext>
            </a:extLst>
          </p:cNvPr>
          <p:cNvSpPr>
            <a:spLocks xmlns:a="http://schemas.openxmlformats.org/drawingml/2006/main" noGrp="1"/>
          </p:cNvSpPr>
          <p:nvPr/>
        </p:nvSpPr>
        <p:spPr>
          <a:xfrm xmlns:a="http://schemas.openxmlformats.org/drawingml/2006/main">
            <a:off x="1276350" y="2106930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Frame buffer + IFFT</a:t>
            </a:r>
          </a:p>
        </p:txBody>
      </p:sp>
      <p:sp>
        <p:nvSpPr>
          <p:cNvPr id="24" name="module-AD9361">
            <a:extLst xmlns:a="http://schemas.openxmlformats.org/drawingml/2006/main">
              <a:ext uri="{FF2B5EF4-FFF2-40B4-BE49-F238E27FC236}">
                <a16:creationId xmlns:a16="http://schemas.microsoft.com/office/drawing/2014/main" id="{CF4DBF39-E6F7-463A-B711-BC54ECD96707}"/>
              </a:ext>
            </a:extLst>
          </p:cNvPr>
          <p:cNvSpPr>
            <a:spLocks xmlns:a="http://schemas.openxmlformats.org/drawingml/2006/main" noGrp="1"/>
          </p:cNvSpPr>
          <p:nvPr/>
        </p:nvSpPr>
        <p:spPr>
          <a:xfrm xmlns:a="http://schemas.openxmlformats.org/drawingml/2006/main">
            <a:off x="1162050" y="22002750"/>
            <a:ext cx="3524250" cy="1257300"/>
          </a:xfrm>
          <a:prstGeom xmlns:a="http://schemas.openxmlformats.org/drawingml/2006/main" prst="rect">
            <a:avLst/>
          </a:prstGeom>
          <a:solidFill xmlns:a="http://schemas.openxmlformats.org/drawingml/2006/main">
            <a:srgbClr val="EEF4F8"/>
          </a:solidFill>
          <a:ln xmlns:a="http://schemas.openxmlformats.org/drawingml/2006/main" w="22860">
            <a:solidFill>
              <a:srgbClr val="0B4F8A"/>
            </a:solidFill>
          </a:ln>
        </p:spPr>
      </p:sp>
      <p:sp>
        <p:nvSpPr>
          <p:cNvPr id="25" name="text-18">
            <a:extLst xmlns:a="http://schemas.openxmlformats.org/drawingml/2006/main">
              <a:ext uri="{FF2B5EF4-FFF2-40B4-BE49-F238E27FC236}">
                <a16:creationId xmlns:a16="http://schemas.microsoft.com/office/drawing/2014/main" id="{A038D072-A13B-451F-9EC6-CC7D19B4725D}"/>
              </a:ext>
            </a:extLst>
          </p:cNvPr>
          <p:cNvSpPr>
            <a:spLocks xmlns:a="http://schemas.openxmlformats.org/drawingml/2006/main" noGrp="1"/>
          </p:cNvSpPr>
          <p:nvPr/>
        </p:nvSpPr>
        <p:spPr>
          <a:xfrm xmlns:a="http://schemas.openxmlformats.org/drawingml/2006/main">
            <a:off x="1276350" y="2215515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AD9361</a:t>
            </a:r>
          </a:p>
        </p:txBody>
      </p:sp>
      <p:sp>
        <p:nvSpPr>
          <p:cNvPr id="26" name="text-19">
            <a:extLst xmlns:a="http://schemas.openxmlformats.org/drawingml/2006/main">
              <a:ext uri="{FF2B5EF4-FFF2-40B4-BE49-F238E27FC236}">
                <a16:creationId xmlns:a16="http://schemas.microsoft.com/office/drawing/2014/main" id="{1F8316CB-B1EE-485F-B3D6-A1203A518D0D}"/>
              </a:ext>
            </a:extLst>
          </p:cNvPr>
          <p:cNvSpPr>
            <a:spLocks xmlns:a="http://schemas.openxmlformats.org/drawingml/2006/main" noGrp="1"/>
          </p:cNvSpPr>
          <p:nvPr/>
        </p:nvSpPr>
        <p:spPr>
          <a:xfrm xmlns:a="http://schemas.openxmlformats.org/drawingml/2006/main">
            <a:off x="1276350" y="2268855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915 MHz, 20 MSPS</a:t>
            </a:r>
          </a:p>
        </p:txBody>
      </p:sp>
      <p:sp>
        <p:nvSpPr>
          <p:cNvPr id="27" name="module-Touch-screen GUI">
            <a:extLst xmlns:a="http://schemas.openxmlformats.org/drawingml/2006/main">
              <a:ext uri="{FF2B5EF4-FFF2-40B4-BE49-F238E27FC236}">
                <a16:creationId xmlns:a16="http://schemas.microsoft.com/office/drawing/2014/main" id="{4AD06F7F-0907-4FFE-9F60-751C6CBF58DB}"/>
              </a:ext>
            </a:extLst>
          </p:cNvPr>
          <p:cNvSpPr>
            <a:spLocks xmlns:a="http://schemas.openxmlformats.org/drawingml/2006/main" noGrp="1"/>
          </p:cNvSpPr>
          <p:nvPr/>
        </p:nvSpPr>
        <p:spPr>
          <a:xfrm xmlns:a="http://schemas.openxmlformats.org/drawingml/2006/main">
            <a:off x="6019800" y="17145000"/>
            <a:ext cx="3524250" cy="1257300"/>
          </a:xfrm>
          <a:prstGeom xmlns:a="http://schemas.openxmlformats.org/drawingml/2006/main" prst="rect">
            <a:avLst/>
          </a:prstGeom>
          <a:solidFill xmlns:a="http://schemas.openxmlformats.org/drawingml/2006/main">
            <a:srgbClr val="EAF1DE"/>
          </a:solidFill>
          <a:ln xmlns:a="http://schemas.openxmlformats.org/drawingml/2006/main" w="22860">
            <a:solidFill>
              <a:srgbClr val="0B4F8A"/>
            </a:solidFill>
          </a:ln>
        </p:spPr>
      </p:sp>
      <p:sp>
        <p:nvSpPr>
          <p:cNvPr id="28" name="text-20">
            <a:extLst xmlns:a="http://schemas.openxmlformats.org/drawingml/2006/main">
              <a:ext uri="{FF2B5EF4-FFF2-40B4-BE49-F238E27FC236}">
                <a16:creationId xmlns:a16="http://schemas.microsoft.com/office/drawing/2014/main" id="{F6E1686A-9C4C-450A-8CDD-1DA313839837}"/>
              </a:ext>
            </a:extLst>
          </p:cNvPr>
          <p:cNvSpPr>
            <a:spLocks xmlns:a="http://schemas.openxmlformats.org/drawingml/2006/main" noGrp="1"/>
          </p:cNvSpPr>
          <p:nvPr/>
        </p:nvSpPr>
        <p:spPr>
          <a:xfrm xmlns:a="http://schemas.openxmlformats.org/drawingml/2006/main">
            <a:off x="6134100" y="1729740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Touch-screen GUI</a:t>
            </a:r>
          </a:p>
        </p:txBody>
      </p:sp>
      <p:sp>
        <p:nvSpPr>
          <p:cNvPr id="29" name="text-21">
            <a:extLst xmlns:a="http://schemas.openxmlformats.org/drawingml/2006/main">
              <a:ext uri="{FF2B5EF4-FFF2-40B4-BE49-F238E27FC236}">
                <a16:creationId xmlns:a16="http://schemas.microsoft.com/office/drawing/2014/main" id="{67698D97-94C6-429C-8543-E9D9B843C56A}"/>
              </a:ext>
            </a:extLst>
          </p:cNvPr>
          <p:cNvSpPr>
            <a:spLocks xmlns:a="http://schemas.openxmlformats.org/drawingml/2006/main" noGrp="1"/>
          </p:cNvSpPr>
          <p:nvPr/>
        </p:nvSpPr>
        <p:spPr>
          <a:xfrm xmlns:a="http://schemas.openxmlformats.org/drawingml/2006/main">
            <a:off x="6134100" y="1783080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Image + PHY status</a:t>
            </a:r>
          </a:p>
        </p:txBody>
      </p:sp>
      <p:sp>
        <p:nvSpPr>
          <p:cNvPr id="30" name="module-CNN decoder">
            <a:extLst xmlns:a="http://schemas.openxmlformats.org/drawingml/2006/main">
              <a:ext uri="{FF2B5EF4-FFF2-40B4-BE49-F238E27FC236}">
                <a16:creationId xmlns:a16="http://schemas.microsoft.com/office/drawing/2014/main" id="{724DB77E-CA95-4D1F-A614-0867A77ED048}"/>
              </a:ext>
            </a:extLst>
          </p:cNvPr>
          <p:cNvSpPr>
            <a:spLocks xmlns:a="http://schemas.openxmlformats.org/drawingml/2006/main" noGrp="1"/>
          </p:cNvSpPr>
          <p:nvPr/>
        </p:nvSpPr>
        <p:spPr>
          <a:xfrm xmlns:a="http://schemas.openxmlformats.org/drawingml/2006/main">
            <a:off x="6019800" y="18764250"/>
            <a:ext cx="3524250" cy="1257300"/>
          </a:xfrm>
          <a:prstGeom xmlns:a="http://schemas.openxmlformats.org/drawingml/2006/main" prst="rect">
            <a:avLst/>
          </a:prstGeom>
          <a:solidFill xmlns:a="http://schemas.openxmlformats.org/drawingml/2006/main">
            <a:srgbClr val="FFF3CC"/>
          </a:solidFill>
          <a:ln xmlns:a="http://schemas.openxmlformats.org/drawingml/2006/main" w="22860">
            <a:solidFill>
              <a:srgbClr val="0B4F8A"/>
            </a:solidFill>
          </a:ln>
        </p:spPr>
      </p:sp>
      <p:sp>
        <p:nvSpPr>
          <p:cNvPr id="31" name="text-22">
            <a:extLst xmlns:a="http://schemas.openxmlformats.org/drawingml/2006/main">
              <a:ext uri="{FF2B5EF4-FFF2-40B4-BE49-F238E27FC236}">
                <a16:creationId xmlns:a16="http://schemas.microsoft.com/office/drawing/2014/main" id="{B06EDAA8-958F-4AAC-8812-9C14F5FDB7A5}"/>
              </a:ext>
            </a:extLst>
          </p:cNvPr>
          <p:cNvSpPr>
            <a:spLocks xmlns:a="http://schemas.openxmlformats.org/drawingml/2006/main" noGrp="1"/>
          </p:cNvSpPr>
          <p:nvPr/>
        </p:nvSpPr>
        <p:spPr>
          <a:xfrm xmlns:a="http://schemas.openxmlformats.org/drawingml/2006/main">
            <a:off x="6134100" y="1891665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CNN decoder</a:t>
            </a:r>
          </a:p>
        </p:txBody>
      </p:sp>
      <p:sp>
        <p:nvSpPr>
          <p:cNvPr id="32" name="text-23">
            <a:extLst xmlns:a="http://schemas.openxmlformats.org/drawingml/2006/main">
              <a:ext uri="{FF2B5EF4-FFF2-40B4-BE49-F238E27FC236}">
                <a16:creationId xmlns:a16="http://schemas.microsoft.com/office/drawing/2014/main" id="{AFA9401D-922B-4CDD-AD4F-F42D1E520D26}"/>
              </a:ext>
            </a:extLst>
          </p:cNvPr>
          <p:cNvSpPr>
            <a:spLocks xmlns:a="http://schemas.openxmlformats.org/drawingml/2006/main" noGrp="1"/>
          </p:cNvSpPr>
          <p:nvPr/>
        </p:nvSpPr>
        <p:spPr>
          <a:xfrm xmlns:a="http://schemas.openxmlformats.org/drawingml/2006/main">
            <a:off x="6134100" y="1945005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Continuous soft I/Q</a:t>
            </a:r>
          </a:p>
        </p:txBody>
      </p:sp>
      <p:sp>
        <p:nvSpPr>
          <p:cNvPr id="33" name="module-OFDM RX">
            <a:extLst xmlns:a="http://schemas.openxmlformats.org/drawingml/2006/main">
              <a:ext uri="{FF2B5EF4-FFF2-40B4-BE49-F238E27FC236}">
                <a16:creationId xmlns:a16="http://schemas.microsoft.com/office/drawing/2014/main" id="{18AB681E-7B0C-4D28-973A-678E6ABF2DAB}"/>
              </a:ext>
            </a:extLst>
          </p:cNvPr>
          <p:cNvSpPr>
            <a:spLocks xmlns:a="http://schemas.openxmlformats.org/drawingml/2006/main" noGrp="1"/>
          </p:cNvSpPr>
          <p:nvPr/>
        </p:nvSpPr>
        <p:spPr>
          <a:xfrm xmlns:a="http://schemas.openxmlformats.org/drawingml/2006/main">
            <a:off x="6019800" y="20383500"/>
            <a:ext cx="3524250" cy="1257300"/>
          </a:xfrm>
          <a:prstGeom xmlns:a="http://schemas.openxmlformats.org/drawingml/2006/main" prst="rect">
            <a:avLst/>
          </a:prstGeom>
          <a:solidFill xmlns:a="http://schemas.openxmlformats.org/drawingml/2006/main">
            <a:srgbClr val="EEF4F8"/>
          </a:solidFill>
          <a:ln xmlns:a="http://schemas.openxmlformats.org/drawingml/2006/main" w="22860">
            <a:solidFill>
              <a:srgbClr val="0B4F8A"/>
            </a:solidFill>
          </a:ln>
        </p:spPr>
      </p:sp>
      <p:sp>
        <p:nvSpPr>
          <p:cNvPr id="34" name="text-24">
            <a:extLst xmlns:a="http://schemas.openxmlformats.org/drawingml/2006/main">
              <a:ext uri="{FF2B5EF4-FFF2-40B4-BE49-F238E27FC236}">
                <a16:creationId xmlns:a16="http://schemas.microsoft.com/office/drawing/2014/main" id="{FD217BFD-7D55-4AEC-8442-F0A8EC2D0870}"/>
              </a:ext>
            </a:extLst>
          </p:cNvPr>
          <p:cNvSpPr>
            <a:spLocks xmlns:a="http://schemas.openxmlformats.org/drawingml/2006/main" noGrp="1"/>
          </p:cNvSpPr>
          <p:nvPr/>
        </p:nvSpPr>
        <p:spPr>
          <a:xfrm xmlns:a="http://schemas.openxmlformats.org/drawingml/2006/main">
            <a:off x="6134100" y="2053590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OFDM RX</a:t>
            </a:r>
          </a:p>
        </p:txBody>
      </p:sp>
      <p:sp>
        <p:nvSpPr>
          <p:cNvPr id="35" name="text-25">
            <a:extLst xmlns:a="http://schemas.openxmlformats.org/drawingml/2006/main">
              <a:ext uri="{FF2B5EF4-FFF2-40B4-BE49-F238E27FC236}">
                <a16:creationId xmlns:a16="http://schemas.microsoft.com/office/drawing/2014/main" id="{8A2EBF96-CCFA-4EAF-9501-A096F8FD5070}"/>
              </a:ext>
            </a:extLst>
          </p:cNvPr>
          <p:cNvSpPr>
            <a:spLocks xmlns:a="http://schemas.openxmlformats.org/drawingml/2006/main" noGrp="1"/>
          </p:cNvSpPr>
          <p:nvPr/>
        </p:nvSpPr>
        <p:spPr>
          <a:xfrm xmlns:a="http://schemas.openxmlformats.org/drawingml/2006/main">
            <a:off x="6134100" y="2106930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Sync + equalization</a:t>
            </a:r>
          </a:p>
        </p:txBody>
      </p:sp>
      <p:sp>
        <p:nvSpPr>
          <p:cNvPr id="36" name="module-AD9361">
            <a:extLst xmlns:a="http://schemas.openxmlformats.org/drawingml/2006/main">
              <a:ext uri="{FF2B5EF4-FFF2-40B4-BE49-F238E27FC236}">
                <a16:creationId xmlns:a16="http://schemas.microsoft.com/office/drawing/2014/main" id="{33AD4743-95CE-41A5-855D-0C07B91FB9E3}"/>
              </a:ext>
            </a:extLst>
          </p:cNvPr>
          <p:cNvSpPr>
            <a:spLocks xmlns:a="http://schemas.openxmlformats.org/drawingml/2006/main" noGrp="1"/>
          </p:cNvSpPr>
          <p:nvPr/>
        </p:nvSpPr>
        <p:spPr>
          <a:xfrm xmlns:a="http://schemas.openxmlformats.org/drawingml/2006/main">
            <a:off x="6019800" y="22002750"/>
            <a:ext cx="3524250" cy="1257300"/>
          </a:xfrm>
          <a:prstGeom xmlns:a="http://schemas.openxmlformats.org/drawingml/2006/main" prst="rect">
            <a:avLst/>
          </a:prstGeom>
          <a:solidFill xmlns:a="http://schemas.openxmlformats.org/drawingml/2006/main">
            <a:srgbClr val="EEF4F8"/>
          </a:solidFill>
          <a:ln xmlns:a="http://schemas.openxmlformats.org/drawingml/2006/main" w="22860">
            <a:solidFill>
              <a:srgbClr val="0B4F8A"/>
            </a:solidFill>
          </a:ln>
        </p:spPr>
      </p:sp>
      <p:sp>
        <p:nvSpPr>
          <p:cNvPr id="37" name="text-26">
            <a:extLst xmlns:a="http://schemas.openxmlformats.org/drawingml/2006/main">
              <a:ext uri="{FF2B5EF4-FFF2-40B4-BE49-F238E27FC236}">
                <a16:creationId xmlns:a16="http://schemas.microsoft.com/office/drawing/2014/main" id="{FFCDC9CE-E0DD-4637-904A-01DC42A586B0}"/>
              </a:ext>
            </a:extLst>
          </p:cNvPr>
          <p:cNvSpPr>
            <a:spLocks xmlns:a="http://schemas.openxmlformats.org/drawingml/2006/main" noGrp="1"/>
          </p:cNvSpPr>
          <p:nvPr/>
        </p:nvSpPr>
        <p:spPr>
          <a:xfrm xmlns:a="http://schemas.openxmlformats.org/drawingml/2006/main">
            <a:off x="6134100" y="2215515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AD9361</a:t>
            </a:r>
          </a:p>
        </p:txBody>
      </p:sp>
      <p:sp>
        <p:nvSpPr>
          <p:cNvPr id="38" name="text-27">
            <a:extLst xmlns:a="http://schemas.openxmlformats.org/drawingml/2006/main">
              <a:ext uri="{FF2B5EF4-FFF2-40B4-BE49-F238E27FC236}">
                <a16:creationId xmlns:a16="http://schemas.microsoft.com/office/drawing/2014/main" id="{B773C5C8-8FC0-49F5-A436-8A204233E61A}"/>
              </a:ext>
            </a:extLst>
          </p:cNvPr>
          <p:cNvSpPr>
            <a:spLocks xmlns:a="http://schemas.openxmlformats.org/drawingml/2006/main" noGrp="1"/>
          </p:cNvSpPr>
          <p:nvPr/>
        </p:nvSpPr>
        <p:spPr>
          <a:xfrm xmlns:a="http://schemas.openxmlformats.org/drawingml/2006/main">
            <a:off x="6134100" y="2268855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Fast AGC</a:t>
            </a:r>
          </a:p>
        </p:txBody>
      </p:sp>
      <p:sp>
        <p:nvSpPr>
          <p:cNvPr id="46" name="air label above wireless link">
            <a:extLst xmlns:a="http://schemas.openxmlformats.org/drawingml/2006/main">
              <a:ext uri="{FF2B5EF4-FFF2-40B4-BE49-F238E27FC236}">
                <a16:creationId xmlns:a16="http://schemas.microsoft.com/office/drawing/2014/main" id="{07A84789-50FB-4C19-BB24-597B1FE101ED}"/>
              </a:ext>
            </a:extLst>
          </p:cNvPr>
          <p:cNvSpPr>
            <a:spLocks xmlns:a="http://schemas.openxmlformats.org/drawingml/2006/main" noGrp="1"/>
          </p:cNvSpPr>
          <p:nvPr/>
        </p:nvSpPr>
        <p:spPr>
          <a:xfrm xmlns:a="http://schemas.openxmlformats.org/drawingml/2006/main">
            <a:off x="4686300" y="21964650"/>
            <a:ext cx="133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850" b="1">
                <a:solidFill>
                  <a:srgbClr val="D9531E"/>
                </a:solidFill>
                <a:latin typeface="Calibri"/>
                <a:ea typeface="Calibri"/>
                <a:cs typeface="Calibri"/>
              </a:defRPr>
            </a:defPPr>
          </a:lstStyle>
          <a:p xmlns:a="http://schemas.openxmlformats.org/drawingml/2006/main">
            <a:pPr algn="ctr">
              <a:defRPr sz="2850" b="1">
                <a:solidFill>
                  <a:srgbClr val="D9531E"/>
                </a:solidFill>
                <a:latin typeface="Calibri"/>
                <a:ea typeface="Calibri"/>
                <a:cs typeface="Calibri"/>
              </a:defRPr>
            </a:pPr>
            <a:r>
              <a:rPr sz="2850" b="1">
                <a:solidFill>
                  <a:srgbClr val="D9531E"/>
                </a:solidFill>
                <a:latin typeface="Calibri"/>
                <a:ea typeface="Calibri"/>
                <a:cs typeface="Calibri"/>
              </a:rPr>
              <a:t>air</a:t>
            </a:r>
          </a:p>
        </p:txBody>
      </p:sp>
      <p:sp>
        <p:nvSpPr>
          <p:cNvPr id="47" name="text-28">
            <a:extLst xmlns:a="http://schemas.openxmlformats.org/drawingml/2006/main">
              <a:ext uri="{FF2B5EF4-FFF2-40B4-BE49-F238E27FC236}">
                <a16:creationId xmlns:a16="http://schemas.microsoft.com/office/drawing/2014/main" id="{29F78B83-F0AE-4974-82AC-2B10127A9CD9}"/>
              </a:ext>
            </a:extLst>
          </p:cNvPr>
          <p:cNvSpPr>
            <a:spLocks xmlns:a="http://schemas.openxmlformats.org/drawingml/2006/main" noGrp="1"/>
          </p:cNvSpPr>
          <p:nvPr/>
        </p:nvSpPr>
        <p:spPr>
          <a:xfrm xmlns:a="http://schemas.openxmlformats.org/drawingml/2006/main">
            <a:off x="1066800" y="23860125"/>
            <a:ext cx="8572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20303D"/>
                </a:solidFill>
                <a:latin typeface="Calibri"/>
                <a:ea typeface="Calibri"/>
                <a:cs typeface="Calibri"/>
              </a:defRPr>
            </a:defPPr>
          </a:lstStyle>
          <a:p xmlns:a="http://schemas.openxmlformats.org/drawingml/2006/main">
            <a:pPr algn="l">
              <a:defRPr sz="3450" b="1">
                <a:solidFill>
                  <a:srgbClr val="20303D"/>
                </a:solidFill>
                <a:latin typeface="Calibri"/>
                <a:ea typeface="Calibri"/>
                <a:cs typeface="Calibri"/>
              </a:defRPr>
            </a:pPr>
            <a:r>
              <a:rPr sz="3450" b="1">
                <a:solidFill>
                  <a:srgbClr val="20303D"/>
                </a:solidFill>
                <a:latin typeface="Calibri"/>
                <a:ea typeface="Calibri"/>
                <a:cs typeface="Calibri"/>
              </a:rPr>
              <a:t>32,768 complex symbols per image</a:t>
            </a:r>
          </a:p>
          <a:p xmlns:a="http://schemas.openxmlformats.org/drawingml/2006/main">
            <a:pPr algn="l">
              <a:defRPr sz="3450" b="1">
                <a:solidFill>
                  <a:srgbClr val="20303D"/>
                </a:solidFill>
                <a:latin typeface="Calibri"/>
                <a:ea typeface="Calibri"/>
                <a:cs typeface="Calibri"/>
              </a:defRPr>
            </a:pPr>
            <a:r>
              <a:rPr sz="3450" b="1">
                <a:solidFill>
                  <a:srgbClr val="20303D"/>
                </a:solidFill>
                <a:latin typeface="Calibri"/>
                <a:ea typeface="Calibri"/>
                <a:cs typeface="Calibri"/>
              </a:rPr>
              <a:t>683 OFDM symbols per frame</a:t>
            </a:r>
          </a:p>
        </p:txBody>
      </p:sp>
      <p:sp>
        <p:nvSpPr>
          <p:cNvPr id="48" name="text-29">
            <a:extLst xmlns:a="http://schemas.openxmlformats.org/drawingml/2006/main">
              <a:ext uri="{FF2B5EF4-FFF2-40B4-BE49-F238E27FC236}">
                <a16:creationId xmlns:a16="http://schemas.microsoft.com/office/drawing/2014/main" id="{90E845C3-B9C4-48D6-82A3-9D28B23B05BC}"/>
              </a:ext>
            </a:extLst>
          </p:cNvPr>
          <p:cNvSpPr>
            <a:spLocks xmlns:a="http://schemas.openxmlformats.org/drawingml/2006/main" noGrp="1"/>
          </p:cNvSpPr>
          <p:nvPr/>
        </p:nvSpPr>
        <p:spPr>
          <a:xfrm xmlns:a="http://schemas.openxmlformats.org/drawingml/2006/main">
            <a:off x="1066800" y="25336500"/>
            <a:ext cx="8572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0">
                <a:solidFill>
                  <a:srgbClr val="526675"/>
                </a:solidFill>
                <a:latin typeface="Calibri"/>
                <a:ea typeface="Calibri"/>
                <a:cs typeface="Calibri"/>
              </a:defRPr>
            </a:defPPr>
          </a:lstStyle>
          <a:p xmlns:a="http://schemas.openxmlformats.org/drawingml/2006/main">
            <a:pPr algn="l">
              <a:defRPr sz="3000" b="0">
                <a:solidFill>
                  <a:srgbClr val="526675"/>
                </a:solidFill>
                <a:latin typeface="Calibri"/>
                <a:ea typeface="Calibri"/>
                <a:cs typeface="Calibri"/>
              </a:defRPr>
            </a:pPr>
            <a:r>
              <a:rPr sz="3000" b="0">
                <a:solidFill>
                  <a:srgbClr val="526675"/>
                </a:solidFill>
                <a:latin typeface="Calibri"/>
                <a:ea typeface="Calibri"/>
                <a:cs typeface="Calibri"/>
              </a:rPr>
              <a:t>The receiver passes soft I/Q directly to the decoder. No hard constellation decisions.</a:t>
            </a:r>
          </a:p>
          <a:p xmlns:a="http://schemas.openxmlformats.org/drawingml/2006/main">
            <a:pPr algn="l">
              <a:defRPr sz="3000" b="0">
                <a:solidFill>
                  <a:srgbClr val="526675"/>
                </a:solidFill>
                <a:latin typeface="Calibri"/>
                <a:ea typeface="Calibri"/>
                <a:cs typeface="Calibri"/>
              </a:defRPr>
            </a:pPr>
            <a:r>
              <a:rPr sz="3000" b="0">
                <a:solidFill>
                  <a:srgbClr val="526675"/>
                </a:solidFill>
                <a:latin typeface="Calibri"/>
                <a:ea typeface="Calibri"/>
                <a:cs typeface="Calibri"/>
              </a:rPr>
              <a:t>Ethernet carries control and the reference preview.</a:t>
            </a:r>
          </a:p>
        </p:txBody>
      </p:sp>
      <p:sp>
        <p:nvSpPr>
          <p:cNvPr id="49" name="text-30">
            <a:extLst xmlns:a="http://schemas.openxmlformats.org/drawingml/2006/main">
              <a:ext uri="{FF2B5EF4-FFF2-40B4-BE49-F238E27FC236}">
                <a16:creationId xmlns:a16="http://schemas.microsoft.com/office/drawing/2014/main" id="{4BB41A2C-97A5-4585-847C-166A78EA0687}"/>
              </a:ext>
            </a:extLst>
          </p:cNvPr>
          <p:cNvSpPr>
            <a:spLocks xmlns:a="http://schemas.openxmlformats.org/drawingml/2006/main" noGrp="1"/>
          </p:cNvSpPr>
          <p:nvPr/>
        </p:nvSpPr>
        <p:spPr>
          <a:xfrm xmlns:a="http://schemas.openxmlformats.org/drawingml/2006/main">
            <a:off x="1066800" y="27241500"/>
            <a:ext cx="8572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0303D"/>
                </a:solidFill>
                <a:latin typeface="Calibri"/>
                <a:ea typeface="Calibri"/>
                <a:cs typeface="Calibri"/>
              </a:defRPr>
            </a:defPPr>
          </a:lstStyle>
          <a:p xmlns:a="http://schemas.openxmlformats.org/drawingml/2006/main">
            <a:pPr algn="l">
              <a:defRPr sz="3300" b="1">
                <a:solidFill>
                  <a:srgbClr val="20303D"/>
                </a:solidFill>
                <a:latin typeface="Calibri"/>
                <a:ea typeface="Calibri"/>
                <a:cs typeface="Calibri"/>
              </a:defRPr>
            </a:pPr>
            <a:r>
              <a:rPr sz="3300" b="1">
                <a:solidFill>
                  <a:srgbClr val="20303D"/>
                </a:solidFill>
                <a:latin typeface="Calibri"/>
                <a:ea typeface="Calibri"/>
                <a:cs typeface="Calibri"/>
              </a:rPr>
              <a:t>30 fps for 10 minutes</a:t>
            </a:r>
          </a:p>
          <a:p xmlns:a="http://schemas.openxmlformats.org/drawingml/2006/main">
            <a:pPr algn="l">
              <a:defRPr sz="3300" b="1">
                <a:solidFill>
                  <a:srgbClr val="20303D"/>
                </a:solidFill>
                <a:latin typeface="Calibri"/>
                <a:ea typeface="Calibri"/>
                <a:cs typeface="Calibri"/>
              </a:defRPr>
            </a:pPr>
            <a:r>
              <a:rPr sz="3300" b="1">
                <a:solidFill>
                  <a:srgbClr val="20303D"/>
                </a:solidFill>
                <a:latin typeface="Calibri"/>
                <a:ea typeface="Calibri"/>
                <a:cs typeface="Calibri"/>
              </a:rPr>
              <a:t>18,000 frames received in 600.06 s</a:t>
            </a:r>
          </a:p>
        </p:txBody>
      </p:sp>
      <p:sp>
        <p:nvSpPr>
          <p:cNvPr id="50" name="text-31">
            <a:extLst xmlns:a="http://schemas.openxmlformats.org/drawingml/2006/main">
              <a:ext uri="{FF2B5EF4-FFF2-40B4-BE49-F238E27FC236}">
                <a16:creationId xmlns:a16="http://schemas.microsoft.com/office/drawing/2014/main" id="{F394152E-9942-4C6B-81F1-27514F1BEF38}"/>
              </a:ext>
            </a:extLst>
          </p:cNvPr>
          <p:cNvSpPr>
            <a:spLocks xmlns:a="http://schemas.openxmlformats.org/drawingml/2006/main" noGrp="1"/>
          </p:cNvSpPr>
          <p:nvPr/>
        </p:nvSpPr>
        <p:spPr>
          <a:xfrm xmlns:a="http://schemas.openxmlformats.org/drawingml/2006/main">
            <a:off x="10477500" y="8143875"/>
            <a:ext cx="1873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725" b="1">
                <a:solidFill>
                  <a:srgbClr val="0B4F8A"/>
                </a:solidFill>
                <a:latin typeface="Calibri"/>
                <a:ea typeface="Calibri"/>
                <a:cs typeface="Calibri"/>
              </a:defRPr>
            </a:defPPr>
          </a:lstStyle>
          <a:p xmlns:a="http://schemas.openxmlformats.org/drawingml/2006/main">
            <a:pPr algn="l">
              <a:defRPr sz="4725" b="1">
                <a:solidFill>
                  <a:srgbClr val="0B4F8A"/>
                </a:solidFill>
                <a:latin typeface="Calibri"/>
                <a:ea typeface="Calibri"/>
                <a:cs typeface="Calibri"/>
              </a:defRPr>
            </a:pPr>
            <a:r>
              <a:rPr sz="4725" b="1">
                <a:solidFill>
                  <a:srgbClr val="0B4F8A"/>
                </a:solidFill>
                <a:latin typeface="Calibri"/>
                <a:ea typeface="Calibri"/>
                <a:cs typeface="Calibri"/>
              </a:rPr>
              <a:t>Measured quality over the air</a:t>
            </a:r>
          </a:p>
        </p:txBody>
      </p:sp>
      <p:sp>
        <p:nvSpPr>
          <p:cNvPr id="51" name="text-32">
            <a:extLst xmlns:a="http://schemas.openxmlformats.org/drawingml/2006/main">
              <a:ext uri="{FF2B5EF4-FFF2-40B4-BE49-F238E27FC236}">
                <a16:creationId xmlns:a16="http://schemas.microsoft.com/office/drawing/2014/main" id="{DFD027C7-79F1-4B97-8AAE-54501220ED0B}"/>
              </a:ext>
            </a:extLst>
          </p:cNvPr>
          <p:cNvSpPr>
            <a:spLocks xmlns:a="http://schemas.openxmlformats.org/drawingml/2006/main" noGrp="1"/>
          </p:cNvSpPr>
          <p:nvPr/>
        </p:nvSpPr>
        <p:spPr>
          <a:xfrm xmlns:a="http://schemas.openxmlformats.org/drawingml/2006/main">
            <a:off x="10477500" y="9048750"/>
            <a:ext cx="18732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0">
                <a:solidFill>
                  <a:srgbClr val="526675"/>
                </a:solidFill>
                <a:latin typeface="Calibri"/>
                <a:ea typeface="Calibri"/>
                <a:cs typeface="Calibri"/>
              </a:defRPr>
            </a:defPPr>
          </a:lstStyle>
          <a:p xmlns:a="http://schemas.openxmlformats.org/drawingml/2006/main">
            <a:pPr algn="l">
              <a:defRPr sz="2925" b="0">
                <a:solidFill>
                  <a:srgbClr val="526675"/>
                </a:solidFill>
                <a:latin typeface="Calibri"/>
                <a:ea typeface="Calibri"/>
                <a:cs typeface="Calibri"/>
              </a:defRPr>
            </a:pPr>
            <a:r>
              <a:rPr sz="2925" b="0">
                <a:solidFill>
                  <a:srgbClr val="526675"/>
                </a:solidFill>
                <a:latin typeface="Calibri"/>
                <a:ea typeface="Calibri"/>
                <a:cs typeface="Calibri"/>
              </a:rPr>
              <a:t>DIV2K 0802, same PHY and 32,768 symbols per image</a:t>
            </a:r>
          </a:p>
          <a:p xmlns:a="http://schemas.openxmlformats.org/drawingml/2006/main">
            <a:pPr algn="l">
              <a:defRPr sz="2925" b="0">
                <a:solidFill>
                  <a:srgbClr val="526675"/>
                </a:solidFill>
                <a:latin typeface="Calibri"/>
                <a:ea typeface="Calibri"/>
                <a:cs typeface="Calibri"/>
              </a:defRPr>
            </a:pPr>
            <a:r>
              <a:rPr sz="2925" b="0">
                <a:solidFill>
                  <a:srgbClr val="526675"/>
                </a:solidFill>
                <a:latin typeface="Calibri"/>
                <a:ea typeface="Calibri"/>
                <a:cs typeface="Calibri"/>
              </a:rPr>
              <a:t>SSCC baseline: JPEG + convolutional code + 64-QAM</a:t>
            </a:r>
          </a:p>
        </p:txBody>
      </p:sp>
      <p:graphicFrame>
        <p:nvGraphicFramePr>
          <p:cNvPr id="52" name="Chart">
            <a:extLst xmlns:a="http://schemas.openxmlformats.org/drawingml/2006/main">
              <a:ext uri="{FF2B5EF4-FFF2-40B4-BE49-F238E27FC236}">
                <a16:creationId xmlns:a16="http://schemas.microsoft.com/office/drawing/2014/main" id="{E34C5731-97A0-429D-B318-A47D4E82874A}"/>
              </a:ext>
            </a:extLst>
          </p:cNvPr>
          <p:cNvGraphicFramePr/>
          <p:nvPr/>
        </p:nvGraphicFramePr>
        <p:xfrm>
          <a:off xmlns:a="http://schemas.openxmlformats.org/drawingml/2006/main" x="10477500" y="10191750"/>
          <a:ext xmlns:a="http://schemas.openxmlformats.org/drawingml/2006/main" cx="13858875" cy="6762750"/>
        </p:xfrm>
        <a:graphic xmlns:a="http://schemas.openxmlformats.org/drawingml/2006/main">
          <a:graphicData uri="http://schemas.openxmlformats.org/drawingml/2006/chart">
            <c:chart xmlns:r="http://schemas.openxmlformats.org/officeDocument/2006/relationships" xmlns:c="http://schemas.openxmlformats.org/drawingml/2006/chart" r:id="R0c01d6a15e434a55"/>
          </a:graphicData>
        </a:graphic>
      </p:graphicFrame>
      <p:sp>
        <p:nvSpPr>
          <p:cNvPr id="53" name="text-33">
            <a:extLst xmlns:a="http://schemas.openxmlformats.org/drawingml/2006/main">
              <a:ext uri="{FF2B5EF4-FFF2-40B4-BE49-F238E27FC236}">
                <a16:creationId xmlns:a16="http://schemas.microsoft.com/office/drawing/2014/main" id="{043E30AF-31BD-41FB-86D4-D1D45E5CDC51}"/>
              </a:ext>
            </a:extLst>
          </p:cNvPr>
          <p:cNvSpPr>
            <a:spLocks xmlns:a="http://schemas.openxmlformats.org/drawingml/2006/main" noGrp="1"/>
          </p:cNvSpPr>
          <p:nvPr/>
        </p:nvSpPr>
        <p:spPr>
          <a:xfrm xmlns:a="http://schemas.openxmlformats.org/drawingml/2006/main">
            <a:off x="25288875" y="10334625"/>
            <a:ext cx="3714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225" b="1">
                <a:solidFill>
                  <a:srgbClr val="20303D"/>
                </a:solidFill>
                <a:latin typeface="Calibri"/>
                <a:ea typeface="Calibri"/>
                <a:cs typeface="Calibri"/>
              </a:defRPr>
            </a:defPPr>
          </a:lstStyle>
          <a:p xmlns:a="http://schemas.openxmlformats.org/drawingml/2006/main">
            <a:pPr algn="ctr">
              <a:defRPr sz="3225" b="1">
                <a:solidFill>
                  <a:srgbClr val="20303D"/>
                </a:solidFill>
                <a:latin typeface="Calibri"/>
                <a:ea typeface="Calibri"/>
                <a:cs typeface="Calibri"/>
              </a:defRPr>
            </a:pPr>
            <a:r>
              <a:rPr sz="3225" b="1">
                <a:solidFill>
                  <a:srgbClr val="20303D"/>
                </a:solidFill>
                <a:latin typeface="Calibri"/>
                <a:ea typeface="Calibri"/>
                <a:cs typeface="Calibri"/>
              </a:rPr>
              <a:t>Original image</a:t>
            </a:r>
          </a:p>
        </p:txBody>
      </p:sp>
      <p:pic>
        <p:nvPicPr>
          <p:cNvPr id="54" name="">
            <a:extLst xmlns:a="http://schemas.openxmlformats.org/drawingml/2006/main">
              <a:ext uri="{FF2B5EF4-FFF2-40B4-BE49-F238E27FC236}">
                <a16:creationId xmlns:a16="http://schemas.microsoft.com/office/drawing/2014/main" id="{A37F7DBA-5DBB-4835-A7B9-32EF3C76BD98}"/>
              </a:ext>
            </a:extLst>
          </p:cNvPr>
          <p:cNvPicPr>
            <a:picLocks xmlns:a="http://schemas.openxmlformats.org/drawingml/2006/main" noChangeAspect="1"/>
          </p:cNvPicPr>
          <p:nvPr/>
        </p:nvPicPr>
        <p:blipFill>
          <a:blip xmlns:r="http://schemas.openxmlformats.org/officeDocument/2006/relationships" xmlns:a="http://schemas.openxmlformats.org/drawingml/2006/main" r:embed="R326442a2acbf4e8f"/>
          <a:stretch xmlns:a="http://schemas.openxmlformats.org/drawingml/2006/main"/>
        </p:blipFill>
        <p:spPr>
          <a:xfrm xmlns:a="http://schemas.openxmlformats.org/drawingml/2006/main">
            <a:off x="25288875" y="11049000"/>
            <a:ext cx="3714750" cy="3714750"/>
          </a:xfrm>
          <a:prstGeom xmlns:a="http://schemas.openxmlformats.org/drawingml/2006/main" prst="rect">
            <a:avLst/>
          </a:prstGeom>
        </p:spPr>
      </p:pic>
      <p:sp>
        <p:nvSpPr>
          <p:cNvPr id="55" name="text-34">
            <a:extLst xmlns:a="http://schemas.openxmlformats.org/drawingml/2006/main">
              <a:ext uri="{FF2B5EF4-FFF2-40B4-BE49-F238E27FC236}">
                <a16:creationId xmlns:a16="http://schemas.microsoft.com/office/drawing/2014/main" id="{88D16639-8674-482C-A663-2B531C343390}"/>
              </a:ext>
            </a:extLst>
          </p:cNvPr>
          <p:cNvSpPr>
            <a:spLocks xmlns:a="http://schemas.openxmlformats.org/drawingml/2006/main" noGrp="1"/>
          </p:cNvSpPr>
          <p:nvPr/>
        </p:nvSpPr>
        <p:spPr>
          <a:xfrm xmlns:a="http://schemas.openxmlformats.org/drawingml/2006/main">
            <a:off x="25288875" y="15049500"/>
            <a:ext cx="3714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150" b="0">
                <a:solidFill>
                  <a:srgbClr val="526675"/>
                </a:solidFill>
                <a:latin typeface="Calibri"/>
                <a:ea typeface="Calibri"/>
                <a:cs typeface="Calibri"/>
              </a:defRPr>
            </a:defPPr>
          </a:lstStyle>
          <a:p xmlns:a="http://schemas.openxmlformats.org/drawingml/2006/main">
            <a:pPr algn="ctr">
              <a:defRPr sz="3150" b="0">
                <a:solidFill>
                  <a:srgbClr val="526675"/>
                </a:solidFill>
                <a:latin typeface="Calibri"/>
                <a:ea typeface="Calibri"/>
                <a:cs typeface="Calibri"/>
              </a:defRPr>
            </a:pPr>
            <a:r>
              <a:rPr sz="3150" b="0">
                <a:solidFill>
                  <a:srgbClr val="526675"/>
                </a:solidFill>
                <a:latin typeface="Calibri"/>
                <a:ea typeface="Calibri"/>
                <a:cs typeface="Calibri"/>
              </a:rPr>
              <a:t>256 × 256 RGB</a:t>
            </a:r>
          </a:p>
        </p:txBody>
      </p:sp>
      <p:sp>
        <p:nvSpPr>
          <p:cNvPr id="56" name="text-35">
            <a:extLst xmlns:a="http://schemas.openxmlformats.org/drawingml/2006/main">
              <a:ext uri="{FF2B5EF4-FFF2-40B4-BE49-F238E27FC236}">
                <a16:creationId xmlns:a16="http://schemas.microsoft.com/office/drawing/2014/main" id="{5160A766-82E3-41B5-A29D-0927353734CA}"/>
              </a:ext>
            </a:extLst>
          </p:cNvPr>
          <p:cNvSpPr>
            <a:spLocks xmlns:a="http://schemas.openxmlformats.org/drawingml/2006/main" noGrp="1"/>
          </p:cNvSpPr>
          <p:nvPr/>
        </p:nvSpPr>
        <p:spPr>
          <a:xfrm xmlns:a="http://schemas.openxmlformats.org/drawingml/2006/main">
            <a:off x="10477500" y="17430750"/>
            <a:ext cx="1873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525" b="1">
                <a:solidFill>
                  <a:srgbClr val="20303D"/>
                </a:solidFill>
                <a:latin typeface="Calibri"/>
                <a:ea typeface="Calibri"/>
                <a:cs typeface="Calibri"/>
              </a:defRPr>
            </a:defPPr>
          </a:lstStyle>
          <a:p xmlns:a="http://schemas.openxmlformats.org/drawingml/2006/main">
            <a:pPr algn="l">
              <a:defRPr sz="3525" b="1">
                <a:solidFill>
                  <a:srgbClr val="20303D"/>
                </a:solidFill>
                <a:latin typeface="Calibri"/>
                <a:ea typeface="Calibri"/>
                <a:cs typeface="Calibri"/>
              </a:defRPr>
            </a:pPr>
            <a:r>
              <a:rPr sz="3525" b="1">
                <a:solidFill>
                  <a:srgbClr val="20303D"/>
                </a:solidFill>
                <a:latin typeface="Calibri"/>
                <a:ea typeface="Calibri"/>
                <a:cs typeface="Calibri"/>
              </a:rPr>
              <a:t>Reconstruction at four channel conditions</a:t>
            </a:r>
          </a:p>
        </p:txBody>
      </p:sp>
      <p:sp>
        <p:nvSpPr>
          <p:cNvPr id="57" name="text-36">
            <a:extLst xmlns:a="http://schemas.openxmlformats.org/drawingml/2006/main">
              <a:ext uri="{FF2B5EF4-FFF2-40B4-BE49-F238E27FC236}">
                <a16:creationId xmlns:a16="http://schemas.microsoft.com/office/drawing/2014/main" id="{E9F31A04-1411-4741-9E51-F427ED5E8BE5}"/>
              </a:ext>
            </a:extLst>
          </p:cNvPr>
          <p:cNvSpPr>
            <a:spLocks xmlns:a="http://schemas.openxmlformats.org/drawingml/2006/main" noGrp="1"/>
          </p:cNvSpPr>
          <p:nvPr/>
        </p:nvSpPr>
        <p:spPr>
          <a:xfrm xmlns:a="http://schemas.openxmlformats.org/drawingml/2006/main">
            <a:off x="12287250" y="18192750"/>
            <a:ext cx="3714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300" b="1">
                <a:solidFill>
                  <a:srgbClr val="20303D"/>
                </a:solidFill>
                <a:latin typeface="Calibri"/>
                <a:ea typeface="Calibri"/>
                <a:cs typeface="Calibri"/>
              </a:defRPr>
            </a:defPPr>
          </a:lstStyle>
          <a:p xmlns:a="http://schemas.openxmlformats.org/drawingml/2006/main">
            <a:pPr algn="ctr">
              <a:defRPr sz="3300" b="1">
                <a:solidFill>
                  <a:srgbClr val="20303D"/>
                </a:solidFill>
                <a:latin typeface="Calibri"/>
                <a:ea typeface="Calibri"/>
                <a:cs typeface="Calibri"/>
              </a:defRPr>
            </a:pPr>
            <a:r>
              <a:rPr sz="3300" b="1">
                <a:solidFill>
                  <a:srgbClr val="20303D"/>
                </a:solidFill>
                <a:latin typeface="Calibri"/>
                <a:ea typeface="Calibri"/>
                <a:cs typeface="Calibri"/>
              </a:rPr>
              <a:t>32.3 dB</a:t>
            </a:r>
          </a:p>
        </p:txBody>
      </p:sp>
      <p:sp>
        <p:nvSpPr>
          <p:cNvPr id="58" name="text-37">
            <a:extLst xmlns:a="http://schemas.openxmlformats.org/drawingml/2006/main">
              <a:ext uri="{FF2B5EF4-FFF2-40B4-BE49-F238E27FC236}">
                <a16:creationId xmlns:a16="http://schemas.microsoft.com/office/drawing/2014/main" id="{9E043046-8C7E-438F-8CC0-0065ABD7A820}"/>
              </a:ext>
            </a:extLst>
          </p:cNvPr>
          <p:cNvSpPr>
            <a:spLocks xmlns:a="http://schemas.openxmlformats.org/drawingml/2006/main" noGrp="1"/>
          </p:cNvSpPr>
          <p:nvPr/>
        </p:nvSpPr>
        <p:spPr>
          <a:xfrm xmlns:a="http://schemas.openxmlformats.org/drawingml/2006/main">
            <a:off x="16411575" y="18192750"/>
            <a:ext cx="3714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300" b="1">
                <a:solidFill>
                  <a:srgbClr val="20303D"/>
                </a:solidFill>
                <a:latin typeface="Calibri"/>
                <a:ea typeface="Calibri"/>
                <a:cs typeface="Calibri"/>
              </a:defRPr>
            </a:defPPr>
          </a:lstStyle>
          <a:p xmlns:a="http://schemas.openxmlformats.org/drawingml/2006/main">
            <a:pPr algn="ctr">
              <a:defRPr sz="3300" b="1">
                <a:solidFill>
                  <a:srgbClr val="20303D"/>
                </a:solidFill>
                <a:latin typeface="Calibri"/>
                <a:ea typeface="Calibri"/>
                <a:cs typeface="Calibri"/>
              </a:defRPr>
            </a:pPr>
            <a:r>
              <a:rPr sz="3300" b="1">
                <a:solidFill>
                  <a:srgbClr val="20303D"/>
                </a:solidFill>
                <a:latin typeface="Calibri"/>
                <a:ea typeface="Calibri"/>
                <a:cs typeface="Calibri"/>
              </a:rPr>
              <a:t>17.4 dB</a:t>
            </a:r>
          </a:p>
        </p:txBody>
      </p:sp>
      <p:sp>
        <p:nvSpPr>
          <p:cNvPr id="59" name="text-38">
            <a:extLst xmlns:a="http://schemas.openxmlformats.org/drawingml/2006/main">
              <a:ext uri="{FF2B5EF4-FFF2-40B4-BE49-F238E27FC236}">
                <a16:creationId xmlns:a16="http://schemas.microsoft.com/office/drawing/2014/main" id="{0193DE27-F9B8-48BD-A5B9-D31A9D419144}"/>
              </a:ext>
            </a:extLst>
          </p:cNvPr>
          <p:cNvSpPr>
            <a:spLocks xmlns:a="http://schemas.openxmlformats.org/drawingml/2006/main" noGrp="1"/>
          </p:cNvSpPr>
          <p:nvPr/>
        </p:nvSpPr>
        <p:spPr>
          <a:xfrm xmlns:a="http://schemas.openxmlformats.org/drawingml/2006/main">
            <a:off x="20535900" y="18192750"/>
            <a:ext cx="3714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300" b="1">
                <a:solidFill>
                  <a:srgbClr val="20303D"/>
                </a:solidFill>
                <a:latin typeface="Calibri"/>
                <a:ea typeface="Calibri"/>
                <a:cs typeface="Calibri"/>
              </a:defRPr>
            </a:defPPr>
          </a:lstStyle>
          <a:p xmlns:a="http://schemas.openxmlformats.org/drawingml/2006/main">
            <a:pPr algn="ctr">
              <a:defRPr sz="3300" b="1">
                <a:solidFill>
                  <a:srgbClr val="20303D"/>
                </a:solidFill>
                <a:latin typeface="Calibri"/>
                <a:ea typeface="Calibri"/>
                <a:cs typeface="Calibri"/>
              </a:defRPr>
            </a:pPr>
            <a:r>
              <a:rPr sz="3300" b="1">
                <a:solidFill>
                  <a:srgbClr val="20303D"/>
                </a:solidFill>
                <a:latin typeface="Calibri"/>
                <a:ea typeface="Calibri"/>
                <a:cs typeface="Calibri"/>
              </a:rPr>
              <a:t>13.1 dB</a:t>
            </a:r>
          </a:p>
        </p:txBody>
      </p:sp>
      <p:sp>
        <p:nvSpPr>
          <p:cNvPr id="60" name="text-39">
            <a:extLst xmlns:a="http://schemas.openxmlformats.org/drawingml/2006/main">
              <a:ext uri="{FF2B5EF4-FFF2-40B4-BE49-F238E27FC236}">
                <a16:creationId xmlns:a16="http://schemas.microsoft.com/office/drawing/2014/main" id="{A9323EFD-6B6F-4098-9665-25EE397296D3}"/>
              </a:ext>
            </a:extLst>
          </p:cNvPr>
          <p:cNvSpPr>
            <a:spLocks xmlns:a="http://schemas.openxmlformats.org/drawingml/2006/main" noGrp="1"/>
          </p:cNvSpPr>
          <p:nvPr/>
        </p:nvSpPr>
        <p:spPr>
          <a:xfrm xmlns:a="http://schemas.openxmlformats.org/drawingml/2006/main">
            <a:off x="24660225" y="18192750"/>
            <a:ext cx="3714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300" b="1">
                <a:solidFill>
                  <a:srgbClr val="20303D"/>
                </a:solidFill>
                <a:latin typeface="Calibri"/>
                <a:ea typeface="Calibri"/>
                <a:cs typeface="Calibri"/>
              </a:defRPr>
            </a:defPPr>
          </a:lstStyle>
          <a:p xmlns:a="http://schemas.openxmlformats.org/drawingml/2006/main">
            <a:pPr algn="ctr">
              <a:defRPr sz="3300" b="1">
                <a:solidFill>
                  <a:srgbClr val="20303D"/>
                </a:solidFill>
                <a:latin typeface="Calibri"/>
                <a:ea typeface="Calibri"/>
                <a:cs typeface="Calibri"/>
              </a:defRPr>
            </a:pPr>
            <a:r>
              <a:rPr sz="3300" b="1">
                <a:solidFill>
                  <a:srgbClr val="20303D"/>
                </a:solidFill>
                <a:latin typeface="Calibri"/>
                <a:ea typeface="Calibri"/>
                <a:cs typeface="Calibri"/>
              </a:rPr>
              <a:t>5.5 dB</a:t>
            </a:r>
          </a:p>
        </p:txBody>
      </p:sp>
      <p:sp>
        <p:nvSpPr>
          <p:cNvPr id="61" name="text-40">
            <a:extLst xmlns:a="http://schemas.openxmlformats.org/drawingml/2006/main">
              <a:ext uri="{FF2B5EF4-FFF2-40B4-BE49-F238E27FC236}">
                <a16:creationId xmlns:a16="http://schemas.microsoft.com/office/drawing/2014/main" id="{B229F333-57DD-4C65-B27E-A10FBD530F58}"/>
              </a:ext>
            </a:extLst>
          </p:cNvPr>
          <p:cNvSpPr>
            <a:spLocks xmlns:a="http://schemas.openxmlformats.org/drawingml/2006/main" noGrp="1"/>
          </p:cNvSpPr>
          <p:nvPr/>
        </p:nvSpPr>
        <p:spPr>
          <a:xfrm xmlns:a="http://schemas.openxmlformats.org/drawingml/2006/main">
            <a:off x="10477500" y="20097750"/>
            <a:ext cx="1762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237EAD"/>
                </a:solidFill>
                <a:latin typeface="Calibri"/>
                <a:ea typeface="Calibri"/>
                <a:cs typeface="Calibri"/>
              </a:defRPr>
            </a:defPPr>
          </a:lstStyle>
          <a:p xmlns:a="http://schemas.openxmlformats.org/drawingml/2006/main">
            <a:pPr algn="l">
              <a:defRPr sz="2400" b="1">
                <a:solidFill>
                  <a:srgbClr val="237EAD"/>
                </a:solidFill>
                <a:latin typeface="Calibri"/>
                <a:ea typeface="Calibri"/>
                <a:cs typeface="Calibri"/>
              </a:defRPr>
            </a:pPr>
            <a:r>
              <a:rPr sz="2400" b="1">
                <a:solidFill>
                  <a:srgbClr val="237EAD"/>
                </a:solidFill>
                <a:latin typeface="Calibri"/>
                <a:ea typeface="Calibri"/>
                <a:cs typeface="Calibri"/>
              </a:rPr>
              <a:t>DeepJSCC-Q</a:t>
            </a:r>
          </a:p>
        </p:txBody>
      </p:sp>
      <p:sp>
        <p:nvSpPr>
          <p:cNvPr id="62" name="text-41">
            <a:extLst xmlns:a="http://schemas.openxmlformats.org/drawingml/2006/main">
              <a:ext uri="{FF2B5EF4-FFF2-40B4-BE49-F238E27FC236}">
                <a16:creationId xmlns:a16="http://schemas.microsoft.com/office/drawing/2014/main" id="{D8902A44-7909-4A62-9B2A-272F89BC2714}"/>
              </a:ext>
            </a:extLst>
          </p:cNvPr>
          <p:cNvSpPr>
            <a:spLocks xmlns:a="http://schemas.openxmlformats.org/drawingml/2006/main" noGrp="1"/>
          </p:cNvSpPr>
          <p:nvPr/>
        </p:nvSpPr>
        <p:spPr>
          <a:xfrm xmlns:a="http://schemas.openxmlformats.org/drawingml/2006/main">
            <a:off x="10477500" y="24622125"/>
            <a:ext cx="16954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D9531E"/>
                </a:solidFill>
                <a:latin typeface="Calibri"/>
                <a:ea typeface="Calibri"/>
                <a:cs typeface="Calibri"/>
              </a:defRPr>
            </a:defPPr>
          </a:lstStyle>
          <a:p xmlns:a="http://schemas.openxmlformats.org/drawingml/2006/main">
            <a:pPr algn="l">
              <a:defRPr sz="2850" b="1">
                <a:solidFill>
                  <a:srgbClr val="D9531E"/>
                </a:solidFill>
                <a:latin typeface="Calibri"/>
                <a:ea typeface="Calibri"/>
                <a:cs typeface="Calibri"/>
              </a:defRPr>
            </a:pPr>
            <a:r>
              <a:rPr sz="2850" b="1">
                <a:solidFill>
                  <a:srgbClr val="D9531E"/>
                </a:solidFill>
                <a:latin typeface="Calibri"/>
                <a:ea typeface="Calibri"/>
                <a:cs typeface="Calibri"/>
              </a:rPr>
              <a:t>SSCC</a:t>
            </a:r>
          </a:p>
        </p:txBody>
      </p:sp>
      <p:pic>
        <p:nvPicPr>
          <p:cNvPr id="63" name="">
            <a:extLst xmlns:a="http://schemas.openxmlformats.org/drawingml/2006/main">
              <a:ext uri="{FF2B5EF4-FFF2-40B4-BE49-F238E27FC236}">
                <a16:creationId xmlns:a16="http://schemas.microsoft.com/office/drawing/2014/main" id="{02A23819-1BB4-4B4D-8542-4AE3E2F20DDB}"/>
              </a:ext>
            </a:extLst>
          </p:cNvPr>
          <p:cNvPicPr>
            <a:picLocks xmlns:a="http://schemas.openxmlformats.org/drawingml/2006/main" noChangeAspect="1"/>
          </p:cNvPicPr>
          <p:nvPr/>
        </p:nvPicPr>
        <p:blipFill>
          <a:blip xmlns:r="http://schemas.openxmlformats.org/officeDocument/2006/relationships" xmlns:a="http://schemas.openxmlformats.org/drawingml/2006/main" r:embed="R9e3ad2b62d424890"/>
          <a:stretch xmlns:a="http://schemas.openxmlformats.org/drawingml/2006/main"/>
        </p:blipFill>
        <p:spPr>
          <a:xfrm xmlns:a="http://schemas.openxmlformats.org/drawingml/2006/main">
            <a:off x="12287250" y="18859500"/>
            <a:ext cx="3714750" cy="3714750"/>
          </a:xfrm>
          <a:prstGeom xmlns:a="http://schemas.openxmlformats.org/drawingml/2006/main" prst="rect">
            <a:avLst/>
          </a:prstGeom>
        </p:spPr>
      </p:pic>
      <p:sp>
        <p:nvSpPr>
          <p:cNvPr id="64" name="text-42">
            <a:extLst xmlns:a="http://schemas.openxmlformats.org/drawingml/2006/main">
              <a:ext uri="{FF2B5EF4-FFF2-40B4-BE49-F238E27FC236}">
                <a16:creationId xmlns:a16="http://schemas.microsoft.com/office/drawing/2014/main" id="{C8C21651-EECF-4329-9B30-BB5006AC473D}"/>
              </a:ext>
            </a:extLst>
          </p:cNvPr>
          <p:cNvSpPr>
            <a:spLocks xmlns:a="http://schemas.openxmlformats.org/drawingml/2006/main" noGrp="1"/>
          </p:cNvSpPr>
          <p:nvPr/>
        </p:nvSpPr>
        <p:spPr>
          <a:xfrm xmlns:a="http://schemas.openxmlformats.org/drawingml/2006/main">
            <a:off x="12287250" y="22688550"/>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31.99 / 0.94</a:t>
            </a:r>
          </a:p>
        </p:txBody>
      </p:sp>
      <p:pic>
        <p:nvPicPr>
          <p:cNvPr id="65" name="">
            <a:extLst xmlns:a="http://schemas.openxmlformats.org/drawingml/2006/main">
              <a:ext uri="{FF2B5EF4-FFF2-40B4-BE49-F238E27FC236}">
                <a16:creationId xmlns:a16="http://schemas.microsoft.com/office/drawing/2014/main" id="{00A2F047-BC36-485B-ADEF-1ABF3BE2DAA9}"/>
              </a:ext>
            </a:extLst>
          </p:cNvPr>
          <p:cNvPicPr>
            <a:picLocks xmlns:a="http://schemas.openxmlformats.org/drawingml/2006/main" noChangeAspect="1"/>
          </p:cNvPicPr>
          <p:nvPr/>
        </p:nvPicPr>
        <p:blipFill>
          <a:blip xmlns:r="http://schemas.openxmlformats.org/officeDocument/2006/relationships" xmlns:a="http://schemas.openxmlformats.org/drawingml/2006/main" r:embed="Rb9179f3d29f744f2"/>
          <a:stretch xmlns:a="http://schemas.openxmlformats.org/drawingml/2006/main"/>
        </p:blipFill>
        <p:spPr>
          <a:xfrm xmlns:a="http://schemas.openxmlformats.org/drawingml/2006/main">
            <a:off x="16411575" y="18859500"/>
            <a:ext cx="3714750" cy="3714750"/>
          </a:xfrm>
          <a:prstGeom xmlns:a="http://schemas.openxmlformats.org/drawingml/2006/main" prst="rect">
            <a:avLst/>
          </a:prstGeom>
        </p:spPr>
      </p:pic>
      <p:sp>
        <p:nvSpPr>
          <p:cNvPr id="66" name="text-43">
            <a:extLst xmlns:a="http://schemas.openxmlformats.org/drawingml/2006/main">
              <a:ext uri="{FF2B5EF4-FFF2-40B4-BE49-F238E27FC236}">
                <a16:creationId xmlns:a16="http://schemas.microsoft.com/office/drawing/2014/main" id="{C7330AE8-9C10-4814-B162-A5DA778D8498}"/>
              </a:ext>
            </a:extLst>
          </p:cNvPr>
          <p:cNvSpPr>
            <a:spLocks xmlns:a="http://schemas.openxmlformats.org/drawingml/2006/main" noGrp="1"/>
          </p:cNvSpPr>
          <p:nvPr/>
        </p:nvSpPr>
        <p:spPr>
          <a:xfrm xmlns:a="http://schemas.openxmlformats.org/drawingml/2006/main">
            <a:off x="16411575" y="22688550"/>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31.66 / 0.94</a:t>
            </a:r>
          </a:p>
        </p:txBody>
      </p:sp>
      <p:pic>
        <p:nvPicPr>
          <p:cNvPr id="67" name="">
            <a:extLst xmlns:a="http://schemas.openxmlformats.org/drawingml/2006/main">
              <a:ext uri="{FF2B5EF4-FFF2-40B4-BE49-F238E27FC236}">
                <a16:creationId xmlns:a16="http://schemas.microsoft.com/office/drawing/2014/main" id="{69FFC287-3909-4322-85F0-1A7053BDFBF6}"/>
              </a:ext>
            </a:extLst>
          </p:cNvPr>
          <p:cNvPicPr>
            <a:picLocks xmlns:a="http://schemas.openxmlformats.org/drawingml/2006/main" noChangeAspect="1"/>
          </p:cNvPicPr>
          <p:nvPr/>
        </p:nvPicPr>
        <p:blipFill>
          <a:blip xmlns:r="http://schemas.openxmlformats.org/officeDocument/2006/relationships" xmlns:a="http://schemas.openxmlformats.org/drawingml/2006/main" r:embed="R0112f871bb7b4e78"/>
          <a:stretch xmlns:a="http://schemas.openxmlformats.org/drawingml/2006/main"/>
        </p:blipFill>
        <p:spPr>
          <a:xfrm xmlns:a="http://schemas.openxmlformats.org/drawingml/2006/main">
            <a:off x="20535900" y="18859500"/>
            <a:ext cx="3714750" cy="3714750"/>
          </a:xfrm>
          <a:prstGeom xmlns:a="http://schemas.openxmlformats.org/drawingml/2006/main" prst="rect">
            <a:avLst/>
          </a:prstGeom>
        </p:spPr>
      </p:pic>
      <p:sp>
        <p:nvSpPr>
          <p:cNvPr id="68" name="text-44">
            <a:extLst xmlns:a="http://schemas.openxmlformats.org/drawingml/2006/main">
              <a:ext uri="{FF2B5EF4-FFF2-40B4-BE49-F238E27FC236}">
                <a16:creationId xmlns:a16="http://schemas.microsoft.com/office/drawing/2014/main" id="{23147168-315D-4265-99E6-2423A2BA0979}"/>
              </a:ext>
            </a:extLst>
          </p:cNvPr>
          <p:cNvSpPr>
            <a:spLocks xmlns:a="http://schemas.openxmlformats.org/drawingml/2006/main" noGrp="1"/>
          </p:cNvSpPr>
          <p:nvPr/>
        </p:nvSpPr>
        <p:spPr>
          <a:xfrm xmlns:a="http://schemas.openxmlformats.org/drawingml/2006/main">
            <a:off x="20535900" y="22688550"/>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31.19 / 0.93</a:t>
            </a:r>
          </a:p>
        </p:txBody>
      </p:sp>
      <p:pic>
        <p:nvPicPr>
          <p:cNvPr id="69" name="">
            <a:extLst xmlns:a="http://schemas.openxmlformats.org/drawingml/2006/main">
              <a:ext uri="{FF2B5EF4-FFF2-40B4-BE49-F238E27FC236}">
                <a16:creationId xmlns:a16="http://schemas.microsoft.com/office/drawing/2014/main" id="{1A170A8D-DDDC-4393-9427-99168A842562}"/>
              </a:ext>
            </a:extLst>
          </p:cNvPr>
          <p:cNvPicPr>
            <a:picLocks xmlns:a="http://schemas.openxmlformats.org/drawingml/2006/main" noChangeAspect="1"/>
          </p:cNvPicPr>
          <p:nvPr/>
        </p:nvPicPr>
        <p:blipFill>
          <a:blip xmlns:r="http://schemas.openxmlformats.org/officeDocument/2006/relationships" xmlns:a="http://schemas.openxmlformats.org/drawingml/2006/main" r:embed="Raa8b474070734e37"/>
          <a:stretch xmlns:a="http://schemas.openxmlformats.org/drawingml/2006/main"/>
        </p:blipFill>
        <p:spPr>
          <a:xfrm xmlns:a="http://schemas.openxmlformats.org/drawingml/2006/main">
            <a:off x="24660225" y="18859500"/>
            <a:ext cx="3714750" cy="3714750"/>
          </a:xfrm>
          <a:prstGeom xmlns:a="http://schemas.openxmlformats.org/drawingml/2006/main" prst="rect">
            <a:avLst/>
          </a:prstGeom>
        </p:spPr>
      </p:pic>
      <p:sp>
        <p:nvSpPr>
          <p:cNvPr id="70" name="text-45">
            <a:extLst xmlns:a="http://schemas.openxmlformats.org/drawingml/2006/main">
              <a:ext uri="{FF2B5EF4-FFF2-40B4-BE49-F238E27FC236}">
                <a16:creationId xmlns:a16="http://schemas.microsoft.com/office/drawing/2014/main" id="{F27E4112-B357-4EC3-A473-748CDE08DF3B}"/>
              </a:ext>
            </a:extLst>
          </p:cNvPr>
          <p:cNvSpPr>
            <a:spLocks xmlns:a="http://schemas.openxmlformats.org/drawingml/2006/main" noGrp="1"/>
          </p:cNvSpPr>
          <p:nvPr/>
        </p:nvSpPr>
        <p:spPr>
          <a:xfrm xmlns:a="http://schemas.openxmlformats.org/drawingml/2006/main">
            <a:off x="24660225" y="22688550"/>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26.55 / 0.87</a:t>
            </a:r>
          </a:p>
        </p:txBody>
      </p:sp>
      <p:pic>
        <p:nvPicPr>
          <p:cNvPr id="71" name="">
            <a:extLst xmlns:a="http://schemas.openxmlformats.org/drawingml/2006/main">
              <a:ext uri="{FF2B5EF4-FFF2-40B4-BE49-F238E27FC236}">
                <a16:creationId xmlns:a16="http://schemas.microsoft.com/office/drawing/2014/main" id="{6835A6B6-A849-4B0C-A0A0-0E57EEE43098}"/>
              </a:ext>
            </a:extLst>
          </p:cNvPr>
          <p:cNvPicPr>
            <a:picLocks xmlns:a="http://schemas.openxmlformats.org/drawingml/2006/main" noChangeAspect="1"/>
          </p:cNvPicPr>
          <p:nvPr/>
        </p:nvPicPr>
        <p:blipFill>
          <a:blip xmlns:r="http://schemas.openxmlformats.org/officeDocument/2006/relationships" xmlns:a="http://schemas.openxmlformats.org/drawingml/2006/main" r:embed="Rd222c85971b540de"/>
          <a:stretch xmlns:a="http://schemas.openxmlformats.org/drawingml/2006/main"/>
        </p:blipFill>
        <p:spPr>
          <a:xfrm xmlns:a="http://schemas.openxmlformats.org/drawingml/2006/main">
            <a:off x="12287250" y="23479125"/>
            <a:ext cx="3714750" cy="3714750"/>
          </a:xfrm>
          <a:prstGeom xmlns:a="http://schemas.openxmlformats.org/drawingml/2006/main" prst="rect">
            <a:avLst/>
          </a:prstGeom>
        </p:spPr>
      </p:pic>
      <p:sp>
        <p:nvSpPr>
          <p:cNvPr id="72" name="text-46">
            <a:extLst xmlns:a="http://schemas.openxmlformats.org/drawingml/2006/main">
              <a:ext uri="{FF2B5EF4-FFF2-40B4-BE49-F238E27FC236}">
                <a16:creationId xmlns:a16="http://schemas.microsoft.com/office/drawing/2014/main" id="{B6D248DE-A589-4ABB-9FA1-F53C16D3C4A9}"/>
              </a:ext>
            </a:extLst>
          </p:cNvPr>
          <p:cNvSpPr>
            <a:spLocks xmlns:a="http://schemas.openxmlformats.org/drawingml/2006/main" noGrp="1"/>
          </p:cNvSpPr>
          <p:nvPr/>
        </p:nvSpPr>
        <p:spPr>
          <a:xfrm xmlns:a="http://schemas.openxmlformats.org/drawingml/2006/main">
            <a:off x="12287250" y="27308175"/>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28.23 / 0.83</a:t>
            </a:r>
          </a:p>
        </p:txBody>
      </p:sp>
      <p:pic>
        <p:nvPicPr>
          <p:cNvPr id="73" name="">
            <a:extLst xmlns:a="http://schemas.openxmlformats.org/drawingml/2006/main">
              <a:ext uri="{FF2B5EF4-FFF2-40B4-BE49-F238E27FC236}">
                <a16:creationId xmlns:a16="http://schemas.microsoft.com/office/drawing/2014/main" id="{FA1E5856-FA4E-4C78-A95B-4A7464FE572E}"/>
              </a:ext>
            </a:extLst>
          </p:cNvPr>
          <p:cNvPicPr>
            <a:picLocks xmlns:a="http://schemas.openxmlformats.org/drawingml/2006/main" noChangeAspect="1"/>
          </p:cNvPicPr>
          <p:nvPr/>
        </p:nvPicPr>
        <p:blipFill>
          <a:blip xmlns:r="http://schemas.openxmlformats.org/officeDocument/2006/relationships" xmlns:a="http://schemas.openxmlformats.org/drawingml/2006/main" r:embed="Rf4f00027b6064d27"/>
          <a:stretch xmlns:a="http://schemas.openxmlformats.org/drawingml/2006/main"/>
        </p:blipFill>
        <p:spPr>
          <a:xfrm xmlns:a="http://schemas.openxmlformats.org/drawingml/2006/main">
            <a:off x="16411575" y="23479125"/>
            <a:ext cx="3714750" cy="3714750"/>
          </a:xfrm>
          <a:prstGeom xmlns:a="http://schemas.openxmlformats.org/drawingml/2006/main" prst="rect">
            <a:avLst/>
          </a:prstGeom>
        </p:spPr>
      </p:pic>
      <p:sp>
        <p:nvSpPr>
          <p:cNvPr id="74" name="text-47">
            <a:extLst xmlns:a="http://schemas.openxmlformats.org/drawingml/2006/main">
              <a:ext uri="{FF2B5EF4-FFF2-40B4-BE49-F238E27FC236}">
                <a16:creationId xmlns:a16="http://schemas.microsoft.com/office/drawing/2014/main" id="{67CA492D-BBDF-4E50-805F-BFFCABA7F44A}"/>
              </a:ext>
            </a:extLst>
          </p:cNvPr>
          <p:cNvSpPr>
            <a:spLocks xmlns:a="http://schemas.openxmlformats.org/drawingml/2006/main" noGrp="1"/>
          </p:cNvSpPr>
          <p:nvPr/>
        </p:nvSpPr>
        <p:spPr>
          <a:xfrm xmlns:a="http://schemas.openxmlformats.org/drawingml/2006/main">
            <a:off x="16411575" y="27308175"/>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22.06 / 0.78</a:t>
            </a:r>
          </a:p>
        </p:txBody>
      </p:sp>
      <p:pic>
        <p:nvPicPr>
          <p:cNvPr id="75" name="">
            <a:extLst xmlns:a="http://schemas.openxmlformats.org/drawingml/2006/main">
              <a:ext uri="{FF2B5EF4-FFF2-40B4-BE49-F238E27FC236}">
                <a16:creationId xmlns:a16="http://schemas.microsoft.com/office/drawing/2014/main" id="{763863F4-313F-40F3-AE4D-0249208DD763}"/>
              </a:ext>
            </a:extLst>
          </p:cNvPr>
          <p:cNvPicPr>
            <a:picLocks xmlns:a="http://schemas.openxmlformats.org/drawingml/2006/main" noChangeAspect="1"/>
          </p:cNvPicPr>
          <p:nvPr/>
        </p:nvPicPr>
        <p:blipFill>
          <a:blip xmlns:r="http://schemas.openxmlformats.org/officeDocument/2006/relationships" xmlns:a="http://schemas.openxmlformats.org/drawingml/2006/main" r:embed="R90d3152e6ed84b61"/>
          <a:stretch xmlns:a="http://schemas.openxmlformats.org/drawingml/2006/main"/>
        </p:blipFill>
        <p:spPr>
          <a:xfrm xmlns:a="http://schemas.openxmlformats.org/drawingml/2006/main">
            <a:off x="20535900" y="23479125"/>
            <a:ext cx="3714750" cy="3714750"/>
          </a:xfrm>
          <a:prstGeom xmlns:a="http://schemas.openxmlformats.org/drawingml/2006/main" prst="rect">
            <a:avLst/>
          </a:prstGeom>
        </p:spPr>
      </p:pic>
      <p:sp>
        <p:nvSpPr>
          <p:cNvPr id="76" name="text-48">
            <a:extLst xmlns:a="http://schemas.openxmlformats.org/drawingml/2006/main">
              <a:ext uri="{FF2B5EF4-FFF2-40B4-BE49-F238E27FC236}">
                <a16:creationId xmlns:a16="http://schemas.microsoft.com/office/drawing/2014/main" id="{2DE02F5C-459D-44B8-B504-91ECAB34D715}"/>
              </a:ext>
            </a:extLst>
          </p:cNvPr>
          <p:cNvSpPr>
            <a:spLocks xmlns:a="http://schemas.openxmlformats.org/drawingml/2006/main" noGrp="1"/>
          </p:cNvSpPr>
          <p:nvPr/>
        </p:nvSpPr>
        <p:spPr>
          <a:xfrm xmlns:a="http://schemas.openxmlformats.org/drawingml/2006/main">
            <a:off x="20535900" y="27308175"/>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8.01 / 0.12</a:t>
            </a:r>
          </a:p>
        </p:txBody>
      </p:sp>
      <p:sp>
        <p:nvSpPr>
          <p:cNvPr id="77" name="Undecodable SSCC frame, represented as mid-gray">
            <a:extLst xmlns:a="http://schemas.openxmlformats.org/drawingml/2006/main">
              <a:ext uri="{FF2B5EF4-FFF2-40B4-BE49-F238E27FC236}">
                <a16:creationId xmlns:a16="http://schemas.microsoft.com/office/drawing/2014/main" id="{12B37DC0-DB6F-4041-85C4-F9B2D0F2158D}"/>
              </a:ext>
            </a:extLst>
          </p:cNvPr>
          <p:cNvSpPr>
            <a:spLocks xmlns:a="http://schemas.openxmlformats.org/drawingml/2006/main" noGrp="1"/>
          </p:cNvSpPr>
          <p:nvPr/>
        </p:nvSpPr>
        <p:spPr>
          <a:xfrm xmlns:a="http://schemas.openxmlformats.org/drawingml/2006/main">
            <a:off x="24660225" y="23479125"/>
            <a:ext cx="3714750" cy="3714750"/>
          </a:xfrm>
          <a:prstGeom xmlns:a="http://schemas.openxmlformats.org/drawingml/2006/main" prst="rect">
            <a:avLst/>
          </a:prstGeom>
          <a:solidFill xmlns:a="http://schemas.openxmlformats.org/drawingml/2006/main">
            <a:srgbClr val="808080"/>
          </a:solidFill>
          <a:ln xmlns:a="http://schemas.openxmlformats.org/drawingml/2006/main" w="0">
            <a:noFill/>
          </a:ln>
        </p:spPr>
      </p:sp>
      <p:sp>
        <p:nvSpPr>
          <p:cNvPr id="78" name="text-49">
            <a:extLst xmlns:a="http://schemas.openxmlformats.org/drawingml/2006/main">
              <a:ext uri="{FF2B5EF4-FFF2-40B4-BE49-F238E27FC236}">
                <a16:creationId xmlns:a16="http://schemas.microsoft.com/office/drawing/2014/main" id="{9FECBD94-F5ED-44D6-9EA1-0006F729AE9E}"/>
              </a:ext>
            </a:extLst>
          </p:cNvPr>
          <p:cNvSpPr>
            <a:spLocks xmlns:a="http://schemas.openxmlformats.org/drawingml/2006/main" noGrp="1"/>
          </p:cNvSpPr>
          <p:nvPr/>
        </p:nvSpPr>
        <p:spPr>
          <a:xfrm xmlns:a="http://schemas.openxmlformats.org/drawingml/2006/main">
            <a:off x="24898350" y="24888825"/>
            <a:ext cx="323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850" b="1">
                <a:solidFill>
                  <a:srgbClr val="FFFFFF"/>
                </a:solidFill>
                <a:latin typeface="Calibri"/>
                <a:ea typeface="Calibri"/>
                <a:cs typeface="Calibri"/>
              </a:defRPr>
            </a:defPPr>
          </a:lstStyle>
          <a:p xmlns:a="http://schemas.openxmlformats.org/drawingml/2006/main">
            <a:pPr algn="ctr">
              <a:defRPr sz="2850" b="1">
                <a:solidFill>
                  <a:srgbClr val="FFFFFF"/>
                </a:solidFill>
                <a:latin typeface="Calibri"/>
                <a:ea typeface="Calibri"/>
                <a:cs typeface="Calibri"/>
              </a:defRPr>
            </a:pPr>
            <a:r>
              <a:rPr sz="2850" b="1">
                <a:solidFill>
                  <a:srgbClr val="FFFFFF"/>
                </a:solidFill>
                <a:latin typeface="Calibri"/>
                <a:ea typeface="Calibri"/>
                <a:cs typeface="Calibri"/>
              </a:rPr>
              <a:t>No decodable</a:t>
            </a:r>
          </a:p>
          <a:p xmlns:a="http://schemas.openxmlformats.org/drawingml/2006/main">
            <a:pPr algn="ctr">
              <a:defRPr sz="2850" b="1">
                <a:solidFill>
                  <a:srgbClr val="FFFFFF"/>
                </a:solidFill>
                <a:latin typeface="Calibri"/>
                <a:ea typeface="Calibri"/>
                <a:cs typeface="Calibri"/>
              </a:defRPr>
            </a:pPr>
            <a:r>
              <a:rPr sz="2850" b="1">
                <a:solidFill>
                  <a:srgbClr val="FFFFFF"/>
                </a:solidFill>
                <a:latin typeface="Calibri"/>
                <a:ea typeface="Calibri"/>
                <a:cs typeface="Calibri"/>
              </a:rPr>
              <a:t>frame</a:t>
            </a:r>
          </a:p>
        </p:txBody>
      </p:sp>
      <p:sp>
        <p:nvSpPr>
          <p:cNvPr id="79" name="text-50">
            <a:extLst xmlns:a="http://schemas.openxmlformats.org/drawingml/2006/main">
              <a:ext uri="{FF2B5EF4-FFF2-40B4-BE49-F238E27FC236}">
                <a16:creationId xmlns:a16="http://schemas.microsoft.com/office/drawing/2014/main" id="{52D60D53-9884-4559-B3D5-4F507801E66A}"/>
              </a:ext>
            </a:extLst>
          </p:cNvPr>
          <p:cNvSpPr>
            <a:spLocks xmlns:a="http://schemas.openxmlformats.org/drawingml/2006/main" noGrp="1"/>
          </p:cNvSpPr>
          <p:nvPr/>
        </p:nvSpPr>
        <p:spPr>
          <a:xfrm xmlns:a="http://schemas.openxmlformats.org/drawingml/2006/main">
            <a:off x="24660225" y="27308175"/>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N/A</a:t>
            </a:r>
          </a:p>
        </p:txBody>
      </p:sp>
      <p:sp>
        <p:nvSpPr>
          <p:cNvPr id="80" name="text-51">
            <a:extLst xmlns:a="http://schemas.openxmlformats.org/drawingml/2006/main">
              <a:ext uri="{FF2B5EF4-FFF2-40B4-BE49-F238E27FC236}">
                <a16:creationId xmlns:a16="http://schemas.microsoft.com/office/drawing/2014/main" id="{2A1D9E89-27FE-4AEA-A298-8C14A6C49131}"/>
              </a:ext>
            </a:extLst>
          </p:cNvPr>
          <p:cNvSpPr>
            <a:spLocks xmlns:a="http://schemas.openxmlformats.org/drawingml/2006/main" noGrp="1"/>
          </p:cNvSpPr>
          <p:nvPr/>
        </p:nvSpPr>
        <p:spPr>
          <a:xfrm xmlns:a="http://schemas.openxmlformats.org/drawingml/2006/main">
            <a:off x="10477500" y="28003500"/>
            <a:ext cx="18732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526675"/>
                </a:solidFill>
                <a:latin typeface="Calibri"/>
                <a:ea typeface="Calibri"/>
                <a:cs typeface="Calibri"/>
              </a:defRPr>
            </a:defPPr>
          </a:lstStyle>
          <a:p xmlns:a="http://schemas.openxmlformats.org/drawingml/2006/main">
            <a:pPr algn="l">
              <a:defRPr sz="2625" b="0">
                <a:solidFill>
                  <a:srgbClr val="526675"/>
                </a:solidFill>
                <a:latin typeface="Calibri"/>
                <a:ea typeface="Calibri"/>
                <a:cs typeface="Calibri"/>
              </a:defRPr>
            </a:pPr>
            <a:r>
              <a:rPr sz="2625" b="0">
                <a:solidFill>
                  <a:srgbClr val="526675"/>
                </a:solidFill>
                <a:latin typeface="Calibri"/>
                <a:ea typeface="Calibri"/>
                <a:cs typeface="Calibri"/>
              </a:rPr>
              <a:t>Matched TX attenuation; headings show the mean measured SNR of both schemes.</a:t>
            </a:r>
          </a:p>
          <a:p xmlns:a="http://schemas.openxmlformats.org/drawingml/2006/main">
            <a:pPr algn="l">
              <a:defRPr sz="2625" b="0">
                <a:solidFill>
                  <a:srgbClr val="526675"/>
                </a:solidFill>
                <a:latin typeface="Calibri"/>
                <a:ea typeface="Calibri"/>
                <a:cs typeface="Calibri"/>
              </a:defRPr>
            </a:pPr>
            <a:r>
              <a:rPr sz="2625" b="0">
                <a:solidFill>
                  <a:srgbClr val="526675"/>
                </a:solidFill>
                <a:latin typeface="Calibri"/>
                <a:ea typeface="Calibri"/>
                <a:cs typeface="Calibri"/>
              </a:rPr>
              <a:t>Image labels: single-frame PSNR (dB) / SSIM. Undecodable frames are scored as mid-gray.</a:t>
            </a:r>
          </a:p>
        </p:txBody>
      </p:sp>
      <p:sp>
        <p:nvSpPr>
          <p:cNvPr id="81" name="text-52">
            <a:extLst xmlns:a="http://schemas.openxmlformats.org/drawingml/2006/main">
              <a:ext uri="{FF2B5EF4-FFF2-40B4-BE49-F238E27FC236}">
                <a16:creationId xmlns:a16="http://schemas.microsoft.com/office/drawing/2014/main" id="{86B34049-A302-4342-B1C4-D9FE90A4696A}"/>
              </a:ext>
            </a:extLst>
          </p:cNvPr>
          <p:cNvSpPr>
            <a:spLocks xmlns:a="http://schemas.openxmlformats.org/drawingml/2006/main" noGrp="1"/>
          </p:cNvSpPr>
          <p:nvPr/>
        </p:nvSpPr>
        <p:spPr>
          <a:xfrm xmlns:a="http://schemas.openxmlformats.org/drawingml/2006/main">
            <a:off x="1066800" y="29813250"/>
            <a:ext cx="13573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725" b="1">
                <a:solidFill>
                  <a:srgbClr val="0B4F8A"/>
                </a:solidFill>
                <a:latin typeface="Calibri"/>
                <a:ea typeface="Calibri"/>
                <a:cs typeface="Calibri"/>
              </a:defRPr>
            </a:defPPr>
          </a:lstStyle>
          <a:p xmlns:a="http://schemas.openxmlformats.org/drawingml/2006/main">
            <a:pPr algn="l">
              <a:defRPr sz="4725" b="1">
                <a:solidFill>
                  <a:srgbClr val="0B4F8A"/>
                </a:solidFill>
                <a:latin typeface="Calibri"/>
                <a:ea typeface="Calibri"/>
                <a:cs typeface="Calibri"/>
              </a:defRPr>
            </a:pPr>
            <a:r>
              <a:rPr sz="4725" b="1">
                <a:solidFill>
                  <a:srgbClr val="0B4F8A"/>
                </a:solidFill>
                <a:latin typeface="Calibri"/>
                <a:ea typeface="Calibri"/>
                <a:cs typeface="Calibri"/>
              </a:rPr>
              <a:t>Streaming FPGA implementation</a:t>
            </a:r>
          </a:p>
        </p:txBody>
      </p:sp>
      <p:sp>
        <p:nvSpPr>
          <p:cNvPr id="82" name="text-53">
            <a:extLst xmlns:a="http://schemas.openxmlformats.org/drawingml/2006/main">
              <a:ext uri="{FF2B5EF4-FFF2-40B4-BE49-F238E27FC236}">
                <a16:creationId xmlns:a16="http://schemas.microsoft.com/office/drawing/2014/main" id="{78FC9EAD-454E-4ADE-93F1-1C5A4B32427E}"/>
              </a:ext>
            </a:extLst>
          </p:cNvPr>
          <p:cNvSpPr>
            <a:spLocks xmlns:a="http://schemas.openxmlformats.org/drawingml/2006/main" noGrp="1"/>
          </p:cNvSpPr>
          <p:nvPr/>
        </p:nvSpPr>
        <p:spPr>
          <a:xfrm xmlns:a="http://schemas.openxmlformats.org/drawingml/2006/main">
            <a:off x="1066800" y="30689550"/>
            <a:ext cx="13573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0">
                <a:solidFill>
                  <a:srgbClr val="526675"/>
                </a:solidFill>
                <a:latin typeface="Calibri"/>
                <a:ea typeface="Calibri"/>
                <a:cs typeface="Calibri"/>
              </a:defRPr>
            </a:defPPr>
          </a:lstStyle>
          <a:p xmlns:a="http://schemas.openxmlformats.org/drawingml/2006/main">
            <a:pPr algn="l">
              <a:defRPr sz="3300" b="0">
                <a:solidFill>
                  <a:srgbClr val="526675"/>
                </a:solidFill>
                <a:latin typeface="Calibri"/>
                <a:ea typeface="Calibri"/>
                <a:cs typeface="Calibri"/>
              </a:defRPr>
            </a:pPr>
            <a:r>
              <a:rPr sz="3300" b="0">
                <a:solidFill>
                  <a:srgbClr val="526675"/>
                </a:solidFill>
                <a:latin typeface="Calibri"/>
                <a:ea typeface="Calibri"/>
                <a:cs typeface="Calibri"/>
              </a:rPr>
              <a:t>250 MHz, W8A12, 2.33 GMAC per frame</a:t>
            </a:r>
          </a:p>
        </p:txBody>
      </p:sp>
      <p:sp>
        <p:nvSpPr>
          <p:cNvPr id="83" name="module-Line buffer">
            <a:extLst xmlns:a="http://schemas.openxmlformats.org/drawingml/2006/main">
              <a:ext uri="{FF2B5EF4-FFF2-40B4-BE49-F238E27FC236}">
                <a16:creationId xmlns:a16="http://schemas.microsoft.com/office/drawing/2014/main" id="{C6ED029D-D2CE-4725-BA9D-CD8531F35200}"/>
              </a:ext>
            </a:extLst>
          </p:cNvPr>
          <p:cNvSpPr>
            <a:spLocks xmlns:a="http://schemas.openxmlformats.org/drawingml/2006/main" noGrp="1"/>
          </p:cNvSpPr>
          <p:nvPr/>
        </p:nvSpPr>
        <p:spPr>
          <a:xfrm xmlns:a="http://schemas.openxmlformats.org/drawingml/2006/main">
            <a:off x="1066800" y="33004125"/>
            <a:ext cx="2781300" cy="1362075"/>
          </a:xfrm>
          <a:prstGeom xmlns:a="http://schemas.openxmlformats.org/drawingml/2006/main" prst="rect">
            <a:avLst/>
          </a:prstGeom>
          <a:solidFill xmlns:a="http://schemas.openxmlformats.org/drawingml/2006/main">
            <a:srgbClr val="EEF4F8"/>
          </a:solidFill>
          <a:ln xmlns:a="http://schemas.openxmlformats.org/drawingml/2006/main" w="22860">
            <a:solidFill>
              <a:srgbClr val="0B4F8A"/>
            </a:solidFill>
          </a:ln>
        </p:spPr>
      </p:sp>
      <p:sp>
        <p:nvSpPr>
          <p:cNvPr id="84" name="text-54">
            <a:extLst xmlns:a="http://schemas.openxmlformats.org/drawingml/2006/main">
              <a:ext uri="{FF2B5EF4-FFF2-40B4-BE49-F238E27FC236}">
                <a16:creationId xmlns:a16="http://schemas.microsoft.com/office/drawing/2014/main" id="{3CAF8B85-70F2-431A-949F-40838D9CAF9B}"/>
              </a:ext>
            </a:extLst>
          </p:cNvPr>
          <p:cNvSpPr>
            <a:spLocks xmlns:a="http://schemas.openxmlformats.org/drawingml/2006/main" noGrp="1"/>
          </p:cNvSpPr>
          <p:nvPr/>
        </p:nvSpPr>
        <p:spPr>
          <a:xfrm xmlns:a="http://schemas.openxmlformats.org/drawingml/2006/main">
            <a:off x="1181100" y="33156525"/>
            <a:ext cx="2552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Line buffer</a:t>
            </a:r>
          </a:p>
        </p:txBody>
      </p:sp>
      <p:sp>
        <p:nvSpPr>
          <p:cNvPr id="85" name="text-55">
            <a:extLst xmlns:a="http://schemas.openxmlformats.org/drawingml/2006/main">
              <a:ext uri="{FF2B5EF4-FFF2-40B4-BE49-F238E27FC236}">
                <a16:creationId xmlns:a16="http://schemas.microsoft.com/office/drawing/2014/main" id="{FD01B600-DCA4-46CB-8FD9-46839B375206}"/>
              </a:ext>
            </a:extLst>
          </p:cNvPr>
          <p:cNvSpPr>
            <a:spLocks xmlns:a="http://schemas.openxmlformats.org/drawingml/2006/main" noGrp="1"/>
          </p:cNvSpPr>
          <p:nvPr/>
        </p:nvSpPr>
        <p:spPr>
          <a:xfrm xmlns:a="http://schemas.openxmlformats.org/drawingml/2006/main">
            <a:off x="1181100" y="33689925"/>
            <a:ext cx="2552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K or K+1 rows</a:t>
            </a:r>
          </a:p>
        </p:txBody>
      </p:sp>
      <p:sp>
        <p:nvSpPr>
          <p:cNvPr id="86" name="module-Window">
            <a:extLst xmlns:a="http://schemas.openxmlformats.org/drawingml/2006/main">
              <a:ext uri="{FF2B5EF4-FFF2-40B4-BE49-F238E27FC236}">
                <a16:creationId xmlns:a16="http://schemas.microsoft.com/office/drawing/2014/main" id="{B7FB7376-F6D6-4FAC-931C-5E34C8E4EE9D}"/>
              </a:ext>
            </a:extLst>
          </p:cNvPr>
          <p:cNvSpPr>
            <a:spLocks xmlns:a="http://schemas.openxmlformats.org/drawingml/2006/main" noGrp="1"/>
          </p:cNvSpPr>
          <p:nvPr/>
        </p:nvSpPr>
        <p:spPr>
          <a:xfrm xmlns:a="http://schemas.openxmlformats.org/drawingml/2006/main">
            <a:off x="4419600" y="33004125"/>
            <a:ext cx="2781300" cy="1362075"/>
          </a:xfrm>
          <a:prstGeom xmlns:a="http://schemas.openxmlformats.org/drawingml/2006/main" prst="rect">
            <a:avLst/>
          </a:prstGeom>
          <a:solidFill xmlns:a="http://schemas.openxmlformats.org/drawingml/2006/main">
            <a:srgbClr val="EEF4F8"/>
          </a:solidFill>
          <a:ln xmlns:a="http://schemas.openxmlformats.org/drawingml/2006/main" w="22860">
            <a:solidFill>
              <a:srgbClr val="0B4F8A"/>
            </a:solidFill>
          </a:ln>
        </p:spPr>
      </p:sp>
      <p:sp>
        <p:nvSpPr>
          <p:cNvPr id="87" name="text-56">
            <a:extLst xmlns:a="http://schemas.openxmlformats.org/drawingml/2006/main">
              <a:ext uri="{FF2B5EF4-FFF2-40B4-BE49-F238E27FC236}">
                <a16:creationId xmlns:a16="http://schemas.microsoft.com/office/drawing/2014/main" id="{6A308B70-7D2A-48EE-B89F-358B54D9EBFA}"/>
              </a:ext>
            </a:extLst>
          </p:cNvPr>
          <p:cNvSpPr>
            <a:spLocks xmlns:a="http://schemas.openxmlformats.org/drawingml/2006/main" noGrp="1"/>
          </p:cNvSpPr>
          <p:nvPr/>
        </p:nvSpPr>
        <p:spPr>
          <a:xfrm xmlns:a="http://schemas.openxmlformats.org/drawingml/2006/main">
            <a:off x="4533900" y="33156525"/>
            <a:ext cx="2552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Window</a:t>
            </a:r>
          </a:p>
        </p:txBody>
      </p:sp>
      <p:sp>
        <p:nvSpPr>
          <p:cNvPr id="88" name="text-57">
            <a:extLst xmlns:a="http://schemas.openxmlformats.org/drawingml/2006/main">
              <a:ext uri="{FF2B5EF4-FFF2-40B4-BE49-F238E27FC236}">
                <a16:creationId xmlns:a16="http://schemas.microsoft.com/office/drawing/2014/main" id="{5278B521-0B41-4766-B2AE-E31F3E33D303}"/>
              </a:ext>
            </a:extLst>
          </p:cNvPr>
          <p:cNvSpPr>
            <a:spLocks xmlns:a="http://schemas.openxmlformats.org/drawingml/2006/main" noGrp="1"/>
          </p:cNvSpPr>
          <p:nvPr/>
        </p:nvSpPr>
        <p:spPr>
          <a:xfrm xmlns:a="http://schemas.openxmlformats.org/drawingml/2006/main">
            <a:off x="4533900" y="33689925"/>
            <a:ext cx="2552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K × K × Cin</a:t>
            </a:r>
          </a:p>
        </p:txBody>
      </p:sp>
      <p:sp>
        <p:nvSpPr>
          <p:cNvPr id="89" name="module-P MAC lanes">
            <a:extLst xmlns:a="http://schemas.openxmlformats.org/drawingml/2006/main">
              <a:ext uri="{FF2B5EF4-FFF2-40B4-BE49-F238E27FC236}">
                <a16:creationId xmlns:a16="http://schemas.microsoft.com/office/drawing/2014/main" id="{4CC8540A-BDB7-4986-B1B8-3B51913C0AD7}"/>
              </a:ext>
            </a:extLst>
          </p:cNvPr>
          <p:cNvSpPr>
            <a:spLocks xmlns:a="http://schemas.openxmlformats.org/drawingml/2006/main" noGrp="1"/>
          </p:cNvSpPr>
          <p:nvPr/>
        </p:nvSpPr>
        <p:spPr>
          <a:xfrm xmlns:a="http://schemas.openxmlformats.org/drawingml/2006/main">
            <a:off x="7772400" y="33004125"/>
            <a:ext cx="2781300" cy="1362075"/>
          </a:xfrm>
          <a:prstGeom xmlns:a="http://schemas.openxmlformats.org/drawingml/2006/main" prst="rect">
            <a:avLst/>
          </a:prstGeom>
          <a:solidFill xmlns:a="http://schemas.openxmlformats.org/drawingml/2006/main">
            <a:srgbClr val="FFF3CC"/>
          </a:solidFill>
          <a:ln xmlns:a="http://schemas.openxmlformats.org/drawingml/2006/main" w="22860">
            <a:solidFill>
              <a:srgbClr val="0B4F8A"/>
            </a:solidFill>
          </a:ln>
        </p:spPr>
      </p:sp>
      <p:sp>
        <p:nvSpPr>
          <p:cNvPr id="90" name="text-58">
            <a:extLst xmlns:a="http://schemas.openxmlformats.org/drawingml/2006/main">
              <a:ext uri="{FF2B5EF4-FFF2-40B4-BE49-F238E27FC236}">
                <a16:creationId xmlns:a16="http://schemas.microsoft.com/office/drawing/2014/main" id="{B1FCEFB9-068A-4CC9-AFB7-BE6D3FA82B1D}"/>
              </a:ext>
            </a:extLst>
          </p:cNvPr>
          <p:cNvSpPr>
            <a:spLocks xmlns:a="http://schemas.openxmlformats.org/drawingml/2006/main" noGrp="1"/>
          </p:cNvSpPr>
          <p:nvPr/>
        </p:nvSpPr>
        <p:spPr>
          <a:xfrm xmlns:a="http://schemas.openxmlformats.org/drawingml/2006/main">
            <a:off x="7886700" y="33156525"/>
            <a:ext cx="2552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P MAC lanes</a:t>
            </a:r>
          </a:p>
        </p:txBody>
      </p:sp>
      <p:sp>
        <p:nvSpPr>
          <p:cNvPr id="91" name="text-59">
            <a:extLst xmlns:a="http://schemas.openxmlformats.org/drawingml/2006/main">
              <a:ext uri="{FF2B5EF4-FFF2-40B4-BE49-F238E27FC236}">
                <a16:creationId xmlns:a16="http://schemas.microsoft.com/office/drawing/2014/main" id="{05AC71A6-93B1-464F-8CF5-582A7483523C}"/>
              </a:ext>
            </a:extLst>
          </p:cNvPr>
          <p:cNvSpPr>
            <a:spLocks xmlns:a="http://schemas.openxmlformats.org/drawingml/2006/main" noGrp="1"/>
          </p:cNvSpPr>
          <p:nvPr/>
        </p:nvSpPr>
        <p:spPr>
          <a:xfrm xmlns:a="http://schemas.openxmlformats.org/drawingml/2006/main">
            <a:off x="7886700" y="33689925"/>
            <a:ext cx="2552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P accumulators</a:t>
            </a:r>
          </a:p>
        </p:txBody>
      </p:sp>
      <p:sp>
        <p:nvSpPr>
          <p:cNvPr id="92" name="module-Requantize">
            <a:extLst xmlns:a="http://schemas.openxmlformats.org/drawingml/2006/main">
              <a:ext uri="{FF2B5EF4-FFF2-40B4-BE49-F238E27FC236}">
                <a16:creationId xmlns:a16="http://schemas.microsoft.com/office/drawing/2014/main" id="{664BF14E-690E-40C0-8687-BA3EC63FE4DD}"/>
              </a:ext>
            </a:extLst>
          </p:cNvPr>
          <p:cNvSpPr>
            <a:spLocks xmlns:a="http://schemas.openxmlformats.org/drawingml/2006/main" noGrp="1"/>
          </p:cNvSpPr>
          <p:nvPr/>
        </p:nvSpPr>
        <p:spPr>
          <a:xfrm xmlns:a="http://schemas.openxmlformats.org/drawingml/2006/main">
            <a:off x="11125200" y="33004125"/>
            <a:ext cx="2781300" cy="1362075"/>
          </a:xfrm>
          <a:prstGeom xmlns:a="http://schemas.openxmlformats.org/drawingml/2006/main" prst="rect">
            <a:avLst/>
          </a:prstGeom>
          <a:solidFill xmlns:a="http://schemas.openxmlformats.org/drawingml/2006/main">
            <a:srgbClr val="FFF3CC"/>
          </a:solidFill>
          <a:ln xmlns:a="http://schemas.openxmlformats.org/drawingml/2006/main" w="22860">
            <a:solidFill>
              <a:srgbClr val="0B4F8A"/>
            </a:solidFill>
          </a:ln>
        </p:spPr>
      </p:sp>
      <p:sp>
        <p:nvSpPr>
          <p:cNvPr id="93" name="text-60">
            <a:extLst xmlns:a="http://schemas.openxmlformats.org/drawingml/2006/main">
              <a:ext uri="{FF2B5EF4-FFF2-40B4-BE49-F238E27FC236}">
                <a16:creationId xmlns:a16="http://schemas.microsoft.com/office/drawing/2014/main" id="{90058749-5146-4D87-8B6C-2B8A6A5AAC96}"/>
              </a:ext>
            </a:extLst>
          </p:cNvPr>
          <p:cNvSpPr>
            <a:spLocks xmlns:a="http://schemas.openxmlformats.org/drawingml/2006/main" noGrp="1"/>
          </p:cNvSpPr>
          <p:nvPr/>
        </p:nvSpPr>
        <p:spPr>
          <a:xfrm xmlns:a="http://schemas.openxmlformats.org/drawingml/2006/main">
            <a:off x="11239500" y="33156525"/>
            <a:ext cx="2552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Requantize</a:t>
            </a:r>
          </a:p>
        </p:txBody>
      </p:sp>
      <p:sp>
        <p:nvSpPr>
          <p:cNvPr id="94" name="text-61">
            <a:extLst xmlns:a="http://schemas.openxmlformats.org/drawingml/2006/main">
              <a:ext uri="{FF2B5EF4-FFF2-40B4-BE49-F238E27FC236}">
                <a16:creationId xmlns:a16="http://schemas.microsoft.com/office/drawing/2014/main" id="{E340B44D-F6DF-4120-B611-1FE45567AB7D}"/>
              </a:ext>
            </a:extLst>
          </p:cNvPr>
          <p:cNvSpPr>
            <a:spLocks xmlns:a="http://schemas.openxmlformats.org/drawingml/2006/main" noGrp="1"/>
          </p:cNvSpPr>
          <p:nvPr/>
        </p:nvSpPr>
        <p:spPr>
          <a:xfrm xmlns:a="http://schemas.openxmlformats.org/drawingml/2006/main">
            <a:off x="11239500" y="33689925"/>
            <a:ext cx="2552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Bias, act., shift</a:t>
            </a:r>
          </a:p>
        </p:txBody>
      </p:sp>
      <p:sp>
        <p:nvSpPr>
          <p:cNvPr id="98" name="module-Weight ROM">
            <a:extLst xmlns:a="http://schemas.openxmlformats.org/drawingml/2006/main">
              <a:ext uri="{FF2B5EF4-FFF2-40B4-BE49-F238E27FC236}">
                <a16:creationId xmlns:a16="http://schemas.microsoft.com/office/drawing/2014/main" id="{72FCCA81-253B-494F-AA3C-9D10EE05D35D}"/>
              </a:ext>
            </a:extLst>
          </p:cNvPr>
          <p:cNvSpPr>
            <a:spLocks xmlns:a="http://schemas.openxmlformats.org/drawingml/2006/main" noGrp="1"/>
          </p:cNvSpPr>
          <p:nvPr/>
        </p:nvSpPr>
        <p:spPr>
          <a:xfrm xmlns:a="http://schemas.openxmlformats.org/drawingml/2006/main">
            <a:off x="7772400" y="31670625"/>
            <a:ext cx="2781300" cy="904875"/>
          </a:xfrm>
          <a:prstGeom xmlns:a="http://schemas.openxmlformats.org/drawingml/2006/main" prst="rect">
            <a:avLst/>
          </a:prstGeom>
          <a:solidFill xmlns:a="http://schemas.openxmlformats.org/drawingml/2006/main">
            <a:srgbClr val="EAF1DE"/>
          </a:solidFill>
          <a:ln xmlns:a="http://schemas.openxmlformats.org/drawingml/2006/main" w="22860">
            <a:solidFill>
              <a:srgbClr val="0B4F8A"/>
            </a:solidFill>
          </a:ln>
        </p:spPr>
      </p:sp>
      <p:sp>
        <p:nvSpPr>
          <p:cNvPr id="99" name="text-62">
            <a:extLst xmlns:a="http://schemas.openxmlformats.org/drawingml/2006/main">
              <a:ext uri="{FF2B5EF4-FFF2-40B4-BE49-F238E27FC236}">
                <a16:creationId xmlns:a16="http://schemas.microsoft.com/office/drawing/2014/main" id="{77936FD0-21A4-40B1-8ACB-D63C9EAA1E68}"/>
              </a:ext>
            </a:extLst>
          </p:cNvPr>
          <p:cNvSpPr>
            <a:spLocks xmlns:a="http://schemas.openxmlformats.org/drawingml/2006/main" noGrp="1"/>
          </p:cNvSpPr>
          <p:nvPr/>
        </p:nvSpPr>
        <p:spPr>
          <a:xfrm xmlns:a="http://schemas.openxmlformats.org/drawingml/2006/main">
            <a:off x="7886700" y="31823025"/>
            <a:ext cx="2552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Weight ROM</a:t>
            </a:r>
          </a:p>
        </p:txBody>
      </p:sp>
      <p:sp>
        <p:nvSpPr>
          <p:cNvPr id="101" name="text-63">
            <a:extLst xmlns:a="http://schemas.openxmlformats.org/drawingml/2006/main">
              <a:ext uri="{FF2B5EF4-FFF2-40B4-BE49-F238E27FC236}">
                <a16:creationId xmlns:a16="http://schemas.microsoft.com/office/drawing/2014/main" id="{6669C19A-93FD-4F1C-A64B-B3165B0302F4}"/>
              </a:ext>
            </a:extLst>
          </p:cNvPr>
          <p:cNvSpPr>
            <a:spLocks xmlns:a="http://schemas.openxmlformats.org/drawingml/2006/main" noGrp="1"/>
          </p:cNvSpPr>
          <p:nvPr/>
        </p:nvSpPr>
        <p:spPr>
          <a:xfrm xmlns:a="http://schemas.openxmlformats.org/drawingml/2006/main">
            <a:off x="1066800" y="34766250"/>
            <a:ext cx="13573125"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0">
                <a:solidFill>
                  <a:srgbClr val="20303D"/>
                </a:solidFill>
                <a:latin typeface="Calibri"/>
                <a:ea typeface="Calibri"/>
                <a:cs typeface="Calibri"/>
              </a:defRPr>
            </a:defPPr>
          </a:lstStyle>
          <a:p xmlns:a="http://schemas.openxmlformats.org/drawingml/2006/main">
            <a:pPr algn="l">
              <a:defRPr sz="3075" b="0">
                <a:solidFill>
                  <a:srgbClr val="20303D"/>
                </a:solidFill>
                <a:latin typeface="Calibri"/>
                <a:ea typeface="Calibri"/>
                <a:cs typeface="Calibri"/>
              </a:defRPr>
            </a:pPr>
            <a:r>
              <a:rPr sz="3075" b="0">
                <a:solidFill>
                  <a:srgbClr val="20303D"/>
                </a:solidFill>
                <a:latin typeface="Calibri"/>
                <a:ea typeface="Calibri"/>
                <a:cs typeface="Calibri"/>
              </a:rPr>
              <a:t>Dedicated engines form a layer pipeline. P is chosen to sustain 30 fps.</a:t>
            </a:r>
          </a:p>
          <a:p xmlns:a="http://schemas.openxmlformats.org/drawingml/2006/main">
            <a:pPr algn="l">
              <a:defRPr sz="3075" b="0">
                <a:solidFill>
                  <a:srgbClr val="20303D"/>
                </a:solidFill>
                <a:latin typeface="Calibri"/>
                <a:ea typeface="Calibri"/>
                <a:cs typeface="Calibri"/>
              </a:defRPr>
            </a:pPr>
            <a:r>
              <a:rPr sz="3075" b="0">
                <a:solidFill>
                  <a:srgbClr val="20303D"/>
                </a:solidFill>
                <a:latin typeface="Calibri"/>
                <a:ea typeface="Calibri"/>
                <a:cs typeface="Calibri"/>
              </a:rPr>
              <a:t>On-chip weights and buffers avoid storing full intermediate feature maps.</a:t>
            </a:r>
          </a:p>
        </p:txBody>
      </p:sp>
      <p:sp>
        <p:nvSpPr>
          <p:cNvPr id="102" name="text-64">
            <a:extLst xmlns:a="http://schemas.openxmlformats.org/drawingml/2006/main">
              <a:ext uri="{FF2B5EF4-FFF2-40B4-BE49-F238E27FC236}">
                <a16:creationId xmlns:a16="http://schemas.microsoft.com/office/drawing/2014/main" id="{616785C3-69A5-4288-8543-ABF30A8AF002}"/>
              </a:ext>
            </a:extLst>
          </p:cNvPr>
          <p:cNvSpPr>
            <a:spLocks xmlns:a="http://schemas.openxmlformats.org/drawingml/2006/main" noGrp="1"/>
          </p:cNvSpPr>
          <p:nvPr/>
        </p:nvSpPr>
        <p:spPr>
          <a:xfrm xmlns:a="http://schemas.openxmlformats.org/drawingml/2006/main">
            <a:off x="1066800" y="36385500"/>
            <a:ext cx="13573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4F8A"/>
                </a:solidFill>
                <a:latin typeface="Calibri"/>
                <a:ea typeface="Calibri"/>
                <a:cs typeface="Calibri"/>
              </a:defRPr>
            </a:defPPr>
          </a:lstStyle>
          <a:p xmlns:a="http://schemas.openxmlformats.org/drawingml/2006/main">
            <a:pPr algn="l">
              <a:defRPr sz="3225" b="1">
                <a:solidFill>
                  <a:srgbClr val="0B4F8A"/>
                </a:solidFill>
                <a:latin typeface="Calibri"/>
                <a:ea typeface="Calibri"/>
                <a:cs typeface="Calibri"/>
              </a:defRPr>
            </a:pPr>
            <a:r>
              <a:rPr sz="3225" b="1">
                <a:solidFill>
                  <a:srgbClr val="0B4F8A"/>
                </a:solidFill>
                <a:latin typeface="Calibri"/>
                <a:ea typeface="Calibri"/>
                <a:cs typeface="Calibri"/>
              </a:rPr>
              <a:t>Full TX / RX designs after routing (xczu5eg)</a:t>
            </a:r>
          </a:p>
        </p:txBody>
      </p:sp>
      <p:graphicFrame>
        <p:nvGraphicFramePr>
          <p:cNvPr id="103" name="">
            <a:extLst xmlns:a="http://schemas.openxmlformats.org/drawingml/2006/main">
              <a:ext uri="{FF2B5EF4-FFF2-40B4-BE49-F238E27FC236}">
                <a16:creationId xmlns:a16="http://schemas.microsoft.com/office/drawing/2014/main" id="{FC9D60F6-BAA8-475D-AE36-3E7AE9404C05}"/>
              </a:ext>
            </a:extLst>
          </p:cNvPr>
          <p:cNvGraphicFramePr/>
          <p:nvPr/>
        </p:nvGraphicFramePr>
        <p:xfrm>
          <a:off xmlns:a="http://schemas.openxmlformats.org/drawingml/2006/main" x="1066800" y="37195125"/>
          <a:ext xmlns:a="http://schemas.openxmlformats.org/drawingml/2006/main" cx="13573125" cy="2286000"/>
        </p:xfrm>
        <a:graphic xmlns:a="http://schemas.openxmlformats.org/drawingml/2006/main">
          <a:graphicData uri="http://schemas.openxmlformats.org/drawingml/2006/table">
            <a:tbl>
              <a:tblPr/>
              <a:tblGrid>
                <a:gridCol w="1905000"/>
                <a:gridCol w="3238500"/>
                <a:gridCol w="3143250"/>
                <a:gridCol w="2476500"/>
                <a:gridCol w="2809875"/>
              </a:tblGrid>
              <a:tr h="762000">
                <a:tc>
                  <a:txBody>
                    <a:bodyPr lIns="133350" tIns="133350" rIns="133350" bIns="133350"/>
                    <a:lstStyle/>
                    <a:p>
                      <a:pPr algn="l"/>
                      <a:r>
                        <a:rPr sz="2925" b="1">
                          <a:solidFill>
                            <a:srgbClr val="0B4F8A"/>
                          </a:solidFill>
                          <a:latin typeface="Calibri"/>
                          <a:ea typeface="Calibri"/>
                          <a:cs typeface="Calibri"/>
                        </a:rPr>
                        <a:t>Design</a:t>
                      </a:r>
                    </a:p>
                  </a:txBody>
                  <a:tcPr marL="91440" marR="91440" marT="45720" marB="45720" anchor="ctr">
                    <a:lnL w="11430">
                      <a:solidFill>
                        <a:srgbClr val="D3DEE6"/>
                      </a:solidFill>
                      <a:prstDash val="solid"/>
                    </a:lnL>
                    <a:lnR w="11430">
                      <a:solidFill>
                        <a:srgbClr val="D3DEE6"/>
                      </a:solidFill>
                      <a:prstDash val="solid"/>
                    </a:lnR>
                    <a:lnT w="11430">
                      <a:solidFill>
                        <a:srgbClr val="D3DEE6"/>
                      </a:solidFill>
                      <a:prstDash val="solid"/>
                    </a:lnT>
                    <a:lnB w="11430">
                      <a:solidFill>
                        <a:srgbClr val="D3DEE6"/>
                      </a:solidFill>
                      <a:prstDash val="solid"/>
                    </a:lnB>
                    <a:solidFill>
                      <a:srgbClr val="EEF4F8"/>
                    </a:solidFill>
                  </a:tcPr>
                </a:tc>
                <a:tc>
                  <a:txBody>
                    <a:bodyPr lIns="133350" tIns="133350" rIns="133350" bIns="133350"/>
                    <a:lstStyle/>
                    <a:p>
                      <a:pPr algn="ctr"/>
                      <a:r>
                        <a:rPr sz="2925" b="1">
                          <a:solidFill>
                            <a:srgbClr val="0B4F8A"/>
                          </a:solidFill>
                          <a:latin typeface="Calibri"/>
                          <a:ea typeface="Calibri"/>
                          <a:cs typeface="Calibri"/>
                        </a:rPr>
                        <a:t>LUT</a:t>
                      </a:r>
                    </a:p>
                  </a:txBody>
                  <a:tcPr marL="91440" marR="91440" marT="45720" marB="45720" anchor="ctr">
                    <a:lnR w="11430">
                      <a:solidFill>
                        <a:srgbClr val="D3DEE6"/>
                      </a:solidFill>
                      <a:prstDash val="solid"/>
                    </a:lnR>
                    <a:lnT w="11430">
                      <a:solidFill>
                        <a:srgbClr val="D3DEE6"/>
                      </a:solidFill>
                      <a:prstDash val="solid"/>
                    </a:lnT>
                    <a:lnB w="11430">
                      <a:solidFill>
                        <a:srgbClr val="D3DEE6"/>
                      </a:solidFill>
                      <a:prstDash val="solid"/>
                    </a:lnB>
                    <a:solidFill>
                      <a:srgbClr val="EEF4F8"/>
                    </a:solidFill>
                  </a:tcPr>
                </a:tc>
                <a:tc>
                  <a:txBody>
                    <a:bodyPr lIns="133350" tIns="133350" rIns="133350" bIns="133350"/>
                    <a:lstStyle/>
                    <a:p>
                      <a:pPr algn="ctr"/>
                      <a:r>
                        <a:rPr sz="2925" b="1">
                          <a:solidFill>
                            <a:srgbClr val="0B4F8A"/>
                          </a:solidFill>
                          <a:latin typeface="Calibri"/>
                          <a:ea typeface="Calibri"/>
                          <a:cs typeface="Calibri"/>
                        </a:rPr>
                        <a:t>BRAM36</a:t>
                      </a:r>
                    </a:p>
                  </a:txBody>
                  <a:tcPr marL="91440" marR="91440" marT="45720" marB="45720" anchor="ctr">
                    <a:lnR w="11430">
                      <a:solidFill>
                        <a:srgbClr val="D3DEE6"/>
                      </a:solidFill>
                      <a:prstDash val="solid"/>
                    </a:lnR>
                    <a:lnT w="11430">
                      <a:solidFill>
                        <a:srgbClr val="D3DEE6"/>
                      </a:solidFill>
                      <a:prstDash val="solid"/>
                    </a:lnT>
                    <a:lnB w="11430">
                      <a:solidFill>
                        <a:srgbClr val="D3DEE6"/>
                      </a:solidFill>
                      <a:prstDash val="solid"/>
                    </a:lnB>
                    <a:solidFill>
                      <a:srgbClr val="EEF4F8"/>
                    </a:solidFill>
                  </a:tcPr>
                </a:tc>
                <a:tc>
                  <a:txBody>
                    <a:bodyPr lIns="133350" tIns="133350" rIns="133350" bIns="133350"/>
                    <a:lstStyle/>
                    <a:p>
                      <a:pPr algn="ctr"/>
                      <a:r>
                        <a:rPr sz="2925" b="1">
                          <a:solidFill>
                            <a:srgbClr val="0B4F8A"/>
                          </a:solidFill>
                          <a:latin typeface="Calibri"/>
                          <a:ea typeface="Calibri"/>
                          <a:cs typeface="Calibri"/>
                        </a:rPr>
                        <a:t>URAM</a:t>
                      </a:r>
                    </a:p>
                  </a:txBody>
                  <a:tcPr marL="91440" marR="91440" marT="45720" marB="45720" anchor="ctr">
                    <a:lnR w="11430">
                      <a:solidFill>
                        <a:srgbClr val="D3DEE6"/>
                      </a:solidFill>
                      <a:prstDash val="solid"/>
                    </a:lnR>
                    <a:lnT w="11430">
                      <a:solidFill>
                        <a:srgbClr val="D3DEE6"/>
                      </a:solidFill>
                      <a:prstDash val="solid"/>
                    </a:lnT>
                    <a:lnB w="11430">
                      <a:solidFill>
                        <a:srgbClr val="D3DEE6"/>
                      </a:solidFill>
                      <a:prstDash val="solid"/>
                    </a:lnB>
                    <a:solidFill>
                      <a:srgbClr val="EEF4F8"/>
                    </a:solidFill>
                  </a:tcPr>
                </a:tc>
                <a:tc>
                  <a:txBody>
                    <a:bodyPr lIns="133350" tIns="133350" rIns="133350" bIns="133350"/>
                    <a:lstStyle/>
                    <a:p>
                      <a:pPr algn="ctr"/>
                      <a:r>
                        <a:rPr sz="2925" b="1">
                          <a:solidFill>
                            <a:srgbClr val="0B4F8A"/>
                          </a:solidFill>
                          <a:latin typeface="Calibri"/>
                          <a:ea typeface="Calibri"/>
                          <a:cs typeface="Calibri"/>
                        </a:rPr>
                        <a:t>DSP</a:t>
                      </a:r>
                    </a:p>
                  </a:txBody>
                  <a:tcPr marL="91440" marR="91440" marT="45720" marB="45720" anchor="ctr">
                    <a:lnR w="11430">
                      <a:solidFill>
                        <a:srgbClr val="D3DEE6"/>
                      </a:solidFill>
                      <a:prstDash val="solid"/>
                    </a:lnR>
                    <a:lnT w="11430">
                      <a:solidFill>
                        <a:srgbClr val="D3DEE6"/>
                      </a:solidFill>
                      <a:prstDash val="solid"/>
                    </a:lnT>
                    <a:lnB w="11430">
                      <a:solidFill>
                        <a:srgbClr val="D3DEE6"/>
                      </a:solidFill>
                      <a:prstDash val="solid"/>
                    </a:lnB>
                    <a:solidFill>
                      <a:srgbClr val="EEF4F8"/>
                    </a:solidFill>
                  </a:tcPr>
                </a:tc>
              </a:tr>
              <a:tr h="762000">
                <a:tc>
                  <a:txBody>
                    <a:bodyPr lIns="133350" tIns="133350" rIns="133350" bIns="133350"/>
                    <a:lstStyle/>
                    <a:p>
                      <a:pPr algn="l"/>
                      <a:r>
                        <a:rPr sz="2925" b="1">
                          <a:solidFill>
                            <a:srgbClr val="20303D"/>
                          </a:solidFill>
                          <a:latin typeface="Calibri"/>
                          <a:ea typeface="Calibri"/>
                          <a:cs typeface="Calibri"/>
                        </a:rPr>
                        <a:t>TX</a:t>
                      </a:r>
                    </a:p>
                  </a:txBody>
                  <a:tcPr marL="91440" marR="91440" marT="45720" marB="45720" anchor="ctr">
                    <a:lnL w="11430">
                      <a:solidFill>
                        <a:srgbClr val="D3DEE6"/>
                      </a:solidFill>
                      <a:prstDash val="solid"/>
                    </a:lnL>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52,679</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104.5</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10</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243</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r>
              <a:tr h="762000">
                <a:tc>
                  <a:txBody>
                    <a:bodyPr lIns="133350" tIns="133350" rIns="133350" bIns="133350"/>
                    <a:lstStyle/>
                    <a:p>
                      <a:pPr algn="l"/>
                      <a:r>
                        <a:rPr sz="2925" b="1">
                          <a:solidFill>
                            <a:srgbClr val="20303D"/>
                          </a:solidFill>
                          <a:latin typeface="Calibri"/>
                          <a:ea typeface="Calibri"/>
                          <a:cs typeface="Calibri"/>
                        </a:rPr>
                        <a:t>RX</a:t>
                      </a:r>
                    </a:p>
                  </a:txBody>
                  <a:tcPr marL="91440" marR="91440" marT="45720" marB="45720" anchor="ctr">
                    <a:lnL w="11430">
                      <a:solidFill>
                        <a:srgbClr val="D3DEE6"/>
                      </a:solidFill>
                      <a:prstDash val="solid"/>
                    </a:lnL>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70,768</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123.5</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25</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394</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r>
            </a:tbl>
          </a:graphicData>
        </a:graphic>
      </p:graphicFrame>
      <p:sp>
        <p:nvSpPr>
          <p:cNvPr id="104" name="text-65">
            <a:extLst xmlns:a="http://schemas.openxmlformats.org/drawingml/2006/main">
              <a:ext uri="{FF2B5EF4-FFF2-40B4-BE49-F238E27FC236}">
                <a16:creationId xmlns:a16="http://schemas.microsoft.com/office/drawing/2014/main" id="{9128ECD4-01A1-4351-986D-5BBA71B79EAB}"/>
              </a:ext>
            </a:extLst>
          </p:cNvPr>
          <p:cNvSpPr>
            <a:spLocks xmlns:a="http://schemas.openxmlformats.org/drawingml/2006/main" noGrp="1"/>
          </p:cNvSpPr>
          <p:nvPr/>
        </p:nvSpPr>
        <p:spPr>
          <a:xfrm xmlns:a="http://schemas.openxmlformats.org/drawingml/2006/main">
            <a:off x="1066800" y="39862125"/>
            <a:ext cx="13573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0">
                <a:solidFill>
                  <a:srgbClr val="526675"/>
                </a:solidFill>
                <a:latin typeface="Calibri"/>
                <a:ea typeface="Calibri"/>
                <a:cs typeface="Calibri"/>
              </a:defRPr>
            </a:defPPr>
          </a:lstStyle>
          <a:p xmlns:a="http://schemas.openxmlformats.org/drawingml/2006/main">
            <a:pPr algn="l">
              <a:defRPr sz="2850" b="0">
                <a:solidFill>
                  <a:srgbClr val="526675"/>
                </a:solidFill>
                <a:latin typeface="Calibri"/>
                <a:ea typeface="Calibri"/>
                <a:cs typeface="Calibri"/>
              </a:defRPr>
            </a:pPr>
            <a:r>
              <a:rPr sz="2850" b="0">
                <a:solidFill>
                  <a:srgbClr val="526675"/>
                </a:solidFill>
                <a:latin typeface="Calibri"/>
                <a:ea typeface="Calibri"/>
                <a:cs typeface="Calibri"/>
              </a:rPr>
              <a:t>Measured rails: TX 3.06 W / RX 3.71 W</a:t>
            </a:r>
          </a:p>
          <a:p xmlns:a="http://schemas.openxmlformats.org/drawingml/2006/main">
            <a:pPr algn="l">
              <a:defRPr sz="2850" b="0">
                <a:solidFill>
                  <a:srgbClr val="526675"/>
                </a:solidFill>
                <a:latin typeface="Calibri"/>
                <a:ea typeface="Calibri"/>
                <a:cs typeface="Calibri"/>
              </a:defRPr>
            </a:pPr>
            <a:r>
              <a:rPr sz="2850" b="0">
                <a:solidFill>
                  <a:srgbClr val="526675"/>
                </a:solidFill>
                <a:latin typeface="Calibri"/>
                <a:ea typeface="Calibri"/>
                <a:cs typeface="Calibri"/>
              </a:rPr>
              <a:t>PL + PS + DDR; excludes RF and input conversion losses.</a:t>
            </a:r>
          </a:p>
        </p:txBody>
      </p:sp>
      <p:sp>
        <p:nvSpPr>
          <p:cNvPr id="105" name="text-66">
            <a:extLst xmlns:a="http://schemas.openxmlformats.org/drawingml/2006/main">
              <a:ext uri="{FF2B5EF4-FFF2-40B4-BE49-F238E27FC236}">
                <a16:creationId xmlns:a16="http://schemas.microsoft.com/office/drawing/2014/main" id="{E1A7DE2D-37C3-4DB3-96D9-6E19918ABCE5}"/>
              </a:ext>
            </a:extLst>
          </p:cNvPr>
          <p:cNvSpPr>
            <a:spLocks xmlns:a="http://schemas.openxmlformats.org/drawingml/2006/main" noGrp="1"/>
          </p:cNvSpPr>
          <p:nvPr/>
        </p:nvSpPr>
        <p:spPr>
          <a:xfrm xmlns:a="http://schemas.openxmlformats.org/drawingml/2006/main">
            <a:off x="15716250" y="29813250"/>
            <a:ext cx="1349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725" b="1">
                <a:solidFill>
                  <a:srgbClr val="0B4F8A"/>
                </a:solidFill>
                <a:latin typeface="Calibri"/>
                <a:ea typeface="Calibri"/>
                <a:cs typeface="Calibri"/>
              </a:defRPr>
            </a:defPPr>
          </a:lstStyle>
          <a:p xmlns:a="http://schemas.openxmlformats.org/drawingml/2006/main">
            <a:pPr algn="l">
              <a:defRPr sz="4725" b="1">
                <a:solidFill>
                  <a:srgbClr val="0B4F8A"/>
                </a:solidFill>
                <a:latin typeface="Calibri"/>
                <a:ea typeface="Calibri"/>
                <a:cs typeface="Calibri"/>
              </a:defRPr>
            </a:pPr>
            <a:r>
              <a:rPr sz="4725" b="1">
                <a:solidFill>
                  <a:srgbClr val="0B4F8A"/>
                </a:solidFill>
                <a:latin typeface="Calibri"/>
                <a:ea typeface="Calibri"/>
                <a:cs typeface="Calibri"/>
              </a:rPr>
              <a:t>PL frame latency: 71.5 ms</a:t>
            </a:r>
          </a:p>
        </p:txBody>
      </p:sp>
      <p:graphicFrame>
        <p:nvGraphicFramePr>
          <p:cNvPr id="106" name="Chart">
            <a:extLst xmlns:a="http://schemas.openxmlformats.org/drawingml/2006/main">
              <a:ext uri="{FF2B5EF4-FFF2-40B4-BE49-F238E27FC236}">
                <a16:creationId xmlns:a16="http://schemas.microsoft.com/office/drawing/2014/main" id="{06986DE3-11C1-460A-B8B1-6AA186591A83}"/>
              </a:ext>
            </a:extLst>
          </p:cNvPr>
          <p:cNvGraphicFramePr/>
          <p:nvPr/>
        </p:nvGraphicFramePr>
        <p:xfrm>
          <a:off xmlns:a="http://schemas.openxmlformats.org/drawingml/2006/main" x="15716250" y="30670500"/>
          <a:ext xmlns:a="http://schemas.openxmlformats.org/drawingml/2006/main" cx="13493750" cy="1476375"/>
        </p:xfrm>
        <a:graphic xmlns:a="http://schemas.openxmlformats.org/drawingml/2006/main">
          <a:graphicData uri="http://schemas.openxmlformats.org/drawingml/2006/chart">
            <c:chart xmlns:r="http://schemas.openxmlformats.org/officeDocument/2006/relationships" xmlns:c="http://schemas.openxmlformats.org/drawingml/2006/chart" r:id="Rf1e163543142468a"/>
          </a:graphicData>
        </a:graphic>
      </p:graphicFrame>
      <p:sp>
        <p:nvSpPr>
          <p:cNvPr id="107" name="text-67">
            <a:extLst xmlns:a="http://schemas.openxmlformats.org/drawingml/2006/main">
              <a:ext uri="{FF2B5EF4-FFF2-40B4-BE49-F238E27FC236}">
                <a16:creationId xmlns:a16="http://schemas.microsoft.com/office/drawing/2014/main" id="{512977CF-CB24-453A-A41F-B308579971F6}"/>
              </a:ext>
            </a:extLst>
          </p:cNvPr>
          <p:cNvSpPr>
            <a:spLocks xmlns:a="http://schemas.openxmlformats.org/drawingml/2006/main" noGrp="1"/>
          </p:cNvSpPr>
          <p:nvPr/>
        </p:nvSpPr>
        <p:spPr>
          <a:xfrm xmlns:a="http://schemas.openxmlformats.org/drawingml/2006/main">
            <a:off x="15716250" y="32270700"/>
            <a:ext cx="1349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526675"/>
                </a:solidFill>
                <a:latin typeface="Calibri"/>
                <a:ea typeface="Calibri"/>
                <a:cs typeface="Calibri"/>
              </a:defRPr>
            </a:defPPr>
          </a:lstStyle>
          <a:p xmlns:a="http://schemas.openxmlformats.org/drawingml/2006/main">
            <a:pPr algn="l">
              <a:defRPr sz="2550" b="0">
                <a:solidFill>
                  <a:srgbClr val="526675"/>
                </a:solidFill>
                <a:latin typeface="Calibri"/>
                <a:ea typeface="Calibri"/>
                <a:cs typeface="Calibri"/>
              </a:defRPr>
            </a:pPr>
            <a:r>
              <a:rPr sz="2550" b="0">
                <a:solidFill>
                  <a:srgbClr val="526675"/>
                </a:solidFill>
                <a:latin typeface="Calibri"/>
                <a:ea typeface="Calibri"/>
                <a:cs typeface="Calibri"/>
              </a:rPr>
              <a:t>Transfer includes buffering and the RX PHY. Frames overlap in the pipeline.</a:t>
            </a:r>
          </a:p>
        </p:txBody>
      </p:sp>
      <p:sp>
        <p:nvSpPr>
          <p:cNvPr id="108" name="text-68">
            <a:extLst xmlns:a="http://schemas.openxmlformats.org/drawingml/2006/main">
              <a:ext uri="{FF2B5EF4-FFF2-40B4-BE49-F238E27FC236}">
                <a16:creationId xmlns:a16="http://schemas.microsoft.com/office/drawing/2014/main" id="{2789EDD9-CA35-4249-B300-75FE9560CC5B}"/>
              </a:ext>
            </a:extLst>
          </p:cNvPr>
          <p:cNvSpPr>
            <a:spLocks xmlns:a="http://schemas.openxmlformats.org/drawingml/2006/main" noGrp="1"/>
          </p:cNvSpPr>
          <p:nvPr/>
        </p:nvSpPr>
        <p:spPr>
          <a:xfrm xmlns:a="http://schemas.openxmlformats.org/drawingml/2006/main">
            <a:off x="15716250" y="33413700"/>
            <a:ext cx="1349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725" b="1">
                <a:solidFill>
                  <a:srgbClr val="0B4F8A"/>
                </a:solidFill>
                <a:latin typeface="Calibri"/>
                <a:ea typeface="Calibri"/>
                <a:cs typeface="Calibri"/>
              </a:defRPr>
            </a:defPPr>
          </a:lstStyle>
          <a:p xmlns:a="http://schemas.openxmlformats.org/drawingml/2006/main">
            <a:pPr algn="l">
              <a:defRPr sz="4725" b="1">
                <a:solidFill>
                  <a:srgbClr val="0B4F8A"/>
                </a:solidFill>
                <a:latin typeface="Calibri"/>
                <a:ea typeface="Calibri"/>
                <a:cs typeface="Calibri"/>
              </a:defRPr>
            </a:pPr>
            <a:r>
              <a:rPr sz="4725" b="1">
                <a:solidFill>
                  <a:srgbClr val="0B4F8A"/>
                </a:solidFill>
                <a:latin typeface="Calibri"/>
                <a:ea typeface="Calibri"/>
                <a:cs typeface="Calibri"/>
              </a:rPr>
              <a:t>Live PHY diagnostics</a:t>
            </a:r>
          </a:p>
        </p:txBody>
      </p:sp>
      <p:pic>
        <p:nvPicPr>
          <p:cNvPr id="109" name="">
            <a:extLst xmlns:a="http://schemas.openxmlformats.org/drawingml/2006/main">
              <a:ext uri="{FF2B5EF4-FFF2-40B4-BE49-F238E27FC236}">
                <a16:creationId xmlns:a16="http://schemas.microsoft.com/office/drawing/2014/main" id="{748DE511-3F91-42DC-BE6E-1E451EC19FB1}"/>
              </a:ext>
            </a:extLst>
          </p:cNvPr>
          <p:cNvPicPr>
            <a:picLocks xmlns:a="http://schemas.openxmlformats.org/drawingml/2006/main" noChangeAspect="1"/>
          </p:cNvPicPr>
          <p:nvPr/>
        </p:nvPicPr>
        <p:blipFill>
          <a:blip xmlns:r="http://schemas.openxmlformats.org/officeDocument/2006/relationships" xmlns:a="http://schemas.openxmlformats.org/drawingml/2006/main" r:embed="R7d7330729b0c4b53"/>
          <a:stretch xmlns:a="http://schemas.openxmlformats.org/drawingml/2006/main"/>
        </p:blipFill>
        <p:spPr>
          <a:xfrm xmlns:a="http://schemas.openxmlformats.org/drawingml/2006/main">
            <a:off x="15906750" y="34301968"/>
            <a:ext cx="13112750" cy="7119813"/>
          </a:xfrm>
          <a:prstGeom xmlns:a="http://schemas.openxmlformats.org/drawingml/2006/main" prst="rect">
            <a:avLst/>
          </a:prstGeom>
        </p:spPr>
      </p:pic>
      <p:cxnSp>
        <p:nvCxnSpPr>
          <p:cNvPr id="110" name="">
            <a:extLst xmlns:a="http://schemas.openxmlformats.org/drawingml/2006/main">
              <a:ext uri="{FF2B5EF4-FFF2-40B4-BE49-F238E27FC236}">
                <a16:creationId xmlns:a16="http://schemas.microsoft.com/office/drawing/2014/main" id="{5AE5D61D-719F-4B58-9B60-4D1516A2E8D4}"/>
              </a:ext>
            </a:extLst>
          </p:cNvPr>
          <p:cNvCxnSpPr/>
          <p:nvPr/>
        </p:nvCxnSpPr>
        <p:spPr>
          <a:xfrm xmlns:a="http://schemas.openxmlformats.org/drawingml/2006/main">
            <a:off x="1066800" y="41814750"/>
            <a:ext cx="28143200" cy="0"/>
          </a:xfrm>
          <a:prstGeom xmlns:a="http://schemas.openxmlformats.org/drawingml/2006/main" prst="straightConnector1">
            <a:avLst/>
          </a:prstGeom>
          <a:ln xmlns:a="http://schemas.openxmlformats.org/drawingml/2006/main" w="14288">
            <a:solidFill>
              <a:srgbClr val="BCCBD5"/>
            </a:solidFill>
          </a:ln>
        </p:spPr>
      </p:cxnSp>
      <p:sp>
        <p:nvSpPr>
          <p:cNvPr id="111" name="text-69">
            <a:extLst xmlns:a="http://schemas.openxmlformats.org/drawingml/2006/main">
              <a:ext uri="{FF2B5EF4-FFF2-40B4-BE49-F238E27FC236}">
                <a16:creationId xmlns:a16="http://schemas.microsoft.com/office/drawing/2014/main" id="{ABF072DD-4AE3-40CD-9F4E-7E1B93279129}"/>
              </a:ext>
            </a:extLst>
          </p:cNvPr>
          <p:cNvSpPr>
            <a:spLocks xmlns:a="http://schemas.openxmlformats.org/drawingml/2006/main" noGrp="1"/>
          </p:cNvSpPr>
          <p:nvPr/>
        </p:nvSpPr>
        <p:spPr>
          <a:xfrm xmlns:a="http://schemas.openxmlformats.org/drawingml/2006/main">
            <a:off x="1066800" y="42005250"/>
            <a:ext cx="2809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526675"/>
                </a:solidFill>
                <a:latin typeface="Calibri"/>
                <a:ea typeface="Calibri"/>
                <a:cs typeface="Calibri"/>
              </a:defRPr>
            </a:defPPr>
          </a:lstStyle>
          <a:p xmlns:a="http://schemas.openxmlformats.org/drawingml/2006/main">
            <a:pPr algn="l">
              <a:defRPr sz="2175" b="0">
                <a:solidFill>
                  <a:srgbClr val="526675"/>
                </a:solidFill>
                <a:latin typeface="Calibri"/>
                <a:ea typeface="Calibri"/>
                <a:cs typeface="Calibri"/>
              </a:defRPr>
            </a:pPr>
            <a:r>
              <a:rPr sz="2175" b="0">
                <a:solidFill>
                  <a:srgbClr val="526675"/>
                </a:solidFill>
                <a:latin typeface="Calibri"/>
                <a:ea typeface="Calibri"/>
                <a:cs typeface="Calibri"/>
              </a:rPr>
              <a:t>DeepJSCC: Bourtsoulatze et al., TCCN 2019.  DeepJSCC-Q: Tung et al., JSAIT 2022.  Developed with Claude Code and Codex under human direction.</a:t>
            </a:r>
          </a:p>
        </p:txBody>
      </p:sp>
    </p:spTree>
    <p:extLst>
      <p:ext uri="{BB962C8B-B14F-4D97-AF65-F5344CB8AC3E}">
        <p14:creationId xmlns:p14="http://schemas.microsoft.com/office/powerpoint/2010/main" val="169297098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2026-10-17T14:45:00.5140000Z</dcterms:created>
  <dcterms:modified xsi:type="dcterms:W3CDTF">2026-10-17T14:45:00.5140000Z</dcterms:modified>
</coreProperties>
</file>